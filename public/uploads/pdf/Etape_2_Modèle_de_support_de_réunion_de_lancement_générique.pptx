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77" r:id="rId5"/>
    <p:sldId id="270" r:id="rId6"/>
    <p:sldId id="278" r:id="rId7"/>
    <p:sldId id="321" r:id="rId8"/>
    <p:sldId id="303" r:id="rId9"/>
    <p:sldId id="309" r:id="rId10"/>
    <p:sldId id="267" r:id="rId11"/>
    <p:sldId id="271" r:id="rId12"/>
    <p:sldId id="281" r:id="rId13"/>
    <p:sldId id="292" r:id="rId14"/>
    <p:sldId id="305" r:id="rId15"/>
    <p:sldId id="307" r:id="rId16"/>
    <p:sldId id="2147373650" r:id="rId17"/>
    <p:sldId id="275" r:id="rId18"/>
    <p:sldId id="2147471968" r:id="rId19"/>
    <p:sldId id="268" r:id="rId20"/>
    <p:sldId id="282" r:id="rId21"/>
    <p:sldId id="297" r:id="rId22"/>
    <p:sldId id="301" r:id="rId23"/>
    <p:sldId id="284" r:id="rId24"/>
    <p:sldId id="285" r:id="rId25"/>
    <p:sldId id="291" r:id="rId26"/>
    <p:sldId id="317" r:id="rId27"/>
    <p:sldId id="2147373651" r:id="rId28"/>
    <p:sldId id="2147471967" r:id="rId29"/>
    <p:sldId id="2147471947" r:id="rId30"/>
    <p:sldId id="319" r:id="rId31"/>
    <p:sldId id="320" r:id="rId32"/>
    <p:sldId id="294" r:id="rId33"/>
  </p:sldIdLst>
  <p:sldSz cx="16256000" cy="9144000"/>
  <p:notesSz cx="16256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pport COPIL" id="{B6DB443B-2274-4773-8885-3F81941FBD12}">
          <p14:sldIdLst>
            <p14:sldId id="277"/>
            <p14:sldId id="270"/>
            <p14:sldId id="278"/>
            <p14:sldId id="321"/>
            <p14:sldId id="303"/>
            <p14:sldId id="309"/>
            <p14:sldId id="267"/>
            <p14:sldId id="271"/>
            <p14:sldId id="281"/>
            <p14:sldId id="292"/>
            <p14:sldId id="305"/>
            <p14:sldId id="307"/>
            <p14:sldId id="2147373650"/>
            <p14:sldId id="275"/>
            <p14:sldId id="2147471968"/>
            <p14:sldId id="268"/>
            <p14:sldId id="282"/>
            <p14:sldId id="297"/>
            <p14:sldId id="301"/>
            <p14:sldId id="284"/>
            <p14:sldId id="285"/>
            <p14:sldId id="291"/>
            <p14:sldId id="317"/>
            <p14:sldId id="2147373651"/>
            <p14:sldId id="2147471967"/>
            <p14:sldId id="2147471947"/>
            <p14:sldId id="319"/>
            <p14:sldId id="320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59E"/>
    <a:srgbClr val="2C3176"/>
    <a:srgbClr val="008373"/>
    <a:srgbClr val="00A894"/>
    <a:srgbClr val="FFDF69"/>
    <a:srgbClr val="FFCA05"/>
    <a:srgbClr val="D0E3EA"/>
    <a:srgbClr val="06806C"/>
    <a:srgbClr val="5D6DB3"/>
    <a:srgbClr val="383C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780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0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6761167535768934E-2"/>
          <c:y val="5.7503544111384815E-2"/>
          <c:w val="0.89562391526944807"/>
          <c:h val="0.62609738086125954"/>
        </c:manualLayout>
      </c:layout>
      <c:lineChart>
        <c:grouping val="standard"/>
        <c:varyColors val="0"/>
        <c:ser>
          <c:idx val="0"/>
          <c:order val="0"/>
          <c:tx>
            <c:strRef>
              <c:f>Sheet2!$B$11</c:f>
              <c:strCache>
                <c:ptCount val="1"/>
                <c:pt idx="0">
                  <c:v>Projections basées sur la consommation de 2015</c:v>
                </c:pt>
              </c:strCache>
            </c:strRef>
          </c:tx>
          <c:spPr>
            <a:ln w="28575" cap="rnd">
              <a:solidFill>
                <a:srgbClr val="00C37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C37B"/>
              </a:solidFill>
              <a:ln w="9525">
                <a:solidFill>
                  <a:srgbClr val="00C37B"/>
                </a:solidFill>
              </a:ln>
              <a:effectLst/>
            </c:spPr>
          </c:marker>
          <c:cat>
            <c:numRef>
              <c:f>Sheet2!$C$10:$R$10</c:f>
              <c:numCache>
                <c:formatCode>General</c:formatCod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Sheet2!$C$11:$R$11</c:f>
              <c:numCache>
                <c:formatCode>0.0%</c:formatCode>
                <c:ptCount val="16"/>
                <c:pt idx="0">
                  <c:v>1.7999999999999999E-2</c:v>
                </c:pt>
                <c:pt idx="1">
                  <c:v>1.7999999999999999E-2</c:v>
                </c:pt>
                <c:pt idx="2">
                  <c:v>1.9E-2</c:v>
                </c:pt>
                <c:pt idx="3">
                  <c:v>1.9E-2</c:v>
                </c:pt>
                <c:pt idx="4">
                  <c:v>1.9E-2</c:v>
                </c:pt>
                <c:pt idx="5">
                  <c:v>1.9E-2</c:v>
                </c:pt>
                <c:pt idx="6">
                  <c:v>0.02</c:v>
                </c:pt>
                <c:pt idx="7">
                  <c:v>2.0500000000000001E-2</c:v>
                </c:pt>
                <c:pt idx="8">
                  <c:v>2.1000000000000001E-2</c:v>
                </c:pt>
                <c:pt idx="9">
                  <c:v>2.1999999999999999E-2</c:v>
                </c:pt>
                <c:pt idx="10">
                  <c:v>2.3E-2</c:v>
                </c:pt>
                <c:pt idx="11">
                  <c:v>2.4E-2</c:v>
                </c:pt>
                <c:pt idx="12">
                  <c:v>2.5000000000000001E-2</c:v>
                </c:pt>
                <c:pt idx="13">
                  <c:v>2.7E-2</c:v>
                </c:pt>
                <c:pt idx="14">
                  <c:v>0.03</c:v>
                </c:pt>
                <c:pt idx="15">
                  <c:v>3.3000000000000002E-2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20-42A2-9669-AC37AABE1A88}"/>
            </c:ext>
          </c:extLst>
        </c:ser>
        <c:ser>
          <c:idx val="1"/>
          <c:order val="1"/>
          <c:tx>
            <c:strRef>
              <c:f>Sheet2!$B$12</c:f>
              <c:strCache>
                <c:ptCount val="1"/>
                <c:pt idx="0">
                  <c:v>Projections mises à jour en 2018</c:v>
                </c:pt>
              </c:strCache>
            </c:strRef>
          </c:tx>
          <c:spPr>
            <a:ln w="28575" cap="rnd">
              <a:solidFill>
                <a:srgbClr val="00C37B">
                  <a:lumMod val="50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C37B">
                  <a:lumMod val="50000"/>
                </a:srgbClr>
              </a:solidFill>
              <a:ln w="9525">
                <a:solidFill>
                  <a:srgbClr val="00C37B">
                    <a:lumMod val="50000"/>
                  </a:srgbClr>
                </a:solidFill>
              </a:ln>
              <a:effectLst/>
            </c:spPr>
          </c:marker>
          <c:cat>
            <c:numRef>
              <c:f>Sheet2!$C$10:$R$10</c:f>
              <c:numCache>
                <c:formatCode>General</c:formatCod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Sheet2!$C$12:$R$12</c:f>
              <c:numCache>
                <c:formatCode>0.0%</c:formatCode>
                <c:ptCount val="16"/>
                <c:pt idx="0">
                  <c:v>1.7999999999999999E-2</c:v>
                </c:pt>
                <c:pt idx="1">
                  <c:v>1.7999999999999999E-2</c:v>
                </c:pt>
                <c:pt idx="2">
                  <c:v>1.9E-2</c:v>
                </c:pt>
                <c:pt idx="3">
                  <c:v>1.9E-2</c:v>
                </c:pt>
                <c:pt idx="4">
                  <c:v>0.02</c:v>
                </c:pt>
                <c:pt idx="5">
                  <c:v>2.3E-2</c:v>
                </c:pt>
                <c:pt idx="6">
                  <c:v>2.5000000000000001E-2</c:v>
                </c:pt>
                <c:pt idx="7">
                  <c:v>2.7E-2</c:v>
                </c:pt>
                <c:pt idx="8">
                  <c:v>2.9000000000000001E-2</c:v>
                </c:pt>
                <c:pt idx="9">
                  <c:v>3.2000000000000001E-2</c:v>
                </c:pt>
                <c:pt idx="10">
                  <c:v>3.4000000000000002E-2</c:v>
                </c:pt>
                <c:pt idx="11">
                  <c:v>3.5999999999999997E-2</c:v>
                </c:pt>
                <c:pt idx="12">
                  <c:v>3.7999999999999999E-2</c:v>
                </c:pt>
                <c:pt idx="13">
                  <c:v>4.1000000000000002E-2</c:v>
                </c:pt>
                <c:pt idx="14">
                  <c:v>4.5999999999999999E-2</c:v>
                </c:pt>
                <c:pt idx="15">
                  <c:v>5.1999999999999998E-2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20-42A2-9669-AC37AABE1A88}"/>
            </c:ext>
          </c:extLst>
        </c:ser>
        <c:ser>
          <c:idx val="2"/>
          <c:order val="2"/>
          <c:tx>
            <c:strRef>
              <c:f>Sheet2!$B$13</c:f>
              <c:strCache>
                <c:ptCount val="1"/>
                <c:pt idx="0">
                  <c:v>Mise en place de la sobriété numérique à partir de 2018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  <a:prstDash val="dash"/>
              </a:ln>
              <a:effectLst/>
            </c:spPr>
          </c:marker>
          <c:cat>
            <c:numRef>
              <c:f>Sheet2!$C$10:$R$10</c:f>
              <c:numCache>
                <c:formatCode>General</c:formatCod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Sheet2!$C$13:$R$13</c:f>
              <c:numCache>
                <c:formatCode>0.0%</c:formatCode>
                <c:ptCount val="16"/>
                <c:pt idx="0">
                  <c:v>1.7999999999999999E-2</c:v>
                </c:pt>
                <c:pt idx="1">
                  <c:v>1.7999999999999999E-2</c:v>
                </c:pt>
                <c:pt idx="2">
                  <c:v>1.9E-2</c:v>
                </c:pt>
                <c:pt idx="3">
                  <c:v>1.9E-2</c:v>
                </c:pt>
                <c:pt idx="4">
                  <c:v>0.02</c:v>
                </c:pt>
                <c:pt idx="5">
                  <c:v>2.3E-2</c:v>
                </c:pt>
                <c:pt idx="6">
                  <c:v>2.5000000000000001E-2</c:v>
                </c:pt>
                <c:pt idx="7">
                  <c:v>2.7E-2</c:v>
                </c:pt>
                <c:pt idx="8">
                  <c:v>2.8000000000000001E-2</c:v>
                </c:pt>
                <c:pt idx="9">
                  <c:v>2.9000000000000001E-2</c:v>
                </c:pt>
                <c:pt idx="10">
                  <c:v>3.2000000000000001E-2</c:v>
                </c:pt>
                <c:pt idx="11">
                  <c:v>3.2000000000000001E-2</c:v>
                </c:pt>
                <c:pt idx="12">
                  <c:v>3.2000000000000001E-2</c:v>
                </c:pt>
                <c:pt idx="13">
                  <c:v>3.2000000000000001E-2</c:v>
                </c:pt>
                <c:pt idx="14">
                  <c:v>3.3000000000000002E-2</c:v>
                </c:pt>
                <c:pt idx="15">
                  <c:v>3.3000000000000002E-2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20-42A2-9669-AC37AABE1A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8346784"/>
        <c:axId val="607913568"/>
      </c:lineChart>
      <c:catAx>
        <c:axId val="608346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274084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07913568"/>
        <c:crosses val="autoZero"/>
        <c:auto val="1"/>
        <c:lblAlgn val="ctr"/>
        <c:lblOffset val="100"/>
        <c:noMultiLvlLbl val="0"/>
      </c:catAx>
      <c:valAx>
        <c:axId val="607913568"/>
        <c:scaling>
          <c:orientation val="minMax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274084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08346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274084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50">
          <a:solidFill>
            <a:srgbClr val="274084"/>
          </a:solidFill>
        </a:defRPr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03D61-BA27-4308-B90D-EB1370B871F7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E23553-3E12-43A2-B8C8-20CBAD40D9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983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12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94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5267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557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734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38B5CF-5911-406E-9768-5DE441B1FD8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907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38B5CF-5911-406E-9768-5DE441B1FD8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666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38B5CF-5911-406E-9768-5DE441B1FD8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711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3">
            <a:extLst>
              <a:ext uri="{FF2B5EF4-FFF2-40B4-BE49-F238E27FC236}">
                <a16:creationId xmlns:a16="http://schemas.microsoft.com/office/drawing/2014/main" id="{0724D82D-6F80-473F-B921-64D4711D2354}"/>
              </a:ext>
            </a:extLst>
          </p:cNvPr>
          <p:cNvSpPr/>
          <p:nvPr userDrawn="1"/>
        </p:nvSpPr>
        <p:spPr>
          <a:xfrm>
            <a:off x="13452563" y="0"/>
            <a:ext cx="2803525" cy="2910205"/>
          </a:xfrm>
          <a:custGeom>
            <a:avLst/>
            <a:gdLst/>
            <a:ahLst/>
            <a:cxnLst/>
            <a:rect l="l" t="t" r="r" b="b"/>
            <a:pathLst>
              <a:path w="2803525" h="2910205">
                <a:moveTo>
                  <a:pt x="2803437" y="0"/>
                </a:moveTo>
                <a:lnTo>
                  <a:pt x="0" y="0"/>
                </a:lnTo>
                <a:lnTo>
                  <a:pt x="0" y="761610"/>
                </a:lnTo>
                <a:lnTo>
                  <a:pt x="1969173" y="889473"/>
                </a:lnTo>
                <a:lnTo>
                  <a:pt x="1969173" y="2909866"/>
                </a:lnTo>
                <a:lnTo>
                  <a:pt x="2803437" y="2909866"/>
                </a:lnTo>
                <a:lnTo>
                  <a:pt x="280343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0CC61041-804D-4CF4-B5CC-9800217099E3}"/>
              </a:ext>
            </a:extLst>
          </p:cNvPr>
          <p:cNvSpPr/>
          <p:nvPr userDrawn="1"/>
        </p:nvSpPr>
        <p:spPr>
          <a:xfrm>
            <a:off x="0" y="6325402"/>
            <a:ext cx="2849880" cy="2818765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C994291-4A71-45D4-A9DD-4C6FD3370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C535DA8-1EE1-4C9C-964D-3DDB15EA99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310132" y="209348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2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1">
            <a:extLst>
              <a:ext uri="{FF2B5EF4-FFF2-40B4-BE49-F238E27FC236}">
                <a16:creationId xmlns:a16="http://schemas.microsoft.com/office/drawing/2014/main" id="{C90B8B6E-53F6-4609-9D3D-104A44B502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380603"/>
            <a:ext cx="2286000" cy="8385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41F219-190C-4C0F-9F82-5089AC757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683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6" y="3581623"/>
            <a:ext cx="14254967" cy="287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hyperlink" Target="https://github.com/etalab/guides.etalab.gouv.fr/blob/master/LICENSE.m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5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/>
          <p:cNvSpPr>
            <a:spLocks noChangeAspect="1"/>
          </p:cNvSpPr>
          <p:nvPr/>
        </p:nvSpPr>
        <p:spPr>
          <a:xfrm rot="5400000">
            <a:off x="519927" y="2419838"/>
            <a:ext cx="2908867" cy="2780322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ZoneTexte 11"/>
          <p:cNvSpPr txBox="1"/>
          <p:nvPr/>
        </p:nvSpPr>
        <p:spPr>
          <a:xfrm>
            <a:off x="4040554" y="4325814"/>
            <a:ext cx="98024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00B59E"/>
                </a:solidFill>
                <a:latin typeface="Marianne ExtraBold" charset="0"/>
                <a:ea typeface="Marianne ExtraBold" charset="0"/>
                <a:cs typeface="Marianne ExtraBold" charset="0"/>
              </a:rPr>
              <a:t>MODELE</a:t>
            </a:r>
            <a:r>
              <a:rPr lang="fr-FR" sz="48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 - Support de réunion</a:t>
            </a:r>
          </a:p>
          <a:p>
            <a:r>
              <a:rPr lang="fr-FR" sz="40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Lancement du comité de pilotage Numérique Responsable</a:t>
            </a:r>
          </a:p>
        </p:txBody>
      </p:sp>
      <p:sp>
        <p:nvSpPr>
          <p:cNvPr id="14" name="object 4"/>
          <p:cNvSpPr/>
          <p:nvPr/>
        </p:nvSpPr>
        <p:spPr>
          <a:xfrm>
            <a:off x="13672138" y="414281"/>
            <a:ext cx="2201545" cy="2104390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>
            <a:spLocks noChangeAspect="1"/>
          </p:cNvSpPr>
          <p:nvPr/>
        </p:nvSpPr>
        <p:spPr>
          <a:xfrm>
            <a:off x="584200" y="7848600"/>
            <a:ext cx="954722" cy="91314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942289" y="7081804"/>
            <a:ext cx="1863967" cy="244673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ACADFD9-4121-4AE7-95D6-5D163301F9AF}"/>
              </a:ext>
            </a:extLst>
          </p:cNvPr>
          <p:cNvSpPr txBox="1"/>
          <p:nvPr/>
        </p:nvSpPr>
        <p:spPr>
          <a:xfrm>
            <a:off x="1731017" y="7262896"/>
            <a:ext cx="121119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Ce support a été produit par l’ANCT lors de l’expérimentation lancée en novembre 2022 pour accompagner 6 collectivités-territoriales pilotes dans l’élaboration de leur stratégie numérique responsable.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est mis à disposition de tous les acteurs en libre-accès (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  <a:hlinkClick r:id="rId4"/>
              </a:rPr>
              <a:t>licence ouverte Etalab 2.0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) pour servir de modèle.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peut donc être repris, modifié, complété. La police Marianne et la Marianne sont par contre réservés aux administrations publiques.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EE1C583-C6EB-4ECD-B650-8F943BB17F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65" y="246810"/>
            <a:ext cx="5980095" cy="191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0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08C2AE7C-AE63-4F71-A978-D1452896F3ED}"/>
              </a:ext>
            </a:extLst>
          </p:cNvPr>
          <p:cNvSpPr txBox="1">
            <a:spLocks/>
          </p:cNvSpPr>
          <p:nvPr/>
        </p:nvSpPr>
        <p:spPr>
          <a:xfrm>
            <a:off x="1655588" y="739868"/>
            <a:ext cx="12873212" cy="691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4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Mode d’emploi du présent document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96A0C-F55E-4B88-A723-B9E1E3B11F66}"/>
              </a:ext>
            </a:extLst>
          </p:cNvPr>
          <p:cNvSpPr txBox="1">
            <a:spLocks/>
          </p:cNvSpPr>
          <p:nvPr/>
        </p:nvSpPr>
        <p:spPr>
          <a:xfrm>
            <a:off x="3906580" y="3168809"/>
            <a:ext cx="8676766" cy="86603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 i="1">
                <a:latin typeface="Marianne" panose="020B0604020202020204"/>
              </a:rPr>
              <a:t>Recommandation / Explication</a:t>
            </a:r>
          </a:p>
          <a:p>
            <a:pPr algn="ctr"/>
            <a:endParaRPr lang="fr-FR" sz="2000" b="1" i="1">
              <a:latin typeface="Marianne" panose="020B060402020202020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8835FA-D2BB-4946-9206-F218601EDE69}"/>
              </a:ext>
            </a:extLst>
          </p:cNvPr>
          <p:cNvSpPr txBox="1">
            <a:spLocks/>
          </p:cNvSpPr>
          <p:nvPr/>
        </p:nvSpPr>
        <p:spPr>
          <a:xfrm>
            <a:off x="3906580" y="1928025"/>
            <a:ext cx="8676766" cy="866037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latin typeface="Marianne" panose="020B0604020202020204"/>
              </a:rPr>
              <a:t>Les encadrés comme ci-dessous donnent des éléments d’explication et ont vocation à être supprimés lors de la diffusion de ce support 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CE6730-B3F2-46D6-B337-CB1BBB50B199}"/>
              </a:ext>
            </a:extLst>
          </p:cNvPr>
          <p:cNvSpPr txBox="1">
            <a:spLocks/>
          </p:cNvSpPr>
          <p:nvPr/>
        </p:nvSpPr>
        <p:spPr>
          <a:xfrm>
            <a:off x="3906580" y="4674445"/>
            <a:ext cx="8676766" cy="1068965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latin typeface="Marianne" panose="020B0604020202020204"/>
              </a:rPr>
              <a:t>Les zones surlignées en jaune accompagnées de cette icône sont des champs à modifier par vos soins en amont de la réunion de lancement :</a:t>
            </a:r>
          </a:p>
          <a:p>
            <a:pPr algn="ctr"/>
            <a:endParaRPr lang="fr-FR" sz="2000" b="1">
              <a:latin typeface="Marianne" panose="020B060402020202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FBE320-3006-4870-95E8-91AD5AEC8FA3}"/>
              </a:ext>
            </a:extLst>
          </p:cNvPr>
          <p:cNvSpPr txBox="1">
            <a:spLocks/>
          </p:cNvSpPr>
          <p:nvPr/>
        </p:nvSpPr>
        <p:spPr>
          <a:xfrm>
            <a:off x="3906580" y="5936608"/>
            <a:ext cx="8676766" cy="609601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highlight>
                  <a:srgbClr val="FFFF00"/>
                </a:highlight>
                <a:latin typeface="Marianne" panose="020B0604020202020204"/>
              </a:rPr>
              <a:t>Champs à modifier</a:t>
            </a:r>
          </a:p>
          <a:p>
            <a:pPr algn="ctr"/>
            <a:endParaRPr lang="fr-FR" sz="2000" b="1">
              <a:highlight>
                <a:srgbClr val="FFFF00"/>
              </a:highlight>
              <a:latin typeface="Marianne" panose="020B0604020202020204"/>
            </a:endParaRPr>
          </a:p>
        </p:txBody>
      </p:sp>
      <p:pic>
        <p:nvPicPr>
          <p:cNvPr id="1026" name="Picture 2" descr="Pencil ">
            <a:extLst>
              <a:ext uri="{FF2B5EF4-FFF2-40B4-BE49-F238E27FC236}">
                <a16:creationId xmlns:a16="http://schemas.microsoft.com/office/drawing/2014/main" id="{C0CA245F-4AA9-4C98-8DE4-534200505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160" y="593660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bject 14">
            <a:extLst>
              <a:ext uri="{FF2B5EF4-FFF2-40B4-BE49-F238E27FC236}">
                <a16:creationId xmlns:a16="http://schemas.microsoft.com/office/drawing/2014/main" id="{98767E6D-E4C5-4297-8AD6-E844E978527F}"/>
              </a:ext>
            </a:extLst>
          </p:cNvPr>
          <p:cNvSpPr txBox="1">
            <a:spLocks/>
          </p:cNvSpPr>
          <p:nvPr/>
        </p:nvSpPr>
        <p:spPr>
          <a:xfrm>
            <a:off x="1698166" y="7473783"/>
            <a:ext cx="12873212" cy="7662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2400" kern="0" spc="-7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Cette page est à supprimer une fois la préparation de la présentation terminée</a:t>
            </a:r>
          </a:p>
          <a:p>
            <a:pPr marL="12700" algn="ctr">
              <a:spcBef>
                <a:spcPts val="114"/>
              </a:spcBef>
            </a:pPr>
            <a:r>
              <a:rPr lang="fr-FR" sz="2400" kern="0" spc="-7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La charte ANCT peut être remplacée par celle de la collectivité.</a:t>
            </a:r>
          </a:p>
        </p:txBody>
      </p:sp>
      <p:pic>
        <p:nvPicPr>
          <p:cNvPr id="1028" name="Picture 4" descr="Attention ">
            <a:extLst>
              <a:ext uri="{FF2B5EF4-FFF2-40B4-BE49-F238E27FC236}">
                <a16:creationId xmlns:a16="http://schemas.microsoft.com/office/drawing/2014/main" id="{5630D6E6-EB35-4200-8D6F-90E6CEABC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739" y="7397707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Attention ">
            <a:extLst>
              <a:ext uri="{FF2B5EF4-FFF2-40B4-BE49-F238E27FC236}">
                <a16:creationId xmlns:a16="http://schemas.microsoft.com/office/drawing/2014/main" id="{717127CC-A97B-423D-BECF-B67902C9A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0908" y="7397706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11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77850" y="8245243"/>
            <a:ext cx="393700" cy="37655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 rot="5400000">
            <a:off x="14487029" y="419735"/>
            <a:ext cx="1303020" cy="1377950"/>
            <a:chOff x="845064" y="548305"/>
            <a:chExt cx="1303020" cy="1377950"/>
          </a:xfrm>
        </p:grpSpPr>
        <p:sp>
          <p:nvSpPr>
            <p:cNvPr id="16" name="object 16"/>
            <p:cNvSpPr/>
            <p:nvPr/>
          </p:nvSpPr>
          <p:spPr>
            <a:xfrm>
              <a:off x="925361" y="647420"/>
              <a:ext cx="1222375" cy="1278890"/>
            </a:xfrm>
            <a:custGeom>
              <a:avLst/>
              <a:gdLst/>
              <a:ahLst/>
              <a:cxnLst/>
              <a:rect l="l" t="t" r="r" b="b"/>
              <a:pathLst>
                <a:path w="1222375" h="1278889">
                  <a:moveTo>
                    <a:pt x="1222260" y="0"/>
                  </a:moveTo>
                  <a:lnTo>
                    <a:pt x="468744" y="48869"/>
                  </a:lnTo>
                  <a:lnTo>
                    <a:pt x="420167" y="54396"/>
                  </a:lnTo>
                  <a:lnTo>
                    <a:pt x="373142" y="64440"/>
                  </a:lnTo>
                  <a:lnTo>
                    <a:pt x="327888" y="78768"/>
                  </a:lnTo>
                  <a:lnTo>
                    <a:pt x="284623" y="97147"/>
                  </a:lnTo>
                  <a:lnTo>
                    <a:pt x="243564" y="119345"/>
                  </a:lnTo>
                  <a:lnTo>
                    <a:pt x="204930" y="145128"/>
                  </a:lnTo>
                  <a:lnTo>
                    <a:pt x="168940" y="174264"/>
                  </a:lnTo>
                  <a:lnTo>
                    <a:pt x="135812" y="206521"/>
                  </a:lnTo>
                  <a:lnTo>
                    <a:pt x="105763" y="241664"/>
                  </a:lnTo>
                  <a:lnTo>
                    <a:pt x="79013" y="279462"/>
                  </a:lnTo>
                  <a:lnTo>
                    <a:pt x="55780" y="319682"/>
                  </a:lnTo>
                  <a:lnTo>
                    <a:pt x="36281" y="362090"/>
                  </a:lnTo>
                  <a:lnTo>
                    <a:pt x="20735" y="406455"/>
                  </a:lnTo>
                  <a:lnTo>
                    <a:pt x="9361" y="452543"/>
                  </a:lnTo>
                  <a:lnTo>
                    <a:pt x="2376" y="500121"/>
                  </a:lnTo>
                  <a:lnTo>
                    <a:pt x="0" y="548957"/>
                  </a:lnTo>
                  <a:lnTo>
                    <a:pt x="0" y="1278775"/>
                  </a:lnTo>
                  <a:lnTo>
                    <a:pt x="724814" y="1278775"/>
                  </a:lnTo>
                  <a:lnTo>
                    <a:pt x="724814" y="758558"/>
                  </a:lnTo>
                  <a:lnTo>
                    <a:pt x="1222260" y="726313"/>
                  </a:lnTo>
                  <a:lnTo>
                    <a:pt x="1222260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5064" y="548305"/>
              <a:ext cx="729615" cy="763270"/>
            </a:xfrm>
            <a:custGeom>
              <a:avLst/>
              <a:gdLst/>
              <a:ahLst/>
              <a:cxnLst/>
              <a:rect l="l" t="t" r="r" b="b"/>
              <a:pathLst>
                <a:path w="729615" h="763269">
                  <a:moveTo>
                    <a:pt x="729068" y="0"/>
                  </a:moveTo>
                  <a:lnTo>
                    <a:pt x="279603" y="29146"/>
                  </a:lnTo>
                  <a:lnTo>
                    <a:pt x="233676" y="35725"/>
                  </a:lnTo>
                  <a:lnTo>
                    <a:pt x="190320" y="48988"/>
                  </a:lnTo>
                  <a:lnTo>
                    <a:pt x="150068" y="68365"/>
                  </a:lnTo>
                  <a:lnTo>
                    <a:pt x="113453" y="93289"/>
                  </a:lnTo>
                  <a:lnTo>
                    <a:pt x="81008" y="123190"/>
                  </a:lnTo>
                  <a:lnTo>
                    <a:pt x="53267" y="157499"/>
                  </a:lnTo>
                  <a:lnTo>
                    <a:pt x="30762" y="195650"/>
                  </a:lnTo>
                  <a:lnTo>
                    <a:pt x="14027" y="237072"/>
                  </a:lnTo>
                  <a:lnTo>
                    <a:pt x="3595" y="281197"/>
                  </a:lnTo>
                  <a:lnTo>
                    <a:pt x="0" y="327456"/>
                  </a:lnTo>
                  <a:lnTo>
                    <a:pt x="0" y="762787"/>
                  </a:lnTo>
                  <a:lnTo>
                    <a:pt x="432346" y="762787"/>
                  </a:lnTo>
                  <a:lnTo>
                    <a:pt x="432346" y="452488"/>
                  </a:lnTo>
                  <a:lnTo>
                    <a:pt x="729068" y="433247"/>
                  </a:lnTo>
                  <a:lnTo>
                    <a:pt x="729068" y="0"/>
                  </a:lnTo>
                  <a:close/>
                </a:path>
              </a:pathLst>
            </a:custGeom>
            <a:solidFill>
              <a:srgbClr val="0680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74700" y="3559326"/>
            <a:ext cx="14706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1230" algn="ctr">
              <a:lnSpc>
                <a:spcPct val="100000"/>
              </a:lnSpc>
              <a:spcBef>
                <a:spcPts val="100"/>
              </a:spcBef>
            </a:pPr>
            <a:r>
              <a:rPr lang="fr-FR" sz="7200" spc="33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Comité de pilotage</a:t>
            </a:r>
            <a:endParaRPr sz="7200" spc="335" dirty="0">
              <a:solidFill>
                <a:srgbClr val="2C3176"/>
              </a:solidFill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86C296D-E18D-4CD6-9134-14BDAE698300}"/>
              </a:ext>
            </a:extLst>
          </p:cNvPr>
          <p:cNvGrpSpPr/>
          <p:nvPr/>
        </p:nvGrpSpPr>
        <p:grpSpPr>
          <a:xfrm>
            <a:off x="4419588" y="5016041"/>
            <a:ext cx="7997092" cy="703360"/>
            <a:chOff x="4335585" y="4905512"/>
            <a:chExt cx="7997092" cy="703360"/>
          </a:xfrm>
        </p:grpSpPr>
        <p:sp>
          <p:nvSpPr>
            <p:cNvPr id="22" name="Rectangle 21"/>
            <p:cNvSpPr/>
            <p:nvPr/>
          </p:nvSpPr>
          <p:spPr>
            <a:xfrm>
              <a:off x="4335585" y="4905512"/>
              <a:ext cx="7997092" cy="703360"/>
            </a:xfrm>
            <a:prstGeom prst="rect">
              <a:avLst/>
            </a:prstGeom>
            <a:solidFill>
              <a:srgbClr val="FCC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C3176"/>
                </a:solidFill>
              </a:endParaRPr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5216254" y="4995582"/>
              <a:ext cx="62972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rgbClr val="2C3176"/>
                  </a:solidFill>
                  <a:latin typeface="Marianne" charset="0"/>
                  <a:ea typeface="Marianne" charset="0"/>
                  <a:cs typeface="Marianne" charset="0"/>
                </a:rPr>
                <a:t>Démarche Numérique Responsable</a:t>
              </a:r>
            </a:p>
          </p:txBody>
        </p:sp>
      </p:grpSp>
      <p:sp>
        <p:nvSpPr>
          <p:cNvPr id="13" name="ZoneTexte 20">
            <a:extLst>
              <a:ext uri="{FF2B5EF4-FFF2-40B4-BE49-F238E27FC236}">
                <a16:creationId xmlns:a16="http://schemas.microsoft.com/office/drawing/2014/main" id="{AC508FFE-C2B1-4595-9E4E-B145A5F4E668}"/>
              </a:ext>
            </a:extLst>
          </p:cNvPr>
          <p:cNvSpPr txBox="1"/>
          <p:nvPr/>
        </p:nvSpPr>
        <p:spPr>
          <a:xfrm>
            <a:off x="1431255" y="7291136"/>
            <a:ext cx="59766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>
                <a:solidFill>
                  <a:srgbClr val="2C3176"/>
                </a:solidFill>
                <a:highlight>
                  <a:srgbClr val="FFFF00"/>
                </a:highlight>
                <a:latin typeface="Marianne" charset="0"/>
                <a:ea typeface="Marianne" charset="0"/>
                <a:cs typeface="Marianne" charset="0"/>
              </a:rPr>
              <a:t>Date</a:t>
            </a:r>
          </a:p>
          <a:p>
            <a:r>
              <a:rPr lang="fr-FR" sz="2800" i="1" dirty="0">
                <a:solidFill>
                  <a:srgbClr val="2C3176"/>
                </a:solidFill>
                <a:highlight>
                  <a:srgbClr val="FFFF00"/>
                </a:highlight>
                <a:latin typeface="Marianne" charset="0"/>
                <a:ea typeface="Marianne" charset="0"/>
                <a:cs typeface="Marianne" charset="0"/>
              </a:rPr>
              <a:t>Logo collectivité territoriale</a:t>
            </a:r>
          </a:p>
        </p:txBody>
      </p:sp>
      <p:pic>
        <p:nvPicPr>
          <p:cNvPr id="14" name="Picture 2" descr="Pencil ">
            <a:extLst>
              <a:ext uri="{FF2B5EF4-FFF2-40B4-BE49-F238E27FC236}">
                <a16:creationId xmlns:a16="http://schemas.microsoft.com/office/drawing/2014/main" id="{FDD211D4-028A-4E37-808A-C53930194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736" y="7720791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CD201BF5-190E-4F9F-BFEF-0A44FA50222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3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684683" y="2381567"/>
            <a:ext cx="435600" cy="435600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84683" y="3129594"/>
            <a:ext cx="435600" cy="435600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16194" y="2158703"/>
            <a:ext cx="6614266" cy="5908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1. Mot d’introduction</a:t>
            </a: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2. Tour de table</a:t>
            </a: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3. Introduction au Numérique Responsable</a:t>
            </a: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4. Présentation de la démarche</a:t>
            </a: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5. Déroulé et activités de la démarche</a:t>
            </a: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6. Echange autour du Numérique Responsable</a:t>
            </a: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endParaRPr lang="fr-FR" sz="2400" b="1" dirty="0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endParaRPr lang="fr-FR" sz="2400" b="1" dirty="0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grpSp>
        <p:nvGrpSpPr>
          <p:cNvPr id="13" name="object 15"/>
          <p:cNvGrpSpPr/>
          <p:nvPr/>
        </p:nvGrpSpPr>
        <p:grpSpPr>
          <a:xfrm rot="5400000">
            <a:off x="14487029" y="419735"/>
            <a:ext cx="1303020" cy="1377950"/>
            <a:chOff x="845064" y="548305"/>
            <a:chExt cx="1303020" cy="1377950"/>
          </a:xfrm>
        </p:grpSpPr>
        <p:sp>
          <p:nvSpPr>
            <p:cNvPr id="14" name="object 16"/>
            <p:cNvSpPr/>
            <p:nvPr/>
          </p:nvSpPr>
          <p:spPr>
            <a:xfrm>
              <a:off x="925361" y="647420"/>
              <a:ext cx="1222375" cy="1278890"/>
            </a:xfrm>
            <a:custGeom>
              <a:avLst/>
              <a:gdLst/>
              <a:ahLst/>
              <a:cxnLst/>
              <a:rect l="l" t="t" r="r" b="b"/>
              <a:pathLst>
                <a:path w="1222375" h="1278889">
                  <a:moveTo>
                    <a:pt x="1222260" y="0"/>
                  </a:moveTo>
                  <a:lnTo>
                    <a:pt x="468744" y="48869"/>
                  </a:lnTo>
                  <a:lnTo>
                    <a:pt x="420167" y="54396"/>
                  </a:lnTo>
                  <a:lnTo>
                    <a:pt x="373142" y="64440"/>
                  </a:lnTo>
                  <a:lnTo>
                    <a:pt x="327888" y="78768"/>
                  </a:lnTo>
                  <a:lnTo>
                    <a:pt x="284623" y="97147"/>
                  </a:lnTo>
                  <a:lnTo>
                    <a:pt x="243564" y="119345"/>
                  </a:lnTo>
                  <a:lnTo>
                    <a:pt x="204930" y="145128"/>
                  </a:lnTo>
                  <a:lnTo>
                    <a:pt x="168940" y="174264"/>
                  </a:lnTo>
                  <a:lnTo>
                    <a:pt x="135812" y="206521"/>
                  </a:lnTo>
                  <a:lnTo>
                    <a:pt x="105763" y="241664"/>
                  </a:lnTo>
                  <a:lnTo>
                    <a:pt x="79013" y="279462"/>
                  </a:lnTo>
                  <a:lnTo>
                    <a:pt x="55780" y="319682"/>
                  </a:lnTo>
                  <a:lnTo>
                    <a:pt x="36281" y="362090"/>
                  </a:lnTo>
                  <a:lnTo>
                    <a:pt x="20735" y="406455"/>
                  </a:lnTo>
                  <a:lnTo>
                    <a:pt x="9361" y="452543"/>
                  </a:lnTo>
                  <a:lnTo>
                    <a:pt x="2376" y="500121"/>
                  </a:lnTo>
                  <a:lnTo>
                    <a:pt x="0" y="548957"/>
                  </a:lnTo>
                  <a:lnTo>
                    <a:pt x="0" y="1278775"/>
                  </a:lnTo>
                  <a:lnTo>
                    <a:pt x="724814" y="1278775"/>
                  </a:lnTo>
                  <a:lnTo>
                    <a:pt x="724814" y="758558"/>
                  </a:lnTo>
                  <a:lnTo>
                    <a:pt x="1222260" y="726313"/>
                  </a:lnTo>
                  <a:lnTo>
                    <a:pt x="1222260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7"/>
            <p:cNvSpPr/>
            <p:nvPr/>
          </p:nvSpPr>
          <p:spPr>
            <a:xfrm>
              <a:off x="845064" y="548305"/>
              <a:ext cx="729615" cy="763270"/>
            </a:xfrm>
            <a:custGeom>
              <a:avLst/>
              <a:gdLst/>
              <a:ahLst/>
              <a:cxnLst/>
              <a:rect l="l" t="t" r="r" b="b"/>
              <a:pathLst>
                <a:path w="729615" h="763269">
                  <a:moveTo>
                    <a:pt x="729068" y="0"/>
                  </a:moveTo>
                  <a:lnTo>
                    <a:pt x="279603" y="29146"/>
                  </a:lnTo>
                  <a:lnTo>
                    <a:pt x="233676" y="35725"/>
                  </a:lnTo>
                  <a:lnTo>
                    <a:pt x="190320" y="48988"/>
                  </a:lnTo>
                  <a:lnTo>
                    <a:pt x="150068" y="68365"/>
                  </a:lnTo>
                  <a:lnTo>
                    <a:pt x="113453" y="93289"/>
                  </a:lnTo>
                  <a:lnTo>
                    <a:pt x="81008" y="123190"/>
                  </a:lnTo>
                  <a:lnTo>
                    <a:pt x="53267" y="157499"/>
                  </a:lnTo>
                  <a:lnTo>
                    <a:pt x="30762" y="195650"/>
                  </a:lnTo>
                  <a:lnTo>
                    <a:pt x="14027" y="237072"/>
                  </a:lnTo>
                  <a:lnTo>
                    <a:pt x="3595" y="281197"/>
                  </a:lnTo>
                  <a:lnTo>
                    <a:pt x="0" y="327456"/>
                  </a:lnTo>
                  <a:lnTo>
                    <a:pt x="0" y="762787"/>
                  </a:lnTo>
                  <a:lnTo>
                    <a:pt x="432346" y="762787"/>
                  </a:lnTo>
                  <a:lnTo>
                    <a:pt x="432346" y="452488"/>
                  </a:lnTo>
                  <a:lnTo>
                    <a:pt x="729068" y="433247"/>
                  </a:lnTo>
                  <a:lnTo>
                    <a:pt x="729068" y="0"/>
                  </a:lnTo>
                  <a:close/>
                </a:path>
              </a:pathLst>
            </a:custGeom>
            <a:solidFill>
              <a:srgbClr val="0680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6">
            <a:extLst>
              <a:ext uri="{FF2B5EF4-FFF2-40B4-BE49-F238E27FC236}">
                <a16:creationId xmlns:a16="http://schemas.microsoft.com/office/drawing/2014/main" id="{DA674DB2-A6FB-4D13-9AAB-ADA40DFEA54F}"/>
              </a:ext>
            </a:extLst>
          </p:cNvPr>
          <p:cNvSpPr/>
          <p:nvPr/>
        </p:nvSpPr>
        <p:spPr>
          <a:xfrm>
            <a:off x="3684683" y="3877621"/>
            <a:ext cx="435600" cy="435600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5240E4B-7EDF-409F-819F-314D0CD65FC3}"/>
              </a:ext>
            </a:extLst>
          </p:cNvPr>
          <p:cNvSpPr/>
          <p:nvPr/>
        </p:nvSpPr>
        <p:spPr>
          <a:xfrm>
            <a:off x="3684683" y="4625648"/>
            <a:ext cx="435600" cy="435600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FF9182CA-57C9-44FB-8BBA-06E3180074C8}"/>
              </a:ext>
            </a:extLst>
          </p:cNvPr>
          <p:cNvSpPr/>
          <p:nvPr/>
        </p:nvSpPr>
        <p:spPr>
          <a:xfrm>
            <a:off x="3684683" y="5373675"/>
            <a:ext cx="435600" cy="435600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Picture 3" descr="Shape&#10;&#10;Description automatically generated with low confidence">
            <a:extLst>
              <a:ext uri="{FF2B5EF4-FFF2-40B4-BE49-F238E27FC236}">
                <a16:creationId xmlns:a16="http://schemas.microsoft.com/office/drawing/2014/main" id="{6F7E7EB8-9710-42F8-918E-7910FF51D2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642" y="2359649"/>
            <a:ext cx="436236" cy="436236"/>
          </a:xfrm>
          <a:prstGeom prst="rect">
            <a:avLst/>
          </a:prstGeom>
        </p:spPr>
      </p:pic>
      <p:sp>
        <p:nvSpPr>
          <p:cNvPr id="28" name="object 9">
            <a:extLst>
              <a:ext uri="{FF2B5EF4-FFF2-40B4-BE49-F238E27FC236}">
                <a16:creationId xmlns:a16="http://schemas.microsoft.com/office/drawing/2014/main" id="{87386D89-2956-4694-83D9-90BB24745899}"/>
              </a:ext>
            </a:extLst>
          </p:cNvPr>
          <p:cNvSpPr txBox="1"/>
          <p:nvPr/>
        </p:nvSpPr>
        <p:spPr>
          <a:xfrm>
            <a:off x="11490439" y="2123728"/>
            <a:ext cx="1355361" cy="5908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5 mins</a:t>
            </a: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5 mins</a:t>
            </a: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5 mins</a:t>
            </a:r>
            <a:endParaRPr lang="fr-FR" sz="2400" b="1" dirty="0">
              <a:latin typeface="Marianne" charset="0"/>
              <a:ea typeface="Marianne" charset="0"/>
              <a:cs typeface="Marianne" charset="0"/>
            </a:endParaRP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15 mins</a:t>
            </a:r>
            <a:endParaRPr lang="fr-FR" sz="2400" b="1" dirty="0">
              <a:latin typeface="Marianne" charset="0"/>
              <a:ea typeface="Marianne" charset="0"/>
              <a:cs typeface="Marianne" charset="0"/>
            </a:endParaRP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20 mins</a:t>
            </a:r>
            <a:endParaRPr lang="fr-FR" sz="2400" b="1" dirty="0">
              <a:latin typeface="Marianne" charset="0"/>
              <a:ea typeface="Marianne" charset="0"/>
              <a:cs typeface="Marianne" charset="0"/>
            </a:endParaRP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10 mins</a:t>
            </a:r>
            <a:endParaRPr lang="fr-FR" sz="2400" b="1" dirty="0">
              <a:latin typeface="Marianne" charset="0"/>
              <a:ea typeface="Marianne" charset="0"/>
              <a:cs typeface="Marianne" charset="0"/>
            </a:endParaRP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endParaRPr lang="fr-FR" sz="2400" b="1" dirty="0">
              <a:latin typeface="Marianne" charset="0"/>
              <a:ea typeface="Marianne" charset="0"/>
              <a:cs typeface="Marianne" charset="0"/>
            </a:endParaRPr>
          </a:p>
          <a:p>
            <a:pPr marL="12700" marR="5080">
              <a:lnSpc>
                <a:spcPct val="200000"/>
              </a:lnSpc>
              <a:spcBef>
                <a:spcPts val="100"/>
              </a:spcBef>
            </a:pPr>
            <a:endParaRPr lang="fr-FR" sz="2400" b="1" dirty="0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pic>
        <p:nvPicPr>
          <p:cNvPr id="29" name="Picture 28" descr="Shape&#10;&#10;Description automatically generated with low confidence">
            <a:extLst>
              <a:ext uri="{FF2B5EF4-FFF2-40B4-BE49-F238E27FC236}">
                <a16:creationId xmlns:a16="http://schemas.microsoft.com/office/drawing/2014/main" id="{FF2157BE-2DE4-46A4-8820-3F33D1915E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642" y="3107729"/>
            <a:ext cx="436236" cy="436236"/>
          </a:xfrm>
          <a:prstGeom prst="rect">
            <a:avLst/>
          </a:prstGeom>
        </p:spPr>
      </p:pic>
      <p:pic>
        <p:nvPicPr>
          <p:cNvPr id="30" name="Picture 29" descr="Shape&#10;&#10;Description automatically generated with low confidence">
            <a:extLst>
              <a:ext uri="{FF2B5EF4-FFF2-40B4-BE49-F238E27FC236}">
                <a16:creationId xmlns:a16="http://schemas.microsoft.com/office/drawing/2014/main" id="{2EEDAC6D-F874-459D-AF7C-8CE506BB24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642" y="3855809"/>
            <a:ext cx="436236" cy="436236"/>
          </a:xfrm>
          <a:prstGeom prst="rect">
            <a:avLst/>
          </a:prstGeom>
        </p:spPr>
      </p:pic>
      <p:pic>
        <p:nvPicPr>
          <p:cNvPr id="31" name="Picture 30" descr="Shape&#10;&#10;Description automatically generated with low confidence">
            <a:extLst>
              <a:ext uri="{FF2B5EF4-FFF2-40B4-BE49-F238E27FC236}">
                <a16:creationId xmlns:a16="http://schemas.microsoft.com/office/drawing/2014/main" id="{3F82C8C7-0D2B-4233-8D0D-AF971DDA2B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642" y="4603889"/>
            <a:ext cx="436236" cy="436236"/>
          </a:xfrm>
          <a:prstGeom prst="rect">
            <a:avLst/>
          </a:prstGeom>
        </p:spPr>
      </p:pic>
      <p:pic>
        <p:nvPicPr>
          <p:cNvPr id="32" name="Picture 31" descr="Shape&#10;&#10;Description automatically generated with low confidence">
            <a:extLst>
              <a:ext uri="{FF2B5EF4-FFF2-40B4-BE49-F238E27FC236}">
                <a16:creationId xmlns:a16="http://schemas.microsoft.com/office/drawing/2014/main" id="{279A5CB7-CCBA-4EF7-B159-BD083584E7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642" y="5351969"/>
            <a:ext cx="436236" cy="436236"/>
          </a:xfrm>
          <a:prstGeom prst="rect">
            <a:avLst/>
          </a:prstGeom>
        </p:spPr>
      </p:pic>
      <p:sp>
        <p:nvSpPr>
          <p:cNvPr id="36" name="object 14">
            <a:extLst>
              <a:ext uri="{FF2B5EF4-FFF2-40B4-BE49-F238E27FC236}">
                <a16:creationId xmlns:a16="http://schemas.microsoft.com/office/drawing/2014/main" id="{08C2AE7C-AE63-4F71-A978-D1452896F3ED}"/>
              </a:ext>
            </a:extLst>
          </p:cNvPr>
          <p:cNvSpPr txBox="1">
            <a:spLocks/>
          </p:cNvSpPr>
          <p:nvPr/>
        </p:nvSpPr>
        <p:spPr>
          <a:xfrm>
            <a:off x="1655588" y="549888"/>
            <a:ext cx="12873212" cy="691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4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Agenda du comité de lancement</a:t>
            </a:r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1FA495DE-FBEF-4423-8C46-D0E334BF67B6}"/>
              </a:ext>
            </a:extLst>
          </p:cNvPr>
          <p:cNvSpPr/>
          <p:nvPr/>
        </p:nvSpPr>
        <p:spPr>
          <a:xfrm>
            <a:off x="3684683" y="6121702"/>
            <a:ext cx="435600" cy="435600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Picture 23" descr="Shape&#10;&#10;Description automatically generated with low confidence">
            <a:extLst>
              <a:ext uri="{FF2B5EF4-FFF2-40B4-BE49-F238E27FC236}">
                <a16:creationId xmlns:a16="http://schemas.microsoft.com/office/drawing/2014/main" id="{B308BCF3-1E26-4091-9821-159B121318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642" y="6100049"/>
            <a:ext cx="436236" cy="436236"/>
          </a:xfrm>
          <a:prstGeom prst="rect">
            <a:avLst/>
          </a:prstGeom>
        </p:spPr>
      </p:pic>
      <p:sp>
        <p:nvSpPr>
          <p:cNvPr id="2" name="Left Brace 1">
            <a:extLst>
              <a:ext uri="{FF2B5EF4-FFF2-40B4-BE49-F238E27FC236}">
                <a16:creationId xmlns:a16="http://schemas.microsoft.com/office/drawing/2014/main" id="{B0C15970-D0DF-4DE1-84B4-3492B7849925}"/>
              </a:ext>
            </a:extLst>
          </p:cNvPr>
          <p:cNvSpPr/>
          <p:nvPr/>
        </p:nvSpPr>
        <p:spPr>
          <a:xfrm>
            <a:off x="3013999" y="2359649"/>
            <a:ext cx="435601" cy="4157340"/>
          </a:xfrm>
          <a:prstGeom prst="leftBrace">
            <a:avLst>
              <a:gd name="adj1" fmla="val 0"/>
              <a:gd name="adj2" fmla="val 4883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9150B855-E2FB-4B61-A8EA-351AA12384D9}"/>
              </a:ext>
            </a:extLst>
          </p:cNvPr>
          <p:cNvSpPr txBox="1"/>
          <p:nvPr/>
        </p:nvSpPr>
        <p:spPr>
          <a:xfrm rot="16200000">
            <a:off x="1637899" y="4167218"/>
            <a:ext cx="1635205" cy="54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200000"/>
              </a:lnSpc>
              <a:spcBef>
                <a:spcPts val="100"/>
              </a:spcBef>
            </a:pPr>
            <a:r>
              <a:rPr lang="fr-FR" sz="200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1 heure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A6C41B-C2D0-4925-A405-0243BEF47B7A}"/>
              </a:ext>
            </a:extLst>
          </p:cNvPr>
          <p:cNvSpPr txBox="1">
            <a:spLocks/>
          </p:cNvSpPr>
          <p:nvPr/>
        </p:nvSpPr>
        <p:spPr>
          <a:xfrm>
            <a:off x="3684683" y="7450678"/>
            <a:ext cx="8676766" cy="86603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 i="1">
                <a:latin typeface="Marianne" panose="020B0604020202020204"/>
              </a:rPr>
              <a:t>La durée de chaque partie est adaptable selon les besoins de la collectivité</a:t>
            </a:r>
          </a:p>
          <a:p>
            <a:pPr algn="ctr"/>
            <a:endParaRPr lang="fr-FR" sz="2000" b="1" i="1">
              <a:latin typeface="Marianne" panose="020B0604020202020204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5EF8A0FF-E88D-4856-9A91-452D3218ECC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8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lack and gray microphone on black stand">
            <a:extLst>
              <a:ext uri="{FF2B5EF4-FFF2-40B4-BE49-F238E27FC236}">
                <a16:creationId xmlns:a16="http://schemas.microsoft.com/office/drawing/2014/main" id="{399C28F0-05C0-4BEC-9AC9-CDB8B45F49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1" r="35667"/>
          <a:stretch/>
        </p:blipFill>
        <p:spPr bwMode="auto">
          <a:xfrm>
            <a:off x="9254232" y="763968"/>
            <a:ext cx="5831120" cy="759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object 11"/>
          <p:cNvGrpSpPr/>
          <p:nvPr/>
        </p:nvGrpSpPr>
        <p:grpSpPr>
          <a:xfrm>
            <a:off x="2535820" y="2403126"/>
            <a:ext cx="6319295" cy="4069715"/>
            <a:chOff x="2535820" y="2403126"/>
            <a:chExt cx="6319295" cy="4069715"/>
          </a:xfrm>
        </p:grpSpPr>
        <p:sp>
          <p:nvSpPr>
            <p:cNvPr id="12" name="object 12"/>
            <p:cNvSpPr/>
            <p:nvPr/>
          </p:nvSpPr>
          <p:spPr>
            <a:xfrm>
              <a:off x="4140942" y="2403126"/>
              <a:ext cx="2703830" cy="4069715"/>
            </a:xfrm>
            <a:custGeom>
              <a:avLst/>
              <a:gdLst/>
              <a:ahLst/>
              <a:cxnLst/>
              <a:rect l="l" t="t" r="r" b="b"/>
              <a:pathLst>
                <a:path w="2703829" h="4069715">
                  <a:moveTo>
                    <a:pt x="1179334" y="0"/>
                  </a:moveTo>
                  <a:lnTo>
                    <a:pt x="0" y="1179372"/>
                  </a:lnTo>
                  <a:lnTo>
                    <a:pt x="846429" y="2025776"/>
                  </a:lnTo>
                  <a:lnTo>
                    <a:pt x="89509" y="2887649"/>
                  </a:lnTo>
                  <a:lnTo>
                    <a:pt x="1271308" y="4069448"/>
                  </a:lnTo>
                  <a:lnTo>
                    <a:pt x="2417838" y="2763862"/>
                  </a:lnTo>
                  <a:lnTo>
                    <a:pt x="2449341" y="2726436"/>
                  </a:lnTo>
                  <a:lnTo>
                    <a:pt x="2478995" y="2688029"/>
                  </a:lnTo>
                  <a:lnTo>
                    <a:pt x="2506802" y="2648701"/>
                  </a:lnTo>
                  <a:lnTo>
                    <a:pt x="2532764" y="2608512"/>
                  </a:lnTo>
                  <a:lnTo>
                    <a:pt x="2556882" y="2567521"/>
                  </a:lnTo>
                  <a:lnTo>
                    <a:pt x="2579159" y="2525788"/>
                  </a:lnTo>
                  <a:lnTo>
                    <a:pt x="2599597" y="2483370"/>
                  </a:lnTo>
                  <a:lnTo>
                    <a:pt x="2618197" y="2440329"/>
                  </a:lnTo>
                  <a:lnTo>
                    <a:pt x="2634961" y="2396724"/>
                  </a:lnTo>
                  <a:lnTo>
                    <a:pt x="2649891" y="2352613"/>
                  </a:lnTo>
                  <a:lnTo>
                    <a:pt x="2662990" y="2308056"/>
                  </a:lnTo>
                  <a:lnTo>
                    <a:pt x="2674259" y="2263112"/>
                  </a:lnTo>
                  <a:lnTo>
                    <a:pt x="2683699" y="2217841"/>
                  </a:lnTo>
                  <a:lnTo>
                    <a:pt x="2691314" y="2172303"/>
                  </a:lnTo>
                  <a:lnTo>
                    <a:pt x="2697104" y="2126555"/>
                  </a:lnTo>
                  <a:lnTo>
                    <a:pt x="2701072" y="2080659"/>
                  </a:lnTo>
                  <a:lnTo>
                    <a:pt x="2703220" y="2034673"/>
                  </a:lnTo>
                  <a:lnTo>
                    <a:pt x="2703549" y="1988656"/>
                  </a:lnTo>
                  <a:lnTo>
                    <a:pt x="2702062" y="1942668"/>
                  </a:lnTo>
                  <a:lnTo>
                    <a:pt x="2698760" y="1896769"/>
                  </a:lnTo>
                  <a:lnTo>
                    <a:pt x="2693645" y="1851016"/>
                  </a:lnTo>
                  <a:lnTo>
                    <a:pt x="2686720" y="1805471"/>
                  </a:lnTo>
                  <a:lnTo>
                    <a:pt x="2677985" y="1760193"/>
                  </a:lnTo>
                  <a:lnTo>
                    <a:pt x="2667444" y="1715239"/>
                  </a:lnTo>
                  <a:lnTo>
                    <a:pt x="2655097" y="1670671"/>
                  </a:lnTo>
                  <a:lnTo>
                    <a:pt x="2640947" y="1626548"/>
                  </a:lnTo>
                  <a:lnTo>
                    <a:pt x="2624996" y="1582927"/>
                  </a:lnTo>
                  <a:lnTo>
                    <a:pt x="2607246" y="1539870"/>
                  </a:lnTo>
                  <a:lnTo>
                    <a:pt x="2587698" y="1497436"/>
                  </a:lnTo>
                  <a:lnTo>
                    <a:pt x="2566354" y="1455683"/>
                  </a:lnTo>
                  <a:lnTo>
                    <a:pt x="2543217" y="1414671"/>
                  </a:lnTo>
                  <a:lnTo>
                    <a:pt x="2518288" y="1374460"/>
                  </a:lnTo>
                  <a:lnTo>
                    <a:pt x="2491570" y="1335108"/>
                  </a:lnTo>
                  <a:lnTo>
                    <a:pt x="2463063" y="1296676"/>
                  </a:lnTo>
                  <a:lnTo>
                    <a:pt x="2432770" y="1259222"/>
                  </a:lnTo>
                  <a:lnTo>
                    <a:pt x="2400694" y="1222806"/>
                  </a:lnTo>
                  <a:lnTo>
                    <a:pt x="2366835" y="1187488"/>
                  </a:lnTo>
                  <a:lnTo>
                    <a:pt x="1179334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820" y="4011942"/>
              <a:ext cx="6319295" cy="852169"/>
            </a:xfrm>
            <a:custGeom>
              <a:avLst/>
              <a:gdLst/>
              <a:ahLst/>
              <a:cxnLst/>
              <a:rect l="l" t="t" r="r" b="b"/>
              <a:pathLst>
                <a:path w="5914390" h="852170">
                  <a:moveTo>
                    <a:pt x="5913882" y="0"/>
                  </a:moveTo>
                  <a:lnTo>
                    <a:pt x="0" y="0"/>
                  </a:lnTo>
                  <a:lnTo>
                    <a:pt x="0" y="851827"/>
                  </a:lnTo>
                  <a:lnTo>
                    <a:pt x="5913882" y="851827"/>
                  </a:lnTo>
                  <a:lnTo>
                    <a:pt x="5913882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93013" y="4000561"/>
            <a:ext cx="4916805" cy="6499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>
                <a:solidFill>
                  <a:srgbClr val="2C3176"/>
                </a:solidFill>
                <a:latin typeface="Marianne" charset="0"/>
              </a:rPr>
              <a:t>Mot d’introduction </a:t>
            </a:r>
            <a:endParaRPr sz="2400">
              <a:solidFill>
                <a:srgbClr val="2C3176"/>
              </a:solidFill>
              <a:latin typeface="Marianne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6779035"/>
            <a:ext cx="1277112" cy="167640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4710316" y="609837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69" h="729615">
                <a:moveTo>
                  <a:pt x="435330" y="0"/>
                </a:moveTo>
                <a:lnTo>
                  <a:pt x="0" y="0"/>
                </a:lnTo>
                <a:lnTo>
                  <a:pt x="0" y="432346"/>
                </a:lnTo>
                <a:lnTo>
                  <a:pt x="310299" y="432346"/>
                </a:lnTo>
                <a:lnTo>
                  <a:pt x="329539" y="729068"/>
                </a:lnTo>
                <a:lnTo>
                  <a:pt x="762787" y="729068"/>
                </a:lnTo>
                <a:lnTo>
                  <a:pt x="733640" y="279615"/>
                </a:lnTo>
                <a:lnTo>
                  <a:pt x="727061" y="233685"/>
                </a:lnTo>
                <a:lnTo>
                  <a:pt x="713799" y="190326"/>
                </a:lnTo>
                <a:lnTo>
                  <a:pt x="694421" y="150072"/>
                </a:lnTo>
                <a:lnTo>
                  <a:pt x="669498" y="113456"/>
                </a:lnTo>
                <a:lnTo>
                  <a:pt x="639597" y="81010"/>
                </a:lnTo>
                <a:lnTo>
                  <a:pt x="605287" y="53268"/>
                </a:lnTo>
                <a:lnTo>
                  <a:pt x="567137" y="30762"/>
                </a:lnTo>
                <a:lnTo>
                  <a:pt x="525715" y="14027"/>
                </a:lnTo>
                <a:lnTo>
                  <a:pt x="481590" y="3595"/>
                </a:lnTo>
                <a:lnTo>
                  <a:pt x="43533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015671" y="7816955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70" h="729615">
                <a:moveTo>
                  <a:pt x="433247" y="0"/>
                </a:moveTo>
                <a:lnTo>
                  <a:pt x="0" y="0"/>
                </a:lnTo>
                <a:lnTo>
                  <a:pt x="29159" y="449453"/>
                </a:lnTo>
                <a:lnTo>
                  <a:pt x="35738" y="495383"/>
                </a:lnTo>
                <a:lnTo>
                  <a:pt x="49000" y="538742"/>
                </a:lnTo>
                <a:lnTo>
                  <a:pt x="68377" y="578996"/>
                </a:lnTo>
                <a:lnTo>
                  <a:pt x="93300" y="615612"/>
                </a:lnTo>
                <a:lnTo>
                  <a:pt x="123201" y="648058"/>
                </a:lnTo>
                <a:lnTo>
                  <a:pt x="157509" y="675800"/>
                </a:lnTo>
                <a:lnTo>
                  <a:pt x="195658" y="698305"/>
                </a:lnTo>
                <a:lnTo>
                  <a:pt x="237078" y="715041"/>
                </a:lnTo>
                <a:lnTo>
                  <a:pt x="281200" y="725473"/>
                </a:lnTo>
                <a:lnTo>
                  <a:pt x="327456" y="729068"/>
                </a:lnTo>
                <a:lnTo>
                  <a:pt x="762812" y="729068"/>
                </a:lnTo>
                <a:lnTo>
                  <a:pt x="762812" y="296722"/>
                </a:lnTo>
                <a:lnTo>
                  <a:pt x="452488" y="296722"/>
                </a:lnTo>
                <a:lnTo>
                  <a:pt x="43324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 txBox="1">
            <a:spLocks/>
          </p:cNvSpPr>
          <p:nvPr/>
        </p:nvSpPr>
        <p:spPr>
          <a:xfrm>
            <a:off x="1041400" y="2976937"/>
            <a:ext cx="1613052" cy="2138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fr-FR" sz="13800" kern="0" spc="310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1.</a:t>
            </a:r>
            <a:endParaRPr lang="fr-FR" sz="13800" kern="0" dirty="0"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21" name="Picture 20" descr="Shape&#10;&#10;Description automatically generated with low confidence">
            <a:extLst>
              <a:ext uri="{FF2B5EF4-FFF2-40B4-BE49-F238E27FC236}">
                <a16:creationId xmlns:a16="http://schemas.microsoft.com/office/drawing/2014/main" id="{02428B51-F82C-4764-8DE1-062FBA6031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486" y="7938841"/>
            <a:ext cx="313889" cy="313889"/>
          </a:xfrm>
          <a:prstGeom prst="rect">
            <a:avLst/>
          </a:prstGeom>
        </p:spPr>
      </p:pic>
      <p:sp>
        <p:nvSpPr>
          <p:cNvPr id="22" name="object 9">
            <a:extLst>
              <a:ext uri="{FF2B5EF4-FFF2-40B4-BE49-F238E27FC236}">
                <a16:creationId xmlns:a16="http://schemas.microsoft.com/office/drawing/2014/main" id="{CE831967-666B-490B-86A5-6716AFB54633}"/>
              </a:ext>
            </a:extLst>
          </p:cNvPr>
          <p:cNvSpPr txBox="1"/>
          <p:nvPr/>
        </p:nvSpPr>
        <p:spPr>
          <a:xfrm>
            <a:off x="4919216" y="7651306"/>
            <a:ext cx="1277112" cy="64806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5 mins</a:t>
            </a:r>
          </a:p>
        </p:txBody>
      </p:sp>
      <p:pic>
        <p:nvPicPr>
          <p:cNvPr id="23" name="Image 18">
            <a:extLst>
              <a:ext uri="{FF2B5EF4-FFF2-40B4-BE49-F238E27FC236}">
                <a16:creationId xmlns:a16="http://schemas.microsoft.com/office/drawing/2014/main" id="{018AAE50-6C29-4103-8348-D56B488535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2905989" y="8108485"/>
            <a:ext cx="1935480" cy="247212"/>
          </a:xfrm>
          <a:prstGeom prst="rect">
            <a:avLst/>
          </a:prstGeom>
        </p:spPr>
      </p:pic>
      <p:pic>
        <p:nvPicPr>
          <p:cNvPr id="24" name="Image 18">
            <a:extLst>
              <a:ext uri="{FF2B5EF4-FFF2-40B4-BE49-F238E27FC236}">
                <a16:creationId xmlns:a16="http://schemas.microsoft.com/office/drawing/2014/main" id="{E69B1BA5-18EA-4FCC-B7A7-FAF8531C3AA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6111713" y="8108485"/>
            <a:ext cx="1935480" cy="24721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52D854C-27A1-4575-804A-B9A58C442BE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7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8D5B5F-C23C-4E4A-9D95-4EFB9F21DD94}"/>
              </a:ext>
            </a:extLst>
          </p:cNvPr>
          <p:cNvSpPr/>
          <p:nvPr/>
        </p:nvSpPr>
        <p:spPr>
          <a:xfrm>
            <a:off x="9567684" y="2289409"/>
            <a:ext cx="3312368" cy="33843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>
                <a:solidFill>
                  <a:srgbClr val="2C3176"/>
                </a:solidFill>
                <a:highlight>
                  <a:srgbClr val="FFFF00"/>
                </a:highlight>
                <a:latin typeface="Marianne" panose="020B0604020202020204"/>
              </a:rPr>
              <a:t>Photo du </a:t>
            </a:r>
          </a:p>
          <a:p>
            <a:pPr algn="ctr"/>
            <a:r>
              <a:rPr lang="fr-FR" sz="2800">
                <a:solidFill>
                  <a:srgbClr val="2C3176"/>
                </a:solidFill>
                <a:highlight>
                  <a:srgbClr val="FFFF00"/>
                </a:highlight>
                <a:latin typeface="Marianne" panose="020B0604020202020204"/>
              </a:rPr>
              <a:t>référent à insérer</a:t>
            </a:r>
            <a:endParaRPr lang="en-GB" sz="2800">
              <a:solidFill>
                <a:srgbClr val="2C3176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452563" y="0"/>
            <a:ext cx="2803525" cy="2910205"/>
          </a:xfrm>
          <a:custGeom>
            <a:avLst/>
            <a:gdLst/>
            <a:ahLst/>
            <a:cxnLst/>
            <a:rect l="l" t="t" r="r" b="b"/>
            <a:pathLst>
              <a:path w="2803525" h="2910205">
                <a:moveTo>
                  <a:pt x="2803437" y="0"/>
                </a:moveTo>
                <a:lnTo>
                  <a:pt x="0" y="0"/>
                </a:lnTo>
                <a:lnTo>
                  <a:pt x="0" y="761610"/>
                </a:lnTo>
                <a:lnTo>
                  <a:pt x="1969173" y="889473"/>
                </a:lnTo>
                <a:lnTo>
                  <a:pt x="1969173" y="2909866"/>
                </a:lnTo>
                <a:lnTo>
                  <a:pt x="2803437" y="2909866"/>
                </a:lnTo>
                <a:lnTo>
                  <a:pt x="280343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6325402"/>
            <a:ext cx="2849880" cy="2818765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4">
            <a:extLst>
              <a:ext uri="{FF2B5EF4-FFF2-40B4-BE49-F238E27FC236}">
                <a16:creationId xmlns:a16="http://schemas.microsoft.com/office/drawing/2014/main" id="{841ED561-7298-427C-AAF2-EECD2DC26F41}"/>
              </a:ext>
            </a:extLst>
          </p:cNvPr>
          <p:cNvSpPr txBox="1">
            <a:spLocks/>
          </p:cNvSpPr>
          <p:nvPr/>
        </p:nvSpPr>
        <p:spPr>
          <a:xfrm>
            <a:off x="1655588" y="580219"/>
            <a:ext cx="12873212" cy="67140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 marL="12700" algn="ctr" defTabSz="914377">
              <a:spcBef>
                <a:spcPts val="115"/>
              </a:spcBef>
              <a:defRPr sz="4267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Mot d’introduction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7B4E1D47-5135-4C08-A0A4-83029312AF21}"/>
              </a:ext>
            </a:extLst>
          </p:cNvPr>
          <p:cNvSpPr txBox="1">
            <a:spLocks/>
          </p:cNvSpPr>
          <p:nvPr/>
        </p:nvSpPr>
        <p:spPr>
          <a:xfrm>
            <a:off x="8488040" y="6033825"/>
            <a:ext cx="547165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065" marR="5080" algn="ctr">
              <a:spcBef>
                <a:spcPts val="100"/>
              </a:spcBef>
            </a:pPr>
            <a:r>
              <a:rPr lang="fr-FR" sz="3600" i="1" kern="0" spc="-150">
                <a:solidFill>
                  <a:srgbClr val="2C3176"/>
                </a:solidFill>
                <a:highlight>
                  <a:srgbClr val="FFFF00"/>
                </a:highlight>
                <a:latin typeface="Marianne Light" charset="0"/>
                <a:ea typeface="Marianne Light" charset="0"/>
                <a:cs typeface="Marianne Light" charset="0"/>
              </a:rPr>
              <a:t>Nom et poste du référent numérique responsable</a:t>
            </a:r>
            <a:endParaRPr lang="fr-FR" sz="3600" i="1" kern="0">
              <a:highlight>
                <a:srgbClr val="FFFF00"/>
              </a:highlight>
              <a:latin typeface="Marianne Light" charset="0"/>
              <a:ea typeface="Marianne Light" charset="0"/>
              <a:cs typeface="Marianne Light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2895A3-277F-4F4F-8312-85213A5ED105}"/>
              </a:ext>
            </a:extLst>
          </p:cNvPr>
          <p:cNvSpPr/>
          <p:nvPr/>
        </p:nvSpPr>
        <p:spPr>
          <a:xfrm>
            <a:off x="2875416" y="2292485"/>
            <a:ext cx="3312368" cy="33843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>
                <a:solidFill>
                  <a:srgbClr val="2C3176"/>
                </a:solidFill>
                <a:highlight>
                  <a:srgbClr val="FFFF00"/>
                </a:highlight>
                <a:latin typeface="Marianne" panose="020B0604020202020204"/>
              </a:rPr>
              <a:t>Photo de l’élu à insérer</a:t>
            </a:r>
            <a:endParaRPr lang="en-GB" sz="2800">
              <a:solidFill>
                <a:srgbClr val="2C3176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928EE7BE-C96F-486D-A6E3-BEB6CE0D7A4B}"/>
              </a:ext>
            </a:extLst>
          </p:cNvPr>
          <p:cNvSpPr txBox="1">
            <a:spLocks/>
          </p:cNvSpPr>
          <p:nvPr/>
        </p:nvSpPr>
        <p:spPr>
          <a:xfrm>
            <a:off x="1795772" y="6036901"/>
            <a:ext cx="547165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065" marR="5080" algn="ctr">
              <a:spcBef>
                <a:spcPts val="100"/>
              </a:spcBef>
            </a:pPr>
            <a:r>
              <a:rPr lang="fr-FR" sz="3600" i="1" kern="0" spc="-150">
                <a:solidFill>
                  <a:srgbClr val="2C3176"/>
                </a:solidFill>
                <a:highlight>
                  <a:srgbClr val="FFFF00"/>
                </a:highlight>
                <a:latin typeface="Marianne Light" charset="0"/>
                <a:ea typeface="Marianne Light" charset="0"/>
                <a:cs typeface="Marianne Light" charset="0"/>
              </a:rPr>
              <a:t>Nom et poste de l’élu sponsor de la démarche</a:t>
            </a:r>
            <a:endParaRPr lang="fr-FR" sz="3600" i="1" kern="0">
              <a:highlight>
                <a:srgbClr val="FFFF00"/>
              </a:highlight>
              <a:latin typeface="Marianne Light" charset="0"/>
              <a:ea typeface="Marianne Light" charset="0"/>
              <a:cs typeface="Marianne Light" charset="0"/>
            </a:endParaRPr>
          </a:p>
        </p:txBody>
      </p:sp>
      <p:pic>
        <p:nvPicPr>
          <p:cNvPr id="12" name="Picture 2" descr="Pencil ">
            <a:extLst>
              <a:ext uri="{FF2B5EF4-FFF2-40B4-BE49-F238E27FC236}">
                <a16:creationId xmlns:a16="http://schemas.microsoft.com/office/drawing/2014/main" id="{D02F866D-3766-4E21-9C9C-EE4479709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438" y="274651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Pencil ">
            <a:extLst>
              <a:ext uri="{FF2B5EF4-FFF2-40B4-BE49-F238E27FC236}">
                <a16:creationId xmlns:a16="http://schemas.microsoft.com/office/drawing/2014/main" id="{DABCB32A-F0DD-42EA-8169-C929C044C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068" y="274344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718B92A-DC43-4D72-BB3D-09CEA626A7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383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people sitting on chair inside building">
            <a:extLst>
              <a:ext uri="{FF2B5EF4-FFF2-40B4-BE49-F238E27FC236}">
                <a16:creationId xmlns:a16="http://schemas.microsoft.com/office/drawing/2014/main" id="{5DAF4853-14C1-4C62-AB6A-1D6FA9FBA8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7" r="28868"/>
          <a:stretch/>
        </p:blipFill>
        <p:spPr bwMode="auto">
          <a:xfrm>
            <a:off x="9243351" y="774090"/>
            <a:ext cx="5842000" cy="75816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object 11"/>
          <p:cNvGrpSpPr/>
          <p:nvPr/>
        </p:nvGrpSpPr>
        <p:grpSpPr>
          <a:xfrm>
            <a:off x="2672695" y="2403126"/>
            <a:ext cx="6182420" cy="4069715"/>
            <a:chOff x="2535820" y="2403126"/>
            <a:chExt cx="6319295" cy="4069715"/>
          </a:xfrm>
        </p:grpSpPr>
        <p:sp>
          <p:nvSpPr>
            <p:cNvPr id="12" name="object 12"/>
            <p:cNvSpPr/>
            <p:nvPr/>
          </p:nvSpPr>
          <p:spPr>
            <a:xfrm>
              <a:off x="4140942" y="2403126"/>
              <a:ext cx="2703830" cy="4069715"/>
            </a:xfrm>
            <a:custGeom>
              <a:avLst/>
              <a:gdLst/>
              <a:ahLst/>
              <a:cxnLst/>
              <a:rect l="l" t="t" r="r" b="b"/>
              <a:pathLst>
                <a:path w="2703829" h="4069715">
                  <a:moveTo>
                    <a:pt x="1179334" y="0"/>
                  </a:moveTo>
                  <a:lnTo>
                    <a:pt x="0" y="1179372"/>
                  </a:lnTo>
                  <a:lnTo>
                    <a:pt x="846429" y="2025776"/>
                  </a:lnTo>
                  <a:lnTo>
                    <a:pt x="89509" y="2887649"/>
                  </a:lnTo>
                  <a:lnTo>
                    <a:pt x="1271308" y="4069448"/>
                  </a:lnTo>
                  <a:lnTo>
                    <a:pt x="2417838" y="2763862"/>
                  </a:lnTo>
                  <a:lnTo>
                    <a:pt x="2449341" y="2726436"/>
                  </a:lnTo>
                  <a:lnTo>
                    <a:pt x="2478995" y="2688029"/>
                  </a:lnTo>
                  <a:lnTo>
                    <a:pt x="2506802" y="2648701"/>
                  </a:lnTo>
                  <a:lnTo>
                    <a:pt x="2532764" y="2608512"/>
                  </a:lnTo>
                  <a:lnTo>
                    <a:pt x="2556882" y="2567521"/>
                  </a:lnTo>
                  <a:lnTo>
                    <a:pt x="2579159" y="2525788"/>
                  </a:lnTo>
                  <a:lnTo>
                    <a:pt x="2599597" y="2483370"/>
                  </a:lnTo>
                  <a:lnTo>
                    <a:pt x="2618197" y="2440329"/>
                  </a:lnTo>
                  <a:lnTo>
                    <a:pt x="2634961" y="2396724"/>
                  </a:lnTo>
                  <a:lnTo>
                    <a:pt x="2649891" y="2352613"/>
                  </a:lnTo>
                  <a:lnTo>
                    <a:pt x="2662990" y="2308056"/>
                  </a:lnTo>
                  <a:lnTo>
                    <a:pt x="2674259" y="2263112"/>
                  </a:lnTo>
                  <a:lnTo>
                    <a:pt x="2683699" y="2217841"/>
                  </a:lnTo>
                  <a:lnTo>
                    <a:pt x="2691314" y="2172303"/>
                  </a:lnTo>
                  <a:lnTo>
                    <a:pt x="2697104" y="2126555"/>
                  </a:lnTo>
                  <a:lnTo>
                    <a:pt x="2701072" y="2080659"/>
                  </a:lnTo>
                  <a:lnTo>
                    <a:pt x="2703220" y="2034673"/>
                  </a:lnTo>
                  <a:lnTo>
                    <a:pt x="2703549" y="1988656"/>
                  </a:lnTo>
                  <a:lnTo>
                    <a:pt x="2702062" y="1942668"/>
                  </a:lnTo>
                  <a:lnTo>
                    <a:pt x="2698760" y="1896769"/>
                  </a:lnTo>
                  <a:lnTo>
                    <a:pt x="2693645" y="1851016"/>
                  </a:lnTo>
                  <a:lnTo>
                    <a:pt x="2686720" y="1805471"/>
                  </a:lnTo>
                  <a:lnTo>
                    <a:pt x="2677985" y="1760193"/>
                  </a:lnTo>
                  <a:lnTo>
                    <a:pt x="2667444" y="1715239"/>
                  </a:lnTo>
                  <a:lnTo>
                    <a:pt x="2655097" y="1670671"/>
                  </a:lnTo>
                  <a:lnTo>
                    <a:pt x="2640947" y="1626548"/>
                  </a:lnTo>
                  <a:lnTo>
                    <a:pt x="2624996" y="1582927"/>
                  </a:lnTo>
                  <a:lnTo>
                    <a:pt x="2607246" y="1539870"/>
                  </a:lnTo>
                  <a:lnTo>
                    <a:pt x="2587698" y="1497436"/>
                  </a:lnTo>
                  <a:lnTo>
                    <a:pt x="2566354" y="1455683"/>
                  </a:lnTo>
                  <a:lnTo>
                    <a:pt x="2543217" y="1414671"/>
                  </a:lnTo>
                  <a:lnTo>
                    <a:pt x="2518288" y="1374460"/>
                  </a:lnTo>
                  <a:lnTo>
                    <a:pt x="2491570" y="1335108"/>
                  </a:lnTo>
                  <a:lnTo>
                    <a:pt x="2463063" y="1296676"/>
                  </a:lnTo>
                  <a:lnTo>
                    <a:pt x="2432770" y="1259222"/>
                  </a:lnTo>
                  <a:lnTo>
                    <a:pt x="2400694" y="1222806"/>
                  </a:lnTo>
                  <a:lnTo>
                    <a:pt x="2366835" y="1187488"/>
                  </a:lnTo>
                  <a:lnTo>
                    <a:pt x="1179334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820" y="4011942"/>
              <a:ext cx="6319295" cy="852169"/>
            </a:xfrm>
            <a:custGeom>
              <a:avLst/>
              <a:gdLst/>
              <a:ahLst/>
              <a:cxnLst/>
              <a:rect l="l" t="t" r="r" b="b"/>
              <a:pathLst>
                <a:path w="5914390" h="852170">
                  <a:moveTo>
                    <a:pt x="5913882" y="0"/>
                  </a:moveTo>
                  <a:lnTo>
                    <a:pt x="0" y="0"/>
                  </a:lnTo>
                  <a:lnTo>
                    <a:pt x="0" y="851827"/>
                  </a:lnTo>
                  <a:lnTo>
                    <a:pt x="5913882" y="851827"/>
                  </a:lnTo>
                  <a:lnTo>
                    <a:pt x="5913882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59969" y="4000561"/>
            <a:ext cx="4916805" cy="63889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dirty="0">
                <a:solidFill>
                  <a:srgbClr val="2C3176"/>
                </a:solidFill>
                <a:latin typeface="Marianne" charset="0"/>
              </a:rPr>
              <a:t>Tour de table</a:t>
            </a:r>
            <a:endParaRPr sz="2400" dirty="0">
              <a:solidFill>
                <a:srgbClr val="2C3176"/>
              </a:solidFill>
              <a:latin typeface="Marianne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6779035"/>
            <a:ext cx="1277112" cy="167640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4710316" y="609837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69" h="729615">
                <a:moveTo>
                  <a:pt x="435330" y="0"/>
                </a:moveTo>
                <a:lnTo>
                  <a:pt x="0" y="0"/>
                </a:lnTo>
                <a:lnTo>
                  <a:pt x="0" y="432346"/>
                </a:lnTo>
                <a:lnTo>
                  <a:pt x="310299" y="432346"/>
                </a:lnTo>
                <a:lnTo>
                  <a:pt x="329539" y="729068"/>
                </a:lnTo>
                <a:lnTo>
                  <a:pt x="762787" y="729068"/>
                </a:lnTo>
                <a:lnTo>
                  <a:pt x="733640" y="279615"/>
                </a:lnTo>
                <a:lnTo>
                  <a:pt x="727061" y="233685"/>
                </a:lnTo>
                <a:lnTo>
                  <a:pt x="713799" y="190326"/>
                </a:lnTo>
                <a:lnTo>
                  <a:pt x="694421" y="150072"/>
                </a:lnTo>
                <a:lnTo>
                  <a:pt x="669498" y="113456"/>
                </a:lnTo>
                <a:lnTo>
                  <a:pt x="639597" y="81010"/>
                </a:lnTo>
                <a:lnTo>
                  <a:pt x="605287" y="53268"/>
                </a:lnTo>
                <a:lnTo>
                  <a:pt x="567137" y="30762"/>
                </a:lnTo>
                <a:lnTo>
                  <a:pt x="525715" y="14027"/>
                </a:lnTo>
                <a:lnTo>
                  <a:pt x="481590" y="3595"/>
                </a:lnTo>
                <a:lnTo>
                  <a:pt x="43533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015671" y="7816955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70" h="729615">
                <a:moveTo>
                  <a:pt x="433247" y="0"/>
                </a:moveTo>
                <a:lnTo>
                  <a:pt x="0" y="0"/>
                </a:lnTo>
                <a:lnTo>
                  <a:pt x="29159" y="449453"/>
                </a:lnTo>
                <a:lnTo>
                  <a:pt x="35738" y="495383"/>
                </a:lnTo>
                <a:lnTo>
                  <a:pt x="49000" y="538742"/>
                </a:lnTo>
                <a:lnTo>
                  <a:pt x="68377" y="578996"/>
                </a:lnTo>
                <a:lnTo>
                  <a:pt x="93300" y="615612"/>
                </a:lnTo>
                <a:lnTo>
                  <a:pt x="123201" y="648058"/>
                </a:lnTo>
                <a:lnTo>
                  <a:pt x="157509" y="675800"/>
                </a:lnTo>
                <a:lnTo>
                  <a:pt x="195658" y="698305"/>
                </a:lnTo>
                <a:lnTo>
                  <a:pt x="237078" y="715041"/>
                </a:lnTo>
                <a:lnTo>
                  <a:pt x="281200" y="725473"/>
                </a:lnTo>
                <a:lnTo>
                  <a:pt x="327456" y="729068"/>
                </a:lnTo>
                <a:lnTo>
                  <a:pt x="762812" y="729068"/>
                </a:lnTo>
                <a:lnTo>
                  <a:pt x="762812" y="296722"/>
                </a:lnTo>
                <a:lnTo>
                  <a:pt x="452488" y="296722"/>
                </a:lnTo>
                <a:lnTo>
                  <a:pt x="43324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 txBox="1">
            <a:spLocks/>
          </p:cNvSpPr>
          <p:nvPr/>
        </p:nvSpPr>
        <p:spPr>
          <a:xfrm>
            <a:off x="1023979" y="3166583"/>
            <a:ext cx="1818569" cy="2138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fr-FR" sz="13800" kern="0" spc="310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2.</a:t>
            </a:r>
            <a:endParaRPr lang="fr-FR" sz="13800" kern="0" dirty="0"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21" name="Picture 20" descr="Shape&#10;&#10;Description automatically generated with low confidence">
            <a:extLst>
              <a:ext uri="{FF2B5EF4-FFF2-40B4-BE49-F238E27FC236}">
                <a16:creationId xmlns:a16="http://schemas.microsoft.com/office/drawing/2014/main" id="{02428B51-F82C-4764-8DE1-062FBA6031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486" y="7938841"/>
            <a:ext cx="313889" cy="313889"/>
          </a:xfrm>
          <a:prstGeom prst="rect">
            <a:avLst/>
          </a:prstGeom>
        </p:spPr>
      </p:pic>
      <p:sp>
        <p:nvSpPr>
          <p:cNvPr id="22" name="object 9">
            <a:extLst>
              <a:ext uri="{FF2B5EF4-FFF2-40B4-BE49-F238E27FC236}">
                <a16:creationId xmlns:a16="http://schemas.microsoft.com/office/drawing/2014/main" id="{CE831967-666B-490B-86A5-6716AFB54633}"/>
              </a:ext>
            </a:extLst>
          </p:cNvPr>
          <p:cNvSpPr txBox="1"/>
          <p:nvPr/>
        </p:nvSpPr>
        <p:spPr>
          <a:xfrm>
            <a:off x="4919216" y="7651306"/>
            <a:ext cx="1277112" cy="64806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5 mins</a:t>
            </a:r>
          </a:p>
        </p:txBody>
      </p:sp>
      <p:pic>
        <p:nvPicPr>
          <p:cNvPr id="23" name="Image 18">
            <a:extLst>
              <a:ext uri="{FF2B5EF4-FFF2-40B4-BE49-F238E27FC236}">
                <a16:creationId xmlns:a16="http://schemas.microsoft.com/office/drawing/2014/main" id="{018AAE50-6C29-4103-8348-D56B488535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2905989" y="8108485"/>
            <a:ext cx="1935480" cy="247212"/>
          </a:xfrm>
          <a:prstGeom prst="rect">
            <a:avLst/>
          </a:prstGeom>
        </p:spPr>
      </p:pic>
      <p:pic>
        <p:nvPicPr>
          <p:cNvPr id="24" name="Image 18">
            <a:extLst>
              <a:ext uri="{FF2B5EF4-FFF2-40B4-BE49-F238E27FC236}">
                <a16:creationId xmlns:a16="http://schemas.microsoft.com/office/drawing/2014/main" id="{E69B1BA5-18EA-4FCC-B7A7-FAF8531C3AA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6111713" y="8108485"/>
            <a:ext cx="1935480" cy="24721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1D2D722-6DA5-41E5-A379-4C10D194FB5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6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42BD4-ADFA-44AA-80F7-07917E6914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979" t="1948" r="6011" b="395"/>
          <a:stretch/>
        </p:blipFill>
        <p:spPr>
          <a:xfrm>
            <a:off x="9243352" y="742894"/>
            <a:ext cx="5842000" cy="758160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648889" y="2403126"/>
            <a:ext cx="6206229" cy="4069715"/>
            <a:chOff x="2535821" y="2403126"/>
            <a:chExt cx="6319298" cy="4069715"/>
          </a:xfrm>
        </p:grpSpPr>
        <p:sp>
          <p:nvSpPr>
            <p:cNvPr id="12" name="object 12"/>
            <p:cNvSpPr/>
            <p:nvPr/>
          </p:nvSpPr>
          <p:spPr>
            <a:xfrm>
              <a:off x="4140942" y="2403126"/>
              <a:ext cx="2703830" cy="4069715"/>
            </a:xfrm>
            <a:custGeom>
              <a:avLst/>
              <a:gdLst/>
              <a:ahLst/>
              <a:cxnLst/>
              <a:rect l="l" t="t" r="r" b="b"/>
              <a:pathLst>
                <a:path w="2703829" h="4069715">
                  <a:moveTo>
                    <a:pt x="1179334" y="0"/>
                  </a:moveTo>
                  <a:lnTo>
                    <a:pt x="0" y="1179372"/>
                  </a:lnTo>
                  <a:lnTo>
                    <a:pt x="846429" y="2025776"/>
                  </a:lnTo>
                  <a:lnTo>
                    <a:pt x="89509" y="2887649"/>
                  </a:lnTo>
                  <a:lnTo>
                    <a:pt x="1271308" y="4069448"/>
                  </a:lnTo>
                  <a:lnTo>
                    <a:pt x="2417838" y="2763862"/>
                  </a:lnTo>
                  <a:lnTo>
                    <a:pt x="2449341" y="2726436"/>
                  </a:lnTo>
                  <a:lnTo>
                    <a:pt x="2478995" y="2688029"/>
                  </a:lnTo>
                  <a:lnTo>
                    <a:pt x="2506802" y="2648701"/>
                  </a:lnTo>
                  <a:lnTo>
                    <a:pt x="2532764" y="2608512"/>
                  </a:lnTo>
                  <a:lnTo>
                    <a:pt x="2556882" y="2567521"/>
                  </a:lnTo>
                  <a:lnTo>
                    <a:pt x="2579159" y="2525788"/>
                  </a:lnTo>
                  <a:lnTo>
                    <a:pt x="2599597" y="2483370"/>
                  </a:lnTo>
                  <a:lnTo>
                    <a:pt x="2618197" y="2440329"/>
                  </a:lnTo>
                  <a:lnTo>
                    <a:pt x="2634961" y="2396724"/>
                  </a:lnTo>
                  <a:lnTo>
                    <a:pt x="2649891" y="2352613"/>
                  </a:lnTo>
                  <a:lnTo>
                    <a:pt x="2662990" y="2308056"/>
                  </a:lnTo>
                  <a:lnTo>
                    <a:pt x="2674259" y="2263112"/>
                  </a:lnTo>
                  <a:lnTo>
                    <a:pt x="2683699" y="2217841"/>
                  </a:lnTo>
                  <a:lnTo>
                    <a:pt x="2691314" y="2172303"/>
                  </a:lnTo>
                  <a:lnTo>
                    <a:pt x="2697104" y="2126555"/>
                  </a:lnTo>
                  <a:lnTo>
                    <a:pt x="2701072" y="2080659"/>
                  </a:lnTo>
                  <a:lnTo>
                    <a:pt x="2703220" y="2034673"/>
                  </a:lnTo>
                  <a:lnTo>
                    <a:pt x="2703549" y="1988656"/>
                  </a:lnTo>
                  <a:lnTo>
                    <a:pt x="2702062" y="1942668"/>
                  </a:lnTo>
                  <a:lnTo>
                    <a:pt x="2698760" y="1896769"/>
                  </a:lnTo>
                  <a:lnTo>
                    <a:pt x="2693645" y="1851016"/>
                  </a:lnTo>
                  <a:lnTo>
                    <a:pt x="2686720" y="1805471"/>
                  </a:lnTo>
                  <a:lnTo>
                    <a:pt x="2677985" y="1760193"/>
                  </a:lnTo>
                  <a:lnTo>
                    <a:pt x="2667444" y="1715239"/>
                  </a:lnTo>
                  <a:lnTo>
                    <a:pt x="2655097" y="1670671"/>
                  </a:lnTo>
                  <a:lnTo>
                    <a:pt x="2640947" y="1626548"/>
                  </a:lnTo>
                  <a:lnTo>
                    <a:pt x="2624996" y="1582927"/>
                  </a:lnTo>
                  <a:lnTo>
                    <a:pt x="2607246" y="1539870"/>
                  </a:lnTo>
                  <a:lnTo>
                    <a:pt x="2587698" y="1497436"/>
                  </a:lnTo>
                  <a:lnTo>
                    <a:pt x="2566354" y="1455683"/>
                  </a:lnTo>
                  <a:lnTo>
                    <a:pt x="2543217" y="1414671"/>
                  </a:lnTo>
                  <a:lnTo>
                    <a:pt x="2518288" y="1374460"/>
                  </a:lnTo>
                  <a:lnTo>
                    <a:pt x="2491570" y="1335108"/>
                  </a:lnTo>
                  <a:lnTo>
                    <a:pt x="2463063" y="1296676"/>
                  </a:lnTo>
                  <a:lnTo>
                    <a:pt x="2432770" y="1259222"/>
                  </a:lnTo>
                  <a:lnTo>
                    <a:pt x="2400694" y="1222806"/>
                  </a:lnTo>
                  <a:lnTo>
                    <a:pt x="2366835" y="1187488"/>
                  </a:lnTo>
                  <a:lnTo>
                    <a:pt x="1179334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821" y="4011942"/>
              <a:ext cx="6319298" cy="852169"/>
            </a:xfrm>
            <a:custGeom>
              <a:avLst/>
              <a:gdLst/>
              <a:ahLst/>
              <a:cxnLst/>
              <a:rect l="l" t="t" r="r" b="b"/>
              <a:pathLst>
                <a:path w="5914390" h="852170">
                  <a:moveTo>
                    <a:pt x="5913882" y="0"/>
                  </a:moveTo>
                  <a:lnTo>
                    <a:pt x="0" y="0"/>
                  </a:lnTo>
                  <a:lnTo>
                    <a:pt x="0" y="851827"/>
                  </a:lnTo>
                  <a:lnTo>
                    <a:pt x="5913882" y="851827"/>
                  </a:lnTo>
                  <a:lnTo>
                    <a:pt x="5913882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706040" y="4050042"/>
            <a:ext cx="6093159" cy="6499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Introduction au Numérique Responsable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6779035"/>
            <a:ext cx="1277112" cy="167640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4710316" y="609837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69" h="729615">
                <a:moveTo>
                  <a:pt x="435330" y="0"/>
                </a:moveTo>
                <a:lnTo>
                  <a:pt x="0" y="0"/>
                </a:lnTo>
                <a:lnTo>
                  <a:pt x="0" y="432346"/>
                </a:lnTo>
                <a:lnTo>
                  <a:pt x="310299" y="432346"/>
                </a:lnTo>
                <a:lnTo>
                  <a:pt x="329539" y="729068"/>
                </a:lnTo>
                <a:lnTo>
                  <a:pt x="762787" y="729068"/>
                </a:lnTo>
                <a:lnTo>
                  <a:pt x="733640" y="279615"/>
                </a:lnTo>
                <a:lnTo>
                  <a:pt x="727061" y="233685"/>
                </a:lnTo>
                <a:lnTo>
                  <a:pt x="713799" y="190326"/>
                </a:lnTo>
                <a:lnTo>
                  <a:pt x="694421" y="150072"/>
                </a:lnTo>
                <a:lnTo>
                  <a:pt x="669498" y="113456"/>
                </a:lnTo>
                <a:lnTo>
                  <a:pt x="639597" y="81010"/>
                </a:lnTo>
                <a:lnTo>
                  <a:pt x="605287" y="53268"/>
                </a:lnTo>
                <a:lnTo>
                  <a:pt x="567137" y="30762"/>
                </a:lnTo>
                <a:lnTo>
                  <a:pt x="525715" y="14027"/>
                </a:lnTo>
                <a:lnTo>
                  <a:pt x="481590" y="3595"/>
                </a:lnTo>
                <a:lnTo>
                  <a:pt x="43533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015671" y="7816955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70" h="729615">
                <a:moveTo>
                  <a:pt x="433247" y="0"/>
                </a:moveTo>
                <a:lnTo>
                  <a:pt x="0" y="0"/>
                </a:lnTo>
                <a:lnTo>
                  <a:pt x="29159" y="449453"/>
                </a:lnTo>
                <a:lnTo>
                  <a:pt x="35738" y="495383"/>
                </a:lnTo>
                <a:lnTo>
                  <a:pt x="49000" y="538742"/>
                </a:lnTo>
                <a:lnTo>
                  <a:pt x="68377" y="578996"/>
                </a:lnTo>
                <a:lnTo>
                  <a:pt x="93300" y="615612"/>
                </a:lnTo>
                <a:lnTo>
                  <a:pt x="123201" y="648058"/>
                </a:lnTo>
                <a:lnTo>
                  <a:pt x="157509" y="675800"/>
                </a:lnTo>
                <a:lnTo>
                  <a:pt x="195658" y="698305"/>
                </a:lnTo>
                <a:lnTo>
                  <a:pt x="237078" y="715041"/>
                </a:lnTo>
                <a:lnTo>
                  <a:pt x="281200" y="725473"/>
                </a:lnTo>
                <a:lnTo>
                  <a:pt x="327456" y="729068"/>
                </a:lnTo>
                <a:lnTo>
                  <a:pt x="762812" y="729068"/>
                </a:lnTo>
                <a:lnTo>
                  <a:pt x="762812" y="296722"/>
                </a:lnTo>
                <a:lnTo>
                  <a:pt x="452488" y="296722"/>
                </a:lnTo>
                <a:lnTo>
                  <a:pt x="43324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 txBox="1">
            <a:spLocks/>
          </p:cNvSpPr>
          <p:nvPr/>
        </p:nvSpPr>
        <p:spPr>
          <a:xfrm>
            <a:off x="1001032" y="3169442"/>
            <a:ext cx="1720560" cy="2138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fr-FR" sz="13800" kern="0" spc="310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3.</a:t>
            </a:r>
            <a:endParaRPr lang="fr-FR" sz="13800" kern="0" dirty="0"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25" name="Picture 24" descr="Shape&#10;&#10;Description automatically generated with low confidence">
            <a:extLst>
              <a:ext uri="{FF2B5EF4-FFF2-40B4-BE49-F238E27FC236}">
                <a16:creationId xmlns:a16="http://schemas.microsoft.com/office/drawing/2014/main" id="{CE853E74-6D43-47BD-A923-0EDB46EAE1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486" y="7938841"/>
            <a:ext cx="313889" cy="313889"/>
          </a:xfrm>
          <a:prstGeom prst="rect">
            <a:avLst/>
          </a:prstGeom>
        </p:spPr>
      </p:pic>
      <p:sp>
        <p:nvSpPr>
          <p:cNvPr id="26" name="object 9">
            <a:extLst>
              <a:ext uri="{FF2B5EF4-FFF2-40B4-BE49-F238E27FC236}">
                <a16:creationId xmlns:a16="http://schemas.microsoft.com/office/drawing/2014/main" id="{119CE564-363E-44AF-A8FF-BB99E5C4C37F}"/>
              </a:ext>
            </a:extLst>
          </p:cNvPr>
          <p:cNvSpPr txBox="1"/>
          <p:nvPr/>
        </p:nvSpPr>
        <p:spPr>
          <a:xfrm>
            <a:off x="4919216" y="7651306"/>
            <a:ext cx="1277112" cy="64806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5 mins</a:t>
            </a:r>
          </a:p>
        </p:txBody>
      </p:sp>
      <p:pic>
        <p:nvPicPr>
          <p:cNvPr id="27" name="Image 18">
            <a:extLst>
              <a:ext uri="{FF2B5EF4-FFF2-40B4-BE49-F238E27FC236}">
                <a16:creationId xmlns:a16="http://schemas.microsoft.com/office/drawing/2014/main" id="{9721187D-EF86-4F12-8EDB-90FE8802622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2905989" y="8108485"/>
            <a:ext cx="1935480" cy="247212"/>
          </a:xfrm>
          <a:prstGeom prst="rect">
            <a:avLst/>
          </a:prstGeom>
        </p:spPr>
      </p:pic>
      <p:pic>
        <p:nvPicPr>
          <p:cNvPr id="28" name="Image 18">
            <a:extLst>
              <a:ext uri="{FF2B5EF4-FFF2-40B4-BE49-F238E27FC236}">
                <a16:creationId xmlns:a16="http://schemas.microsoft.com/office/drawing/2014/main" id="{7443122A-CB23-477B-A775-EBEC5A6386C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6111713" y="8108485"/>
            <a:ext cx="1935480" cy="24721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672B4AF-F9CB-4252-B281-5A5736C2343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42700" y="1908176"/>
            <a:ext cx="14012784" cy="5976192"/>
          </a:xfrm>
          <a:custGeom>
            <a:avLst/>
            <a:gdLst/>
            <a:ahLst/>
            <a:cxnLst/>
            <a:rect l="l" t="t" r="r" b="b"/>
            <a:pathLst>
              <a:path w="13248005" h="6181725">
                <a:moveTo>
                  <a:pt x="13247535" y="0"/>
                </a:moveTo>
                <a:lnTo>
                  <a:pt x="0" y="0"/>
                </a:lnTo>
                <a:lnTo>
                  <a:pt x="0" y="6181178"/>
                </a:lnTo>
                <a:lnTo>
                  <a:pt x="13247535" y="6181178"/>
                </a:lnTo>
                <a:lnTo>
                  <a:pt x="1324753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algn="ctr"/>
            <a:endParaRPr/>
          </a:p>
        </p:txBody>
      </p:sp>
      <p:sp>
        <p:nvSpPr>
          <p:cNvPr id="29" name="object 5">
            <a:extLst>
              <a:ext uri="{FF2B5EF4-FFF2-40B4-BE49-F238E27FC236}">
                <a16:creationId xmlns:a16="http://schemas.microsoft.com/office/drawing/2014/main" id="{D948DA38-0B9A-4007-9314-1E66561DE4F7}"/>
              </a:ext>
            </a:extLst>
          </p:cNvPr>
          <p:cNvSpPr txBox="1">
            <a:spLocks/>
          </p:cNvSpPr>
          <p:nvPr/>
        </p:nvSpPr>
        <p:spPr>
          <a:xfrm>
            <a:off x="1450948" y="2270096"/>
            <a:ext cx="13562352" cy="16383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065" marR="5080">
              <a:lnSpc>
                <a:spcPct val="150000"/>
              </a:lnSpc>
              <a:spcBef>
                <a:spcPts val="100"/>
              </a:spcBef>
            </a:pPr>
            <a:r>
              <a:rPr lang="fr-FR" sz="2400" b="0" kern="0" spc="-150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1.	</a:t>
            </a:r>
            <a:r>
              <a:rPr lang="fr-FR" sz="2400" kern="0" spc="-150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Quelle est la part du numérique dans les émissions globales de gaz à effet de serre en 2020 ?</a:t>
            </a:r>
          </a:p>
          <a:p>
            <a:pPr marL="12065" marR="5080">
              <a:lnSpc>
                <a:spcPct val="150000"/>
              </a:lnSpc>
              <a:spcBef>
                <a:spcPts val="100"/>
              </a:spcBef>
            </a:pPr>
            <a:r>
              <a:rPr lang="fr-FR" sz="2400" b="0" kern="0" spc="-150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	a)  Moins de 1%		b) 4%			c) 5,1%			d) Plus de 10%</a:t>
            </a:r>
          </a:p>
          <a:p>
            <a:pPr marL="12065" marR="5080">
              <a:lnSpc>
                <a:spcPct val="150000"/>
              </a:lnSpc>
              <a:spcBef>
                <a:spcPts val="100"/>
              </a:spcBef>
            </a:pPr>
            <a:endParaRPr lang="fr-FR" sz="2400" b="0" kern="0" spc="-150" dirty="0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2F6DF36B-EEF4-485F-AE82-178520864878}"/>
              </a:ext>
            </a:extLst>
          </p:cNvPr>
          <p:cNvSpPr txBox="1">
            <a:spLocks/>
          </p:cNvSpPr>
          <p:nvPr/>
        </p:nvSpPr>
        <p:spPr>
          <a:xfrm>
            <a:off x="1450946" y="4106497"/>
            <a:ext cx="13562351" cy="107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065" marR="5080">
              <a:lnSpc>
                <a:spcPct val="150000"/>
              </a:lnSpc>
              <a:spcBef>
                <a:spcPts val="100"/>
              </a:spcBef>
            </a:pPr>
            <a:r>
              <a:rPr lang="fr-FR" sz="2400" b="0" kern="0" spc="-150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2.	</a:t>
            </a:r>
            <a:r>
              <a:rPr lang="fr-FR" sz="2400" kern="0" spc="-150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Quelle est l’évolution de la consommation d’énergie du numérique entre 2010 et 2025 ? </a:t>
            </a:r>
          </a:p>
          <a:p>
            <a:pPr marL="12065" marR="5080">
              <a:lnSpc>
                <a:spcPct val="150000"/>
              </a:lnSpc>
              <a:spcBef>
                <a:spcPts val="100"/>
              </a:spcBef>
            </a:pPr>
            <a:r>
              <a:rPr lang="fr-FR" sz="2400" b="0" kern="0" spc="-150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	a) Stable			b) Multipliée par 2	c) Multipliée par 3	d) Multipliée par 5</a:t>
            </a:r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792BD5B7-4555-4FFC-98FC-A3104B0A0A3A}"/>
              </a:ext>
            </a:extLst>
          </p:cNvPr>
          <p:cNvSpPr txBox="1">
            <a:spLocks/>
          </p:cNvSpPr>
          <p:nvPr/>
        </p:nvSpPr>
        <p:spPr>
          <a:xfrm>
            <a:off x="1450946" y="5796136"/>
            <a:ext cx="13804538" cy="107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fr-FR"/>
            </a:defPPr>
            <a:lvl1pPr marL="12065" marR="5080">
              <a:lnSpc>
                <a:spcPct val="150000"/>
              </a:lnSpc>
              <a:spcBef>
                <a:spcPts val="100"/>
              </a:spcBef>
              <a:defRPr sz="2400" b="0" i="0" kern="0" spc="-15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defRPr>
            </a:lvl1pPr>
          </a:lstStyle>
          <a:p>
            <a:r>
              <a:rPr lang="fr-FR" dirty="0"/>
              <a:t>3. 	</a:t>
            </a:r>
            <a:r>
              <a:rPr lang="fr-FR" b="1" dirty="0"/>
              <a:t>Quelle est la proportion des services numériques dans la consommation électrique française ?</a:t>
            </a:r>
          </a:p>
          <a:p>
            <a:r>
              <a:rPr lang="fr-FR" dirty="0"/>
              <a:t>	a) 8%			b) 12%			c) 16%			d)  20%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00517" y="471574"/>
            <a:ext cx="14254967" cy="124585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defTabSz="914377" rtl="0">
              <a:spcBef>
                <a:spcPts val="115"/>
              </a:spcBef>
            </a:pPr>
            <a:r>
              <a:rPr lang="fr-FR" sz="4000" dirty="0"/>
              <a:t>Quizz sur les chiffres clés de l’impact </a:t>
            </a:r>
            <a:br>
              <a:rPr lang="fr-FR" sz="4000" dirty="0"/>
            </a:br>
            <a:r>
              <a:rPr lang="fr-FR" sz="4000" dirty="0"/>
              <a:t>environnemental du numérique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1EC3B7-4C35-491A-916F-624F32000856}"/>
              </a:ext>
            </a:extLst>
          </p:cNvPr>
          <p:cNvSpPr txBox="1"/>
          <p:nvPr/>
        </p:nvSpPr>
        <p:spPr>
          <a:xfrm>
            <a:off x="2244752" y="7051739"/>
            <a:ext cx="12560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i="0" dirty="0">
                <a:solidFill>
                  <a:srgbClr val="008776"/>
                </a:solidFill>
                <a:effectLst/>
                <a:latin typeface="-apple-system"/>
                <a:sym typeface="Wingdings" panose="05000000000000000000" pitchFamily="2" charset="2"/>
              </a:rPr>
              <a:t> L</a:t>
            </a:r>
            <a:r>
              <a:rPr lang="fr-FR" sz="2000" b="1" i="0" dirty="0">
                <a:solidFill>
                  <a:srgbClr val="008776"/>
                </a:solidFill>
                <a:effectLst/>
                <a:latin typeface="-apple-system"/>
              </a:rPr>
              <a:t>e numérique consomme 56 TWh par an en France, c’est 3% de la consommation d’énergie finale française</a:t>
            </a:r>
            <a:endParaRPr lang="en-GB" sz="2000" b="1" dirty="0">
              <a:solidFill>
                <a:srgbClr val="008776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2F5061-771A-47ED-974C-ECB70876343D}"/>
              </a:ext>
            </a:extLst>
          </p:cNvPr>
          <p:cNvSpPr txBox="1"/>
          <p:nvPr/>
        </p:nvSpPr>
        <p:spPr>
          <a:xfrm>
            <a:off x="2244752" y="5362100"/>
            <a:ext cx="12560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i="0" dirty="0">
                <a:solidFill>
                  <a:srgbClr val="008776"/>
                </a:solidFill>
                <a:effectLst/>
                <a:latin typeface="-apple-system"/>
                <a:sym typeface="Wingdings" panose="05000000000000000000" pitchFamily="2" charset="2"/>
              </a:rPr>
              <a:t> La consommation d ’énergie du numérique sera multipliée par 3 entre 2010 et 2025</a:t>
            </a:r>
            <a:endParaRPr lang="en-GB" sz="2000" b="1" dirty="0">
              <a:solidFill>
                <a:srgbClr val="00877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5AFE6-F3DA-432E-890A-1D0BF39EF9EA}"/>
              </a:ext>
            </a:extLst>
          </p:cNvPr>
          <p:cNvSpPr txBox="1"/>
          <p:nvPr/>
        </p:nvSpPr>
        <p:spPr>
          <a:xfrm>
            <a:off x="2244752" y="3515638"/>
            <a:ext cx="12560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i="0" dirty="0">
                <a:solidFill>
                  <a:srgbClr val="008776"/>
                </a:solidFill>
                <a:effectLst/>
                <a:latin typeface="-apple-system"/>
                <a:sym typeface="Wingdings" panose="05000000000000000000" pitchFamily="2" charset="2"/>
              </a:rPr>
              <a:t> 4% des émissions de GES,  c’est 1,5 fois plus important que le transport aérien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2C2C0A-DBF9-4C86-8968-38BACC2E5208}"/>
              </a:ext>
            </a:extLst>
          </p:cNvPr>
          <p:cNvSpPr/>
          <p:nvPr/>
        </p:nvSpPr>
        <p:spPr>
          <a:xfrm>
            <a:off x="5776983" y="2877183"/>
            <a:ext cx="1143000" cy="505901"/>
          </a:xfrm>
          <a:prstGeom prst="roundRect">
            <a:avLst/>
          </a:prstGeom>
          <a:noFill/>
          <a:ln w="38100">
            <a:solidFill>
              <a:srgbClr val="339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E16BA99-E720-4F1C-860B-85BBE580482B}"/>
              </a:ext>
            </a:extLst>
          </p:cNvPr>
          <p:cNvSpPr/>
          <p:nvPr/>
        </p:nvSpPr>
        <p:spPr>
          <a:xfrm>
            <a:off x="8706578" y="4764120"/>
            <a:ext cx="2513872" cy="399976"/>
          </a:xfrm>
          <a:prstGeom prst="roundRect">
            <a:avLst/>
          </a:prstGeom>
          <a:noFill/>
          <a:ln w="38100">
            <a:solidFill>
              <a:srgbClr val="339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F6A8951-D381-4F12-BA52-084D8CB12B2C}"/>
              </a:ext>
            </a:extLst>
          </p:cNvPr>
          <p:cNvSpPr/>
          <p:nvPr/>
        </p:nvSpPr>
        <p:spPr>
          <a:xfrm>
            <a:off x="4973980" y="6439882"/>
            <a:ext cx="1148806" cy="461755"/>
          </a:xfrm>
          <a:prstGeom prst="roundRect">
            <a:avLst/>
          </a:prstGeom>
          <a:noFill/>
          <a:ln w="38100">
            <a:solidFill>
              <a:srgbClr val="339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D3F129-02BF-4D2C-83E9-5E7C0AE34645}"/>
              </a:ext>
            </a:extLst>
          </p:cNvPr>
          <p:cNvSpPr txBox="1"/>
          <p:nvPr/>
        </p:nvSpPr>
        <p:spPr>
          <a:xfrm>
            <a:off x="11728400" y="7463366"/>
            <a:ext cx="3424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>
                <a:solidFill>
                  <a:srgbClr val="2C3176"/>
                </a:solidFill>
                <a:effectLst/>
                <a:latin typeface="-apple-system"/>
                <a:sym typeface="Wingdings" panose="05000000000000000000" pitchFamily="2" charset="2"/>
              </a:rPr>
              <a:t>Sources : The Shift Project (1,2,3)</a:t>
            </a:r>
            <a:endParaRPr lang="en-GB" sz="1400" i="1">
              <a:solidFill>
                <a:srgbClr val="2C317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D26821-6EF8-4B6D-A9F7-56CE8BF06DB0}"/>
              </a:ext>
            </a:extLst>
          </p:cNvPr>
          <p:cNvSpPr txBox="1">
            <a:spLocks/>
          </p:cNvSpPr>
          <p:nvPr/>
        </p:nvSpPr>
        <p:spPr>
          <a:xfrm>
            <a:off x="3314053" y="8078452"/>
            <a:ext cx="9627893" cy="86603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b="1" i="1">
                <a:latin typeface="Marianne" panose="020B0604020202020204"/>
              </a:rPr>
              <a:t>En séance, les animations PowerPoint de cette diapositive permettent de montrer d’abord la question puis de faire apparaître la réponse dans un second temps</a:t>
            </a:r>
          </a:p>
          <a:p>
            <a:pPr algn="ctr"/>
            <a:endParaRPr lang="fr-FR" b="1" i="1">
              <a:latin typeface="Mariann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3066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4" grpId="0"/>
      <p:bldP spid="5" grpId="0"/>
      <p:bldP spid="19" grpId="0"/>
      <p:bldP spid="20" grpId="0"/>
      <p:bldP spid="22" grpId="0"/>
      <p:bldP spid="7" grpId="0" animBg="1"/>
      <p:bldP spid="27" grpId="0" animBg="1"/>
      <p:bldP spid="28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983CA8-5BFC-4EC2-98A0-4E1E9BE60F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r="15283"/>
          <a:stretch/>
        </p:blipFill>
        <p:spPr>
          <a:xfrm>
            <a:off x="9243352" y="742894"/>
            <a:ext cx="5842000" cy="756920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535820" y="1373093"/>
            <a:ext cx="6319297" cy="4069715"/>
            <a:chOff x="2535820" y="2403126"/>
            <a:chExt cx="6319297" cy="4069715"/>
          </a:xfrm>
        </p:grpSpPr>
        <p:sp>
          <p:nvSpPr>
            <p:cNvPr id="12" name="object 12"/>
            <p:cNvSpPr/>
            <p:nvPr/>
          </p:nvSpPr>
          <p:spPr>
            <a:xfrm>
              <a:off x="4140942" y="2403126"/>
              <a:ext cx="2703830" cy="4069715"/>
            </a:xfrm>
            <a:custGeom>
              <a:avLst/>
              <a:gdLst/>
              <a:ahLst/>
              <a:cxnLst/>
              <a:rect l="l" t="t" r="r" b="b"/>
              <a:pathLst>
                <a:path w="2703829" h="4069715">
                  <a:moveTo>
                    <a:pt x="1179334" y="0"/>
                  </a:moveTo>
                  <a:lnTo>
                    <a:pt x="0" y="1179372"/>
                  </a:lnTo>
                  <a:lnTo>
                    <a:pt x="846429" y="2025776"/>
                  </a:lnTo>
                  <a:lnTo>
                    <a:pt x="89509" y="2887649"/>
                  </a:lnTo>
                  <a:lnTo>
                    <a:pt x="1271308" y="4069448"/>
                  </a:lnTo>
                  <a:lnTo>
                    <a:pt x="2417838" y="2763862"/>
                  </a:lnTo>
                  <a:lnTo>
                    <a:pt x="2449341" y="2726436"/>
                  </a:lnTo>
                  <a:lnTo>
                    <a:pt x="2478995" y="2688029"/>
                  </a:lnTo>
                  <a:lnTo>
                    <a:pt x="2506802" y="2648701"/>
                  </a:lnTo>
                  <a:lnTo>
                    <a:pt x="2532764" y="2608512"/>
                  </a:lnTo>
                  <a:lnTo>
                    <a:pt x="2556882" y="2567521"/>
                  </a:lnTo>
                  <a:lnTo>
                    <a:pt x="2579159" y="2525788"/>
                  </a:lnTo>
                  <a:lnTo>
                    <a:pt x="2599597" y="2483370"/>
                  </a:lnTo>
                  <a:lnTo>
                    <a:pt x="2618197" y="2440329"/>
                  </a:lnTo>
                  <a:lnTo>
                    <a:pt x="2634961" y="2396724"/>
                  </a:lnTo>
                  <a:lnTo>
                    <a:pt x="2649891" y="2352613"/>
                  </a:lnTo>
                  <a:lnTo>
                    <a:pt x="2662990" y="2308056"/>
                  </a:lnTo>
                  <a:lnTo>
                    <a:pt x="2674259" y="2263112"/>
                  </a:lnTo>
                  <a:lnTo>
                    <a:pt x="2683699" y="2217841"/>
                  </a:lnTo>
                  <a:lnTo>
                    <a:pt x="2691314" y="2172303"/>
                  </a:lnTo>
                  <a:lnTo>
                    <a:pt x="2697104" y="2126555"/>
                  </a:lnTo>
                  <a:lnTo>
                    <a:pt x="2701072" y="2080659"/>
                  </a:lnTo>
                  <a:lnTo>
                    <a:pt x="2703220" y="2034673"/>
                  </a:lnTo>
                  <a:lnTo>
                    <a:pt x="2703549" y="1988656"/>
                  </a:lnTo>
                  <a:lnTo>
                    <a:pt x="2702062" y="1942668"/>
                  </a:lnTo>
                  <a:lnTo>
                    <a:pt x="2698760" y="1896769"/>
                  </a:lnTo>
                  <a:lnTo>
                    <a:pt x="2693645" y="1851016"/>
                  </a:lnTo>
                  <a:lnTo>
                    <a:pt x="2686720" y="1805471"/>
                  </a:lnTo>
                  <a:lnTo>
                    <a:pt x="2677985" y="1760193"/>
                  </a:lnTo>
                  <a:lnTo>
                    <a:pt x="2667444" y="1715239"/>
                  </a:lnTo>
                  <a:lnTo>
                    <a:pt x="2655097" y="1670671"/>
                  </a:lnTo>
                  <a:lnTo>
                    <a:pt x="2640947" y="1626548"/>
                  </a:lnTo>
                  <a:lnTo>
                    <a:pt x="2624996" y="1582927"/>
                  </a:lnTo>
                  <a:lnTo>
                    <a:pt x="2607246" y="1539870"/>
                  </a:lnTo>
                  <a:lnTo>
                    <a:pt x="2587698" y="1497436"/>
                  </a:lnTo>
                  <a:lnTo>
                    <a:pt x="2566354" y="1455683"/>
                  </a:lnTo>
                  <a:lnTo>
                    <a:pt x="2543217" y="1414671"/>
                  </a:lnTo>
                  <a:lnTo>
                    <a:pt x="2518288" y="1374460"/>
                  </a:lnTo>
                  <a:lnTo>
                    <a:pt x="2491570" y="1335108"/>
                  </a:lnTo>
                  <a:lnTo>
                    <a:pt x="2463063" y="1296676"/>
                  </a:lnTo>
                  <a:lnTo>
                    <a:pt x="2432770" y="1259222"/>
                  </a:lnTo>
                  <a:lnTo>
                    <a:pt x="2400694" y="1222806"/>
                  </a:lnTo>
                  <a:lnTo>
                    <a:pt x="2366835" y="1187488"/>
                  </a:lnTo>
                  <a:lnTo>
                    <a:pt x="1179334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820" y="4011942"/>
              <a:ext cx="6319297" cy="852169"/>
            </a:xfrm>
            <a:custGeom>
              <a:avLst/>
              <a:gdLst/>
              <a:ahLst/>
              <a:cxnLst/>
              <a:rect l="l" t="t" r="r" b="b"/>
              <a:pathLst>
                <a:path w="5914390" h="852170">
                  <a:moveTo>
                    <a:pt x="5913882" y="0"/>
                  </a:moveTo>
                  <a:lnTo>
                    <a:pt x="0" y="0"/>
                  </a:lnTo>
                  <a:lnTo>
                    <a:pt x="0" y="851827"/>
                  </a:lnTo>
                  <a:lnTo>
                    <a:pt x="5913882" y="851827"/>
                  </a:lnTo>
                  <a:lnTo>
                    <a:pt x="5913882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82133" y="2965630"/>
            <a:ext cx="6093159" cy="649985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Présentation de la démarche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6779035"/>
            <a:ext cx="1277112" cy="167640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4710316" y="609837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69" h="729615">
                <a:moveTo>
                  <a:pt x="435330" y="0"/>
                </a:moveTo>
                <a:lnTo>
                  <a:pt x="0" y="0"/>
                </a:lnTo>
                <a:lnTo>
                  <a:pt x="0" y="432346"/>
                </a:lnTo>
                <a:lnTo>
                  <a:pt x="310299" y="432346"/>
                </a:lnTo>
                <a:lnTo>
                  <a:pt x="329539" y="729068"/>
                </a:lnTo>
                <a:lnTo>
                  <a:pt x="762787" y="729068"/>
                </a:lnTo>
                <a:lnTo>
                  <a:pt x="733640" y="279615"/>
                </a:lnTo>
                <a:lnTo>
                  <a:pt x="727061" y="233685"/>
                </a:lnTo>
                <a:lnTo>
                  <a:pt x="713799" y="190326"/>
                </a:lnTo>
                <a:lnTo>
                  <a:pt x="694421" y="150072"/>
                </a:lnTo>
                <a:lnTo>
                  <a:pt x="669498" y="113456"/>
                </a:lnTo>
                <a:lnTo>
                  <a:pt x="639597" y="81010"/>
                </a:lnTo>
                <a:lnTo>
                  <a:pt x="605287" y="53268"/>
                </a:lnTo>
                <a:lnTo>
                  <a:pt x="567137" y="30762"/>
                </a:lnTo>
                <a:lnTo>
                  <a:pt x="525715" y="14027"/>
                </a:lnTo>
                <a:lnTo>
                  <a:pt x="481590" y="3595"/>
                </a:lnTo>
                <a:lnTo>
                  <a:pt x="43533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015671" y="7816955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70" h="729615">
                <a:moveTo>
                  <a:pt x="433247" y="0"/>
                </a:moveTo>
                <a:lnTo>
                  <a:pt x="0" y="0"/>
                </a:lnTo>
                <a:lnTo>
                  <a:pt x="29159" y="449453"/>
                </a:lnTo>
                <a:lnTo>
                  <a:pt x="35738" y="495383"/>
                </a:lnTo>
                <a:lnTo>
                  <a:pt x="49000" y="538742"/>
                </a:lnTo>
                <a:lnTo>
                  <a:pt x="68377" y="578996"/>
                </a:lnTo>
                <a:lnTo>
                  <a:pt x="93300" y="615612"/>
                </a:lnTo>
                <a:lnTo>
                  <a:pt x="123201" y="648058"/>
                </a:lnTo>
                <a:lnTo>
                  <a:pt x="157509" y="675800"/>
                </a:lnTo>
                <a:lnTo>
                  <a:pt x="195658" y="698305"/>
                </a:lnTo>
                <a:lnTo>
                  <a:pt x="237078" y="715041"/>
                </a:lnTo>
                <a:lnTo>
                  <a:pt x="281200" y="725473"/>
                </a:lnTo>
                <a:lnTo>
                  <a:pt x="327456" y="729068"/>
                </a:lnTo>
                <a:lnTo>
                  <a:pt x="762812" y="729068"/>
                </a:lnTo>
                <a:lnTo>
                  <a:pt x="762812" y="296722"/>
                </a:lnTo>
                <a:lnTo>
                  <a:pt x="452488" y="296722"/>
                </a:lnTo>
                <a:lnTo>
                  <a:pt x="43324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 txBox="1">
            <a:spLocks/>
          </p:cNvSpPr>
          <p:nvPr/>
        </p:nvSpPr>
        <p:spPr>
          <a:xfrm>
            <a:off x="116732" y="1946904"/>
            <a:ext cx="2537720" cy="2138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fr-FR" sz="13800" kern="0" spc="31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  4.</a:t>
            </a:r>
            <a:endParaRPr lang="fr-FR" sz="13800" kern="0"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28" name="Picture 27" descr="Shape&#10;&#10;Description automatically generated with low confidence">
            <a:extLst>
              <a:ext uri="{FF2B5EF4-FFF2-40B4-BE49-F238E27FC236}">
                <a16:creationId xmlns:a16="http://schemas.microsoft.com/office/drawing/2014/main" id="{D5384E6E-7A52-43B3-9321-CF1A94615B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486" y="7938841"/>
            <a:ext cx="313889" cy="313889"/>
          </a:xfrm>
          <a:prstGeom prst="rect">
            <a:avLst/>
          </a:prstGeom>
        </p:spPr>
      </p:pic>
      <p:sp>
        <p:nvSpPr>
          <p:cNvPr id="29" name="object 9">
            <a:extLst>
              <a:ext uri="{FF2B5EF4-FFF2-40B4-BE49-F238E27FC236}">
                <a16:creationId xmlns:a16="http://schemas.microsoft.com/office/drawing/2014/main" id="{78DD046E-345C-4E6F-8174-FF408BFC12EE}"/>
              </a:ext>
            </a:extLst>
          </p:cNvPr>
          <p:cNvSpPr txBox="1"/>
          <p:nvPr/>
        </p:nvSpPr>
        <p:spPr>
          <a:xfrm>
            <a:off x="4919216" y="7651306"/>
            <a:ext cx="1277112" cy="64806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15 mins</a:t>
            </a:r>
          </a:p>
        </p:txBody>
      </p:sp>
      <p:pic>
        <p:nvPicPr>
          <p:cNvPr id="30" name="Image 18">
            <a:extLst>
              <a:ext uri="{FF2B5EF4-FFF2-40B4-BE49-F238E27FC236}">
                <a16:creationId xmlns:a16="http://schemas.microsoft.com/office/drawing/2014/main" id="{DE428165-87A0-4497-9C56-CDC85594B77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2905989" y="8108485"/>
            <a:ext cx="1935480" cy="247212"/>
          </a:xfrm>
          <a:prstGeom prst="rect">
            <a:avLst/>
          </a:prstGeom>
        </p:spPr>
      </p:pic>
      <p:pic>
        <p:nvPicPr>
          <p:cNvPr id="31" name="Image 18">
            <a:extLst>
              <a:ext uri="{FF2B5EF4-FFF2-40B4-BE49-F238E27FC236}">
                <a16:creationId xmlns:a16="http://schemas.microsoft.com/office/drawing/2014/main" id="{FB4DA88D-266B-4968-B49A-A15C24C74F3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6111713" y="8108485"/>
            <a:ext cx="1935480" cy="247212"/>
          </a:xfrm>
          <a:prstGeom prst="rect">
            <a:avLst/>
          </a:prstGeom>
        </p:spPr>
      </p:pic>
      <p:sp>
        <p:nvSpPr>
          <p:cNvPr id="22" name="object 8">
            <a:extLst>
              <a:ext uri="{FF2B5EF4-FFF2-40B4-BE49-F238E27FC236}">
                <a16:creationId xmlns:a16="http://schemas.microsoft.com/office/drawing/2014/main" id="{C3F3D211-88D7-4AC1-B498-4BCA13E3E62D}"/>
              </a:ext>
            </a:extLst>
          </p:cNvPr>
          <p:cNvSpPr txBox="1"/>
          <p:nvPr/>
        </p:nvSpPr>
        <p:spPr>
          <a:xfrm>
            <a:off x="3556000" y="5940152"/>
            <a:ext cx="13233768" cy="1923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Cadre réglementaire</a:t>
            </a:r>
          </a:p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2000" b="1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  <a:p>
            <a:pPr marL="12700" marR="5080">
              <a:spcBef>
                <a:spcPts val="100"/>
              </a:spcBef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Ambition de la démarche</a:t>
            </a:r>
          </a:p>
          <a:p>
            <a:pPr marL="12700" marR="5080">
              <a:spcBef>
                <a:spcPts val="100"/>
              </a:spcBef>
            </a:pPr>
            <a:endParaRPr lang="fr-FR" sz="2000" b="1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  <a:p>
            <a:pPr marL="12700" marR="5080">
              <a:spcBef>
                <a:spcPts val="100"/>
              </a:spcBef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Périmètre de la démarche</a:t>
            </a:r>
          </a:p>
          <a:p>
            <a:pPr marL="12700" marR="5080">
              <a:spcBef>
                <a:spcPts val="100"/>
              </a:spcBef>
            </a:pPr>
            <a:endParaRPr kumimoji="0" lang="fr-FR" sz="2000" b="1" i="0" u="none" strike="noStrike" kern="120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C4DD48BC-7A2D-4373-AD0C-ACE890C09A6B}"/>
              </a:ext>
            </a:extLst>
          </p:cNvPr>
          <p:cNvSpPr/>
          <p:nvPr/>
        </p:nvSpPr>
        <p:spPr>
          <a:xfrm>
            <a:off x="3083293" y="6604651"/>
            <a:ext cx="295275" cy="282575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5A95F9BB-CD3A-47D2-A757-5C37AD736C84}"/>
              </a:ext>
            </a:extLst>
          </p:cNvPr>
          <p:cNvSpPr/>
          <p:nvPr/>
        </p:nvSpPr>
        <p:spPr>
          <a:xfrm>
            <a:off x="3083293" y="5973006"/>
            <a:ext cx="295275" cy="282575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BBDC5BE0-9B60-4103-851C-CE18638627B0}"/>
              </a:ext>
            </a:extLst>
          </p:cNvPr>
          <p:cNvSpPr/>
          <p:nvPr/>
        </p:nvSpPr>
        <p:spPr>
          <a:xfrm>
            <a:off x="3083293" y="7236296"/>
            <a:ext cx="295275" cy="282575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6ABC7FA-F66E-4AB8-837D-51D1F58A58D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310132" y="209348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1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00517" y="471573"/>
            <a:ext cx="14254967" cy="124585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 defTabSz="914377" rtl="0">
              <a:spcBef>
                <a:spcPts val="115"/>
              </a:spcBef>
            </a:pPr>
            <a:r>
              <a:rPr lang="fr-FR" sz="4000" kern="1200" dirty="0">
                <a:solidFill>
                  <a:srgbClr val="2C3176"/>
                </a:solidFill>
                <a:latin typeface="Marianne" panose="020B0604020202020204" charset="0"/>
              </a:rPr>
              <a:t>Les territoires ont un rôle clé dans la </a:t>
            </a:r>
            <a:br>
              <a:rPr lang="fr-FR" sz="4000" kern="1200" dirty="0">
                <a:solidFill>
                  <a:srgbClr val="2C3176"/>
                </a:solidFill>
                <a:latin typeface="Marianne" panose="020B0604020202020204" charset="0"/>
              </a:rPr>
            </a:br>
            <a:r>
              <a:rPr lang="fr-FR" sz="4000" kern="1200" dirty="0">
                <a:solidFill>
                  <a:srgbClr val="2C3176"/>
                </a:solidFill>
                <a:latin typeface="Marianne" panose="020B0604020202020204" charset="0"/>
              </a:rPr>
              <a:t>réduction de l’empreinte environnementale du numérique</a:t>
            </a:r>
            <a:endParaRPr sz="4000" kern="1200" dirty="0">
              <a:solidFill>
                <a:srgbClr val="2C3176"/>
              </a:solidFill>
              <a:latin typeface="Marianne" panose="020B0604020202020204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359FD3D-412B-448D-BEE2-5457AAFD0596}"/>
              </a:ext>
            </a:extLst>
          </p:cNvPr>
          <p:cNvSpPr/>
          <p:nvPr/>
        </p:nvSpPr>
        <p:spPr>
          <a:xfrm>
            <a:off x="1143224" y="2818597"/>
            <a:ext cx="13570451" cy="4006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690" indent="-380990" algn="just" defTabSz="914377">
              <a:lnSpc>
                <a:spcPct val="150000"/>
              </a:lnSpc>
              <a:spcBef>
                <a:spcPts val="115"/>
              </a:spcBef>
              <a:buFont typeface="Arial" panose="020B0604020202020204" pitchFamily="34" charset="0"/>
              <a:buChar char="•"/>
            </a:pPr>
            <a:r>
              <a:rPr lang="fr-FR" sz="2133" spc="1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Afin de pleinement les intégrer dans la régulation de cette source croissante de pollution, la </a:t>
            </a:r>
            <a:r>
              <a:rPr lang="fr-FR" sz="2133" b="1" spc="1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loi pour la réduction de l’empreinte environnementale du numérique </a:t>
            </a:r>
            <a:r>
              <a:rPr lang="fr-FR" sz="2133" spc="1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du 15 novembre 2021 (dite « loi REEN ») prévoit à son article 35 que </a:t>
            </a:r>
            <a:r>
              <a:rPr lang="fr-FR" sz="2133" b="1" spc="1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les communes et EPCI  de plus de 50 000 habitants doivent définir une stratégie numérique responsable au 1</a:t>
            </a:r>
            <a:r>
              <a:rPr lang="fr-FR" sz="2133" b="1" spc="11" baseline="30000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er</a:t>
            </a:r>
            <a:r>
              <a:rPr lang="fr-FR" sz="2133" b="1" spc="1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 janvier 2025</a:t>
            </a:r>
            <a:r>
              <a:rPr lang="fr-FR" sz="2133" spc="1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, avec un plan de travail structuré au 1</a:t>
            </a:r>
            <a:r>
              <a:rPr lang="fr-FR" sz="2133" spc="11" baseline="30000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er</a:t>
            </a:r>
            <a:r>
              <a:rPr lang="fr-FR" sz="2133" spc="1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 janvier 2023. </a:t>
            </a:r>
          </a:p>
          <a:p>
            <a:pPr marL="393690" indent="-380990" algn="just" defTabSz="914377">
              <a:lnSpc>
                <a:spcPct val="150000"/>
              </a:lnSpc>
              <a:spcBef>
                <a:spcPts val="115"/>
              </a:spcBef>
              <a:buFont typeface="Arial" panose="020B0604020202020204" pitchFamily="34" charset="0"/>
              <a:buChar char="•"/>
            </a:pPr>
            <a:endParaRPr lang="fr-FR" sz="2133" spc="11" dirty="0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  <a:p>
            <a:pPr marL="393690" indent="-380990" algn="just" defTabSz="914377">
              <a:lnSpc>
                <a:spcPct val="150000"/>
              </a:lnSpc>
              <a:spcBef>
                <a:spcPts val="115"/>
              </a:spcBef>
              <a:buFont typeface="Arial" panose="020B0604020202020204" pitchFamily="34" charset="0"/>
              <a:buChar char="•"/>
            </a:pPr>
            <a:r>
              <a:rPr lang="fr-FR" sz="2133" spc="1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Le décret d’application a été publié au JORF le 29 juillet 2022 et précise cet article de loi, en listant les </a:t>
            </a:r>
            <a:r>
              <a:rPr lang="fr-FR" sz="2133" b="1" spc="11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principales thématiques à prendre en compte – achat public, mesure, sensibilisation, cycle de vie du matériel informatique, etc. </a:t>
            </a:r>
            <a:endParaRPr lang="fr-FR" sz="2133" b="1" dirty="0">
              <a:solidFill>
                <a:prstClr val="black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541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00517" y="1323688"/>
            <a:ext cx="14254967" cy="67710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spcBef>
                <a:spcPts val="115"/>
              </a:spcBef>
            </a:pPr>
            <a:r>
              <a:rPr lang="fr-FR" sz="320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 Elaborer une feuille de route pour notre collectivité </a:t>
            </a:r>
            <a:endParaRPr lang="fr-FR" sz="3200"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48937" y="3176678"/>
            <a:ext cx="3890645" cy="31115"/>
          </a:xfrm>
          <a:custGeom>
            <a:avLst/>
            <a:gdLst/>
            <a:ahLst/>
            <a:cxnLst/>
            <a:rect l="l" t="t" r="r" b="b"/>
            <a:pathLst>
              <a:path w="3890645" h="31114">
                <a:moveTo>
                  <a:pt x="3890213" y="0"/>
                </a:moveTo>
                <a:lnTo>
                  <a:pt x="0" y="0"/>
                </a:lnTo>
                <a:lnTo>
                  <a:pt x="0" y="30975"/>
                </a:lnTo>
                <a:lnTo>
                  <a:pt x="3890213" y="30975"/>
                </a:lnTo>
                <a:lnTo>
                  <a:pt x="38902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pPr defTabSz="121917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6237" y="2565002"/>
            <a:ext cx="5031055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defTabSz="1219170">
              <a:spcBef>
                <a:spcPts val="115"/>
              </a:spcBef>
              <a:tabLst>
                <a:tab pos="4914142" algn="l"/>
              </a:tabLst>
            </a:pPr>
            <a:r>
              <a:rPr lang="fr-FR" sz="3200" spc="1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Objectifs</a:t>
            </a:r>
            <a:endParaRPr lang="fr-FR" sz="3200">
              <a:solidFill>
                <a:prstClr val="black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8049" y="3517057"/>
            <a:ext cx="3806825" cy="22801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S’accorder sur un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niveau d’ambition 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et un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périmètre d’application </a:t>
            </a:r>
          </a:p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pc="-5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Prioriser les actions 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à mettre en place et initier le passage à  l’action</a:t>
            </a:r>
          </a:p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pc="-5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Accompagner la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mobilisation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 des parties prenantes</a:t>
            </a: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1FA53C16-D101-4008-8EE7-2397CD2682E3}"/>
              </a:ext>
            </a:extLst>
          </p:cNvPr>
          <p:cNvSpPr/>
          <p:nvPr/>
        </p:nvSpPr>
        <p:spPr>
          <a:xfrm>
            <a:off x="5770749" y="3176678"/>
            <a:ext cx="3890645" cy="31115"/>
          </a:xfrm>
          <a:custGeom>
            <a:avLst/>
            <a:gdLst/>
            <a:ahLst/>
            <a:cxnLst/>
            <a:rect l="l" t="t" r="r" b="b"/>
            <a:pathLst>
              <a:path w="3890645" h="31114">
                <a:moveTo>
                  <a:pt x="3890213" y="0"/>
                </a:moveTo>
                <a:lnTo>
                  <a:pt x="0" y="0"/>
                </a:lnTo>
                <a:lnTo>
                  <a:pt x="0" y="30975"/>
                </a:lnTo>
                <a:lnTo>
                  <a:pt x="3890213" y="30975"/>
                </a:lnTo>
                <a:lnTo>
                  <a:pt x="38902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pPr defTabSz="121917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49F434AF-39AE-4EC6-8164-555F8545F484}"/>
              </a:ext>
            </a:extLst>
          </p:cNvPr>
          <p:cNvSpPr txBox="1"/>
          <p:nvPr/>
        </p:nvSpPr>
        <p:spPr>
          <a:xfrm>
            <a:off x="5758049" y="2565002"/>
            <a:ext cx="5031055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defTabSz="1219170">
              <a:spcBef>
                <a:spcPts val="115"/>
              </a:spcBef>
              <a:tabLst>
                <a:tab pos="4914142" algn="l"/>
              </a:tabLst>
            </a:pPr>
            <a:r>
              <a:rPr lang="fr-FR" sz="3200" spc="1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Enjeux</a:t>
            </a:r>
            <a:endParaRPr lang="fr-FR" sz="3200">
              <a:solidFill>
                <a:prstClr val="black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9A598FFB-9ED1-4226-B1CB-B7A40F0A5CA3}"/>
              </a:ext>
            </a:extLst>
          </p:cNvPr>
          <p:cNvSpPr/>
          <p:nvPr/>
        </p:nvSpPr>
        <p:spPr>
          <a:xfrm>
            <a:off x="10492561" y="3176678"/>
            <a:ext cx="3890645" cy="31115"/>
          </a:xfrm>
          <a:custGeom>
            <a:avLst/>
            <a:gdLst/>
            <a:ahLst/>
            <a:cxnLst/>
            <a:rect l="l" t="t" r="r" b="b"/>
            <a:pathLst>
              <a:path w="3890645" h="31114">
                <a:moveTo>
                  <a:pt x="3890213" y="0"/>
                </a:moveTo>
                <a:lnTo>
                  <a:pt x="0" y="0"/>
                </a:lnTo>
                <a:lnTo>
                  <a:pt x="0" y="30975"/>
                </a:lnTo>
                <a:lnTo>
                  <a:pt x="3890213" y="30975"/>
                </a:lnTo>
                <a:lnTo>
                  <a:pt x="38902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pPr defTabSz="121917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2FBF8B0E-9F89-4B1C-8999-A19CBCCC970A}"/>
              </a:ext>
            </a:extLst>
          </p:cNvPr>
          <p:cNvSpPr txBox="1"/>
          <p:nvPr/>
        </p:nvSpPr>
        <p:spPr>
          <a:xfrm>
            <a:off x="10441761" y="2565002"/>
            <a:ext cx="5031055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defTabSz="1219170">
              <a:spcBef>
                <a:spcPts val="115"/>
              </a:spcBef>
              <a:tabLst>
                <a:tab pos="4914142" algn="l"/>
              </a:tabLst>
            </a:pPr>
            <a:r>
              <a:rPr lang="fr-FR" sz="3200" spc="1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Critères de réussite</a:t>
            </a:r>
            <a:endParaRPr lang="fr-FR" sz="3200">
              <a:solidFill>
                <a:prstClr val="black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A9ACA516-5BDA-4653-A57C-6CEF97EAB433}"/>
              </a:ext>
            </a:extLst>
          </p:cNvPr>
          <p:cNvSpPr txBox="1">
            <a:spLocks/>
          </p:cNvSpPr>
          <p:nvPr/>
        </p:nvSpPr>
        <p:spPr>
          <a:xfrm>
            <a:off x="1807989" y="464200"/>
            <a:ext cx="12873212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 marL="12700" algn="ctr" defTabSz="914377">
              <a:spcBef>
                <a:spcPts val="115"/>
              </a:spcBef>
              <a:defRPr sz="4267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 sz="4000"/>
              <a:t>Ambitions de la démarche</a:t>
            </a: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4DF8FCDF-48BC-41CC-B5CC-629991EBB996}"/>
              </a:ext>
            </a:extLst>
          </p:cNvPr>
          <p:cNvSpPr txBox="1"/>
          <p:nvPr/>
        </p:nvSpPr>
        <p:spPr>
          <a:xfrm>
            <a:off x="1036237" y="3517057"/>
            <a:ext cx="3806825" cy="22672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Formaliser une proposition de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stratégie adaptée à la collectivité</a:t>
            </a:r>
          </a:p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pc="-5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Doter la collectivité d’une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vision claire de ses priorités 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et de la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manière de les mettre en œuvre 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et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pilotables dans la durée</a:t>
            </a:r>
          </a:p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pc="-5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00068076-914D-481B-BE28-42CADFDD2091}"/>
              </a:ext>
            </a:extLst>
          </p:cNvPr>
          <p:cNvSpPr txBox="1"/>
          <p:nvPr/>
        </p:nvSpPr>
        <p:spPr>
          <a:xfrm>
            <a:off x="10492561" y="3517056"/>
            <a:ext cx="3956731" cy="36651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Assurer la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mobilisation 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de toutes les parties prenantes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aux profils variés 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pour </a:t>
            </a:r>
            <a:r>
              <a:rPr lang="fr-FR" spc="-5" err="1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co-construire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 la stratégie</a:t>
            </a:r>
          </a:p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pc="-5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Capitaliser sur les réflexions et initiatives 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numérique responsable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déjà existantes 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au sein de la collectivité pour ne pas repartir de rien</a:t>
            </a:r>
            <a:endParaRPr lang="fr-FR" b="1" spc="-5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  <a:p>
            <a:pPr marL="12700" marR="5080" defTabSz="1219170">
              <a:spcBef>
                <a:spcPts val="100"/>
              </a:spcBef>
            </a:pPr>
            <a:endParaRPr lang="fr-FR" spc="-5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  <a:p>
            <a:pPr marL="298443" marR="5080" indent="-285744" defTabSz="121917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Mettre en place des instances de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suivi et de validation des travaux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 de la démarche pour s’assurer de son bon déroulement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468C7C-3764-4D9F-A9B9-4F449E736542}"/>
              </a:ext>
            </a:extLst>
          </p:cNvPr>
          <p:cNvSpPr txBox="1">
            <a:spLocks/>
          </p:cNvSpPr>
          <p:nvPr/>
        </p:nvSpPr>
        <p:spPr>
          <a:xfrm>
            <a:off x="4843062" y="8245309"/>
            <a:ext cx="6408712" cy="65398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r>
              <a:rPr lang="fr-FR" b="1" i="1">
                <a:latin typeface="Marianne" panose="020B0604020202020204"/>
              </a:rPr>
              <a:t>Proposition ajustable par la collectivité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b="1" i="1">
              <a:latin typeface="Mariann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44082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A59CE51E-9139-434F-A81F-B34BACF4D7E7}"/>
              </a:ext>
            </a:extLst>
          </p:cNvPr>
          <p:cNvSpPr/>
          <p:nvPr/>
        </p:nvSpPr>
        <p:spPr>
          <a:xfrm>
            <a:off x="3181979" y="6706405"/>
            <a:ext cx="2726297" cy="1470717"/>
          </a:xfrm>
          <a:prstGeom prst="cube">
            <a:avLst>
              <a:gd name="adj" fmla="val 11989"/>
            </a:avLst>
          </a:prstGeom>
          <a:solidFill>
            <a:srgbClr val="FFDF6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AF860EFB-345F-4CAB-8104-7E4EE1D12532}"/>
              </a:ext>
            </a:extLst>
          </p:cNvPr>
          <p:cNvSpPr/>
          <p:nvPr/>
        </p:nvSpPr>
        <p:spPr>
          <a:xfrm>
            <a:off x="5744211" y="5932443"/>
            <a:ext cx="3176705" cy="2244679"/>
          </a:xfrm>
          <a:prstGeom prst="cube">
            <a:avLst>
              <a:gd name="adj" fmla="val 8766"/>
            </a:avLst>
          </a:prstGeom>
          <a:solidFill>
            <a:srgbClr val="00A8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DB606484-9CD4-4C48-99BE-C940D4153AF2}"/>
              </a:ext>
            </a:extLst>
          </p:cNvPr>
          <p:cNvSpPr/>
          <p:nvPr/>
        </p:nvSpPr>
        <p:spPr>
          <a:xfrm>
            <a:off x="8738964" y="5215114"/>
            <a:ext cx="3176705" cy="2962008"/>
          </a:xfrm>
          <a:prstGeom prst="cube">
            <a:avLst>
              <a:gd name="adj" fmla="val 4408"/>
            </a:avLst>
          </a:prstGeom>
          <a:solidFill>
            <a:srgbClr val="5D73B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cxnSp>
        <p:nvCxnSpPr>
          <p:cNvPr id="35" name="Straight Arrow Connector 39">
            <a:extLst>
              <a:ext uri="{FF2B5EF4-FFF2-40B4-BE49-F238E27FC236}">
                <a16:creationId xmlns:a16="http://schemas.microsoft.com/office/drawing/2014/main" id="{BBD61FCE-802D-4CD7-AF4A-01FCB35E42D3}"/>
              </a:ext>
            </a:extLst>
          </p:cNvPr>
          <p:cNvCxnSpPr/>
          <p:nvPr/>
        </p:nvCxnSpPr>
        <p:spPr>
          <a:xfrm flipH="1" flipV="1">
            <a:off x="3724136" y="5756176"/>
            <a:ext cx="1812" cy="1451547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cxnSp>
        <p:nvCxnSpPr>
          <p:cNvPr id="37" name="Straight Arrow Connector 49">
            <a:extLst>
              <a:ext uri="{FF2B5EF4-FFF2-40B4-BE49-F238E27FC236}">
                <a16:creationId xmlns:a16="http://schemas.microsoft.com/office/drawing/2014/main" id="{4F9F1813-D5F9-495E-AFD9-44A685EA6E7B}"/>
              </a:ext>
            </a:extLst>
          </p:cNvPr>
          <p:cNvCxnSpPr/>
          <p:nvPr/>
        </p:nvCxnSpPr>
        <p:spPr>
          <a:xfrm flipV="1">
            <a:off x="6594940" y="4984428"/>
            <a:ext cx="1" cy="1462301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43" name="Rectangular Callout 56">
            <a:extLst>
              <a:ext uri="{FF2B5EF4-FFF2-40B4-BE49-F238E27FC236}">
                <a16:creationId xmlns:a16="http://schemas.microsoft.com/office/drawing/2014/main" id="{8E620263-13E0-4FE1-A22E-A347D9873D75}"/>
              </a:ext>
            </a:extLst>
          </p:cNvPr>
          <p:cNvSpPr/>
          <p:nvPr/>
        </p:nvSpPr>
        <p:spPr bwMode="auto">
          <a:xfrm>
            <a:off x="8780538" y="3317776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5D73B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L’intercommunalité</a:t>
            </a:r>
          </a:p>
        </p:txBody>
      </p:sp>
      <p:cxnSp>
        <p:nvCxnSpPr>
          <p:cNvPr id="39" name="Straight Arrow Connector 64">
            <a:extLst>
              <a:ext uri="{FF2B5EF4-FFF2-40B4-BE49-F238E27FC236}">
                <a16:creationId xmlns:a16="http://schemas.microsoft.com/office/drawing/2014/main" id="{4B3E3E19-1703-40CA-8CDD-C45FC42636A4}"/>
              </a:ext>
            </a:extLst>
          </p:cNvPr>
          <p:cNvCxnSpPr/>
          <p:nvPr/>
        </p:nvCxnSpPr>
        <p:spPr>
          <a:xfrm flipH="1" flipV="1">
            <a:off x="9463933" y="4189202"/>
            <a:ext cx="1812" cy="1485779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50" name="Rectangular Callout 56">
            <a:extLst>
              <a:ext uri="{FF2B5EF4-FFF2-40B4-BE49-F238E27FC236}">
                <a16:creationId xmlns:a16="http://schemas.microsoft.com/office/drawing/2014/main" id="{86770717-A303-43EC-B271-BC0663E64F8B}"/>
              </a:ext>
            </a:extLst>
          </p:cNvPr>
          <p:cNvSpPr/>
          <p:nvPr/>
        </p:nvSpPr>
        <p:spPr bwMode="auto">
          <a:xfrm>
            <a:off x="5875839" y="4079776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00A8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La collectivité</a:t>
            </a:r>
          </a:p>
        </p:txBody>
      </p:sp>
      <p:sp>
        <p:nvSpPr>
          <p:cNvPr id="53" name="Rectangular Callout 56">
            <a:extLst>
              <a:ext uri="{FF2B5EF4-FFF2-40B4-BE49-F238E27FC236}">
                <a16:creationId xmlns:a16="http://schemas.microsoft.com/office/drawing/2014/main" id="{1CB03679-03F5-47F9-B633-1F5E42BB38F4}"/>
              </a:ext>
            </a:extLst>
          </p:cNvPr>
          <p:cNvSpPr/>
          <p:nvPr/>
        </p:nvSpPr>
        <p:spPr bwMode="auto">
          <a:xfrm>
            <a:off x="3087440" y="4841776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FFDF6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La DSI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69F2598B-4305-4BFE-BADC-0D6C71D3FE2F}"/>
              </a:ext>
            </a:extLst>
          </p:cNvPr>
          <p:cNvSpPr txBox="1"/>
          <p:nvPr/>
        </p:nvSpPr>
        <p:spPr>
          <a:xfrm>
            <a:off x="3208150" y="7146167"/>
            <a:ext cx="2509890" cy="1015663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Conception, gestion des équipements numériques, etc.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AD4A248-EC74-4821-8896-9BF0E53E48DE}"/>
              </a:ext>
            </a:extLst>
          </p:cNvPr>
          <p:cNvSpPr txBox="1"/>
          <p:nvPr/>
        </p:nvSpPr>
        <p:spPr>
          <a:xfrm>
            <a:off x="5781536" y="6297521"/>
            <a:ext cx="2928012" cy="1938992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Numérique abordé comme un levier de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décarbonation 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et de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sobriété 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pour le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fonctionnement de la collectivité</a:t>
            </a:r>
          </a:p>
        </p:txBody>
      </p:sp>
      <p:sp>
        <p:nvSpPr>
          <p:cNvPr id="30" name="ZoneTexte 1">
            <a:extLst>
              <a:ext uri="{FF2B5EF4-FFF2-40B4-BE49-F238E27FC236}">
                <a16:creationId xmlns:a16="http://schemas.microsoft.com/office/drawing/2014/main" id="{C9345696-9E96-47E5-BDD5-8154C082482B}"/>
              </a:ext>
            </a:extLst>
          </p:cNvPr>
          <p:cNvSpPr txBox="1"/>
          <p:nvPr/>
        </p:nvSpPr>
        <p:spPr>
          <a:xfrm>
            <a:off x="355600" y="3995936"/>
            <a:ext cx="2659832" cy="1333128"/>
          </a:xfrm>
          <a:prstGeom prst="rightArrowCallout">
            <a:avLst>
              <a:gd name="adj1" fmla="val 26739"/>
              <a:gd name="adj2" fmla="val 29046"/>
              <a:gd name="adj3" fmla="val 31277"/>
              <a:gd name="adj4" fmla="val 76734"/>
            </a:avLst>
          </a:prstGeom>
          <a:solidFill>
            <a:srgbClr val="8064A2">
              <a:alpha val="26000"/>
            </a:srgbClr>
          </a:solidFill>
          <a:ln>
            <a:solidFill>
              <a:schemeClr val="tx2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sng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+mn-cs"/>
              </a:rPr>
              <a:t>En matière d’ambition </a:t>
            </a:r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5F95C34E-2FCC-434C-B6E4-1DBE26C41772}"/>
              </a:ext>
            </a:extLst>
          </p:cNvPr>
          <p:cNvSpPr/>
          <p:nvPr/>
        </p:nvSpPr>
        <p:spPr>
          <a:xfrm>
            <a:off x="11816274" y="4460776"/>
            <a:ext cx="3176705" cy="3701053"/>
          </a:xfrm>
          <a:prstGeom prst="cube">
            <a:avLst>
              <a:gd name="adj" fmla="val 4408"/>
            </a:avLst>
          </a:prstGeom>
          <a:solidFill>
            <a:srgbClr val="2740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41" name="Rectangular Callout 56">
            <a:extLst>
              <a:ext uri="{FF2B5EF4-FFF2-40B4-BE49-F238E27FC236}">
                <a16:creationId xmlns:a16="http://schemas.microsoft.com/office/drawing/2014/main" id="{FC0FF6AF-F927-4506-B6F2-3FFA52D3CFBD}"/>
              </a:ext>
            </a:extLst>
          </p:cNvPr>
          <p:cNvSpPr/>
          <p:nvPr/>
        </p:nvSpPr>
        <p:spPr bwMode="auto">
          <a:xfrm>
            <a:off x="11857848" y="2555776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2740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Le territoire </a:t>
            </a:r>
          </a:p>
        </p:txBody>
      </p:sp>
      <p:cxnSp>
        <p:nvCxnSpPr>
          <p:cNvPr id="42" name="Straight Arrow Connector 64">
            <a:extLst>
              <a:ext uri="{FF2B5EF4-FFF2-40B4-BE49-F238E27FC236}">
                <a16:creationId xmlns:a16="http://schemas.microsoft.com/office/drawing/2014/main" id="{C4B63E0A-675B-4F93-8087-157153886684}"/>
              </a:ext>
            </a:extLst>
          </p:cNvPr>
          <p:cNvCxnSpPr/>
          <p:nvPr/>
        </p:nvCxnSpPr>
        <p:spPr>
          <a:xfrm flipH="1" flipV="1">
            <a:off x="12334736" y="3393976"/>
            <a:ext cx="1812" cy="1485779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45" name="ZoneTexte 56">
            <a:extLst>
              <a:ext uri="{FF2B5EF4-FFF2-40B4-BE49-F238E27FC236}">
                <a16:creationId xmlns:a16="http://schemas.microsoft.com/office/drawing/2014/main" id="{2463DD64-04AD-4A63-9B93-439FBF872D92}"/>
              </a:ext>
            </a:extLst>
          </p:cNvPr>
          <p:cNvSpPr txBox="1"/>
          <p:nvPr/>
        </p:nvSpPr>
        <p:spPr>
          <a:xfrm>
            <a:off x="11891711" y="4849721"/>
            <a:ext cx="2919067" cy="2862792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Numérique abordé comme un outil au service de la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transition écologique du territoire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 sur le périmètre de compétences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de la collectivité ou de l’intercommunalité</a:t>
            </a:r>
          </a:p>
        </p:txBody>
      </p:sp>
      <p:sp>
        <p:nvSpPr>
          <p:cNvPr id="47" name="ZoneTexte 55">
            <a:extLst>
              <a:ext uri="{FF2B5EF4-FFF2-40B4-BE49-F238E27FC236}">
                <a16:creationId xmlns:a16="http://schemas.microsoft.com/office/drawing/2014/main" id="{A2662690-EA7F-4B1C-A756-AC0B79488F28}"/>
              </a:ext>
            </a:extLst>
          </p:cNvPr>
          <p:cNvSpPr txBox="1"/>
          <p:nvPr/>
        </p:nvSpPr>
        <p:spPr>
          <a:xfrm>
            <a:off x="8829536" y="5719874"/>
            <a:ext cx="2928012" cy="1938992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Numérique abordé comme un levier de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décarbonation 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et de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sobriété 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pour le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fonctionnement de l’intercommunalité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7DEA26-F5D7-443D-8593-B81F98FA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15553"/>
          </a:xfrm>
        </p:spPr>
        <p:txBody>
          <a:bodyPr/>
          <a:lstStyle/>
          <a:p>
            <a:pPr rtl="0"/>
            <a:r>
              <a:rPr kumimoji="0" lang="fr-FR" sz="4000" b="1" i="0" u="none" strike="noStrike" kern="0" cap="none" spc="-75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ea typeface="Marianne ExtraBold" charset="0"/>
                <a:cs typeface="Marianne" panose="020B0604020202020204" charset="0"/>
              </a:rPr>
              <a:t>Périmètre de la démarche</a:t>
            </a:r>
            <a:endParaRPr lang="fr-FR" sz="4000">
              <a:cs typeface="Marianne" panose="020B0604020202020204" charset="0"/>
            </a:endParaRPr>
          </a:p>
        </p:txBody>
      </p:sp>
      <p:sp>
        <p:nvSpPr>
          <p:cNvPr id="28" name="Flowchart: Alternate Process 27">
            <a:extLst>
              <a:ext uri="{FF2B5EF4-FFF2-40B4-BE49-F238E27FC236}">
                <a16:creationId xmlns:a16="http://schemas.microsoft.com/office/drawing/2014/main" id="{5E056C0C-54EA-497A-ABB7-63961510AFCB}"/>
              </a:ext>
            </a:extLst>
          </p:cNvPr>
          <p:cNvSpPr/>
          <p:nvPr/>
        </p:nvSpPr>
        <p:spPr>
          <a:xfrm>
            <a:off x="1313681" y="1327162"/>
            <a:ext cx="13537504" cy="961862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Il est important de 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déterminer dès le début de la démarche le périmètre à adresser sur le sujet du numérique responsable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. </a:t>
            </a:r>
            <a:b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</a:b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La DSI et les services de la collectivité constituent généralement le périmètre minimal à adresser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. En fonction de 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l’ambition </a:t>
            </a:r>
            <a:r>
              <a:rPr lang="fr-FR" sz="1600" b="1">
                <a:solidFill>
                  <a:srgbClr val="274084"/>
                </a:solidFill>
                <a:latin typeface="Marianne" panose="020B0604020202020204" charset="0"/>
              </a:rPr>
              <a:t>que notre collectivité souhaite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 porter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,  l’</a:t>
            </a:r>
            <a:r>
              <a:rPr lang="fr-FR" sz="1600">
                <a:solidFill>
                  <a:srgbClr val="274084"/>
                </a:solidFill>
                <a:latin typeface="Marianne" panose="020B0604020202020204" charset="0"/>
              </a:rPr>
              <a:t>engagement peut se faire 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sur un périmètre plus large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, à savoir 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l’intercommunalité ou/et le territoire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6FE290-AEF9-4EFD-8EC0-184E86728C1C}"/>
              </a:ext>
            </a:extLst>
          </p:cNvPr>
          <p:cNvSpPr txBox="1">
            <a:spLocks/>
          </p:cNvSpPr>
          <p:nvPr/>
        </p:nvSpPr>
        <p:spPr>
          <a:xfrm>
            <a:off x="7119888" y="8382157"/>
            <a:ext cx="6408712" cy="65398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i="1">
                <a:latin typeface="Marianne" panose="020B0604020202020204"/>
              </a:rPr>
              <a:t>Le choix du périmètre est à effectuer en séance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i="1">
                <a:highlight>
                  <a:srgbClr val="C0C0C0"/>
                </a:highlight>
                <a:latin typeface="Marianne" panose="020B0604020202020204"/>
              </a:rPr>
              <a:t>Griser </a:t>
            </a:r>
            <a:r>
              <a:rPr lang="fr-FR" b="1" i="1">
                <a:latin typeface="Marianne" panose="020B0604020202020204"/>
              </a:rPr>
              <a:t>les blocs qui ne sont pas dans le périmètre</a:t>
            </a:r>
          </a:p>
          <a:p>
            <a:pPr algn="ctr"/>
            <a:endParaRPr lang="fr-FR" b="1" i="1">
              <a:latin typeface="Marianne" panose="020B060402020202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9C7D25-86B0-44D7-8D04-A010345D27AF}"/>
              </a:ext>
            </a:extLst>
          </p:cNvPr>
          <p:cNvSpPr txBox="1">
            <a:spLocks/>
          </p:cNvSpPr>
          <p:nvPr/>
        </p:nvSpPr>
        <p:spPr>
          <a:xfrm>
            <a:off x="4095552" y="8316416"/>
            <a:ext cx="2304256" cy="363717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r>
              <a:rPr lang="fr-FR" sz="2000" b="1" i="1">
                <a:solidFill>
                  <a:srgbClr val="2C3176"/>
                </a:solidFill>
                <a:latin typeface="Marianne" panose="020B0604020202020204"/>
              </a:rPr>
              <a:t>Hors périmètre</a:t>
            </a:r>
          </a:p>
          <a:p>
            <a:endParaRPr lang="fr-FR" sz="2000" b="1" i="1">
              <a:solidFill>
                <a:srgbClr val="2C3176"/>
              </a:solidFill>
              <a:latin typeface="Marianne" panose="020B0604020202020204"/>
            </a:endParaRPr>
          </a:p>
          <a:p>
            <a:endParaRPr lang="fr-FR" sz="2000" b="1" i="1">
              <a:solidFill>
                <a:srgbClr val="2C3176"/>
              </a:solidFill>
              <a:latin typeface="Marianne" panose="020B0604020202020204"/>
            </a:endParaRPr>
          </a:p>
        </p:txBody>
      </p:sp>
      <p:sp>
        <p:nvSpPr>
          <p:cNvPr id="67" name="ZoneTexte 1">
            <a:extLst>
              <a:ext uri="{FF2B5EF4-FFF2-40B4-BE49-F238E27FC236}">
                <a16:creationId xmlns:a16="http://schemas.microsoft.com/office/drawing/2014/main" id="{A23E5B6C-4890-4A40-85F4-0017AE595CAB}"/>
              </a:ext>
            </a:extLst>
          </p:cNvPr>
          <p:cNvSpPr txBox="1"/>
          <p:nvPr/>
        </p:nvSpPr>
        <p:spPr>
          <a:xfrm>
            <a:off x="3134273" y="8630749"/>
            <a:ext cx="961279" cy="38903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>
            <a:defPPr>
              <a:defRPr lang="fr-FR"/>
            </a:defPPr>
            <a:lvl1pPr marR="0" lvl="0" indent="0" algn="ctr" defTabSz="182843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198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allow focus photography of road with forward arrow illustration">
            <a:extLst>
              <a:ext uri="{FF2B5EF4-FFF2-40B4-BE49-F238E27FC236}">
                <a16:creationId xmlns:a16="http://schemas.microsoft.com/office/drawing/2014/main" id="{87D1C370-94B3-4D08-818C-51F4AE7D18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1"/>
          <a:stretch/>
        </p:blipFill>
        <p:spPr bwMode="auto">
          <a:xfrm>
            <a:off x="9229418" y="742894"/>
            <a:ext cx="5855934" cy="756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object 11"/>
          <p:cNvGrpSpPr/>
          <p:nvPr/>
        </p:nvGrpSpPr>
        <p:grpSpPr>
          <a:xfrm>
            <a:off x="2672695" y="2403126"/>
            <a:ext cx="6182424" cy="4069715"/>
            <a:chOff x="2535821" y="2403126"/>
            <a:chExt cx="6319298" cy="4069715"/>
          </a:xfrm>
        </p:grpSpPr>
        <p:sp>
          <p:nvSpPr>
            <p:cNvPr id="12" name="object 12"/>
            <p:cNvSpPr/>
            <p:nvPr/>
          </p:nvSpPr>
          <p:spPr>
            <a:xfrm>
              <a:off x="4140942" y="2403126"/>
              <a:ext cx="2703830" cy="4069715"/>
            </a:xfrm>
            <a:custGeom>
              <a:avLst/>
              <a:gdLst/>
              <a:ahLst/>
              <a:cxnLst/>
              <a:rect l="l" t="t" r="r" b="b"/>
              <a:pathLst>
                <a:path w="2703829" h="4069715">
                  <a:moveTo>
                    <a:pt x="1179334" y="0"/>
                  </a:moveTo>
                  <a:lnTo>
                    <a:pt x="0" y="1179372"/>
                  </a:lnTo>
                  <a:lnTo>
                    <a:pt x="846429" y="2025776"/>
                  </a:lnTo>
                  <a:lnTo>
                    <a:pt x="89509" y="2887649"/>
                  </a:lnTo>
                  <a:lnTo>
                    <a:pt x="1271308" y="4069448"/>
                  </a:lnTo>
                  <a:lnTo>
                    <a:pt x="2417838" y="2763862"/>
                  </a:lnTo>
                  <a:lnTo>
                    <a:pt x="2449341" y="2726436"/>
                  </a:lnTo>
                  <a:lnTo>
                    <a:pt x="2478995" y="2688029"/>
                  </a:lnTo>
                  <a:lnTo>
                    <a:pt x="2506802" y="2648701"/>
                  </a:lnTo>
                  <a:lnTo>
                    <a:pt x="2532764" y="2608512"/>
                  </a:lnTo>
                  <a:lnTo>
                    <a:pt x="2556882" y="2567521"/>
                  </a:lnTo>
                  <a:lnTo>
                    <a:pt x="2579159" y="2525788"/>
                  </a:lnTo>
                  <a:lnTo>
                    <a:pt x="2599597" y="2483370"/>
                  </a:lnTo>
                  <a:lnTo>
                    <a:pt x="2618197" y="2440329"/>
                  </a:lnTo>
                  <a:lnTo>
                    <a:pt x="2634961" y="2396724"/>
                  </a:lnTo>
                  <a:lnTo>
                    <a:pt x="2649891" y="2352613"/>
                  </a:lnTo>
                  <a:lnTo>
                    <a:pt x="2662990" y="2308056"/>
                  </a:lnTo>
                  <a:lnTo>
                    <a:pt x="2674259" y="2263112"/>
                  </a:lnTo>
                  <a:lnTo>
                    <a:pt x="2683699" y="2217841"/>
                  </a:lnTo>
                  <a:lnTo>
                    <a:pt x="2691314" y="2172303"/>
                  </a:lnTo>
                  <a:lnTo>
                    <a:pt x="2697104" y="2126555"/>
                  </a:lnTo>
                  <a:lnTo>
                    <a:pt x="2701072" y="2080659"/>
                  </a:lnTo>
                  <a:lnTo>
                    <a:pt x="2703220" y="2034673"/>
                  </a:lnTo>
                  <a:lnTo>
                    <a:pt x="2703549" y="1988656"/>
                  </a:lnTo>
                  <a:lnTo>
                    <a:pt x="2702062" y="1942668"/>
                  </a:lnTo>
                  <a:lnTo>
                    <a:pt x="2698760" y="1896769"/>
                  </a:lnTo>
                  <a:lnTo>
                    <a:pt x="2693645" y="1851016"/>
                  </a:lnTo>
                  <a:lnTo>
                    <a:pt x="2686720" y="1805471"/>
                  </a:lnTo>
                  <a:lnTo>
                    <a:pt x="2677985" y="1760193"/>
                  </a:lnTo>
                  <a:lnTo>
                    <a:pt x="2667444" y="1715239"/>
                  </a:lnTo>
                  <a:lnTo>
                    <a:pt x="2655097" y="1670671"/>
                  </a:lnTo>
                  <a:lnTo>
                    <a:pt x="2640947" y="1626548"/>
                  </a:lnTo>
                  <a:lnTo>
                    <a:pt x="2624996" y="1582927"/>
                  </a:lnTo>
                  <a:lnTo>
                    <a:pt x="2607246" y="1539870"/>
                  </a:lnTo>
                  <a:lnTo>
                    <a:pt x="2587698" y="1497436"/>
                  </a:lnTo>
                  <a:lnTo>
                    <a:pt x="2566354" y="1455683"/>
                  </a:lnTo>
                  <a:lnTo>
                    <a:pt x="2543217" y="1414671"/>
                  </a:lnTo>
                  <a:lnTo>
                    <a:pt x="2518288" y="1374460"/>
                  </a:lnTo>
                  <a:lnTo>
                    <a:pt x="2491570" y="1335108"/>
                  </a:lnTo>
                  <a:lnTo>
                    <a:pt x="2463063" y="1296676"/>
                  </a:lnTo>
                  <a:lnTo>
                    <a:pt x="2432770" y="1259222"/>
                  </a:lnTo>
                  <a:lnTo>
                    <a:pt x="2400694" y="1222806"/>
                  </a:lnTo>
                  <a:lnTo>
                    <a:pt x="2366835" y="1187488"/>
                  </a:lnTo>
                  <a:lnTo>
                    <a:pt x="1179334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821" y="4011942"/>
              <a:ext cx="6319298" cy="852169"/>
            </a:xfrm>
            <a:custGeom>
              <a:avLst/>
              <a:gdLst/>
              <a:ahLst/>
              <a:cxnLst/>
              <a:rect l="l" t="t" r="r" b="b"/>
              <a:pathLst>
                <a:path w="5914390" h="852170">
                  <a:moveTo>
                    <a:pt x="5913882" y="0"/>
                  </a:moveTo>
                  <a:lnTo>
                    <a:pt x="0" y="0"/>
                  </a:lnTo>
                  <a:lnTo>
                    <a:pt x="0" y="851827"/>
                  </a:lnTo>
                  <a:lnTo>
                    <a:pt x="5913882" y="851827"/>
                  </a:lnTo>
                  <a:lnTo>
                    <a:pt x="5913882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68199" y="3995936"/>
            <a:ext cx="6093159" cy="6499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Déroulé et activités de la démarche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6779035"/>
            <a:ext cx="1277112" cy="167640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4710316" y="609837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69" h="729615">
                <a:moveTo>
                  <a:pt x="435330" y="0"/>
                </a:moveTo>
                <a:lnTo>
                  <a:pt x="0" y="0"/>
                </a:lnTo>
                <a:lnTo>
                  <a:pt x="0" y="432346"/>
                </a:lnTo>
                <a:lnTo>
                  <a:pt x="310299" y="432346"/>
                </a:lnTo>
                <a:lnTo>
                  <a:pt x="329539" y="729068"/>
                </a:lnTo>
                <a:lnTo>
                  <a:pt x="762787" y="729068"/>
                </a:lnTo>
                <a:lnTo>
                  <a:pt x="733640" y="279615"/>
                </a:lnTo>
                <a:lnTo>
                  <a:pt x="727061" y="233685"/>
                </a:lnTo>
                <a:lnTo>
                  <a:pt x="713799" y="190326"/>
                </a:lnTo>
                <a:lnTo>
                  <a:pt x="694421" y="150072"/>
                </a:lnTo>
                <a:lnTo>
                  <a:pt x="669498" y="113456"/>
                </a:lnTo>
                <a:lnTo>
                  <a:pt x="639597" y="81010"/>
                </a:lnTo>
                <a:lnTo>
                  <a:pt x="605287" y="53268"/>
                </a:lnTo>
                <a:lnTo>
                  <a:pt x="567137" y="30762"/>
                </a:lnTo>
                <a:lnTo>
                  <a:pt x="525715" y="14027"/>
                </a:lnTo>
                <a:lnTo>
                  <a:pt x="481590" y="3595"/>
                </a:lnTo>
                <a:lnTo>
                  <a:pt x="43533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015671" y="7816955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70" h="729615">
                <a:moveTo>
                  <a:pt x="433247" y="0"/>
                </a:moveTo>
                <a:lnTo>
                  <a:pt x="0" y="0"/>
                </a:lnTo>
                <a:lnTo>
                  <a:pt x="29159" y="449453"/>
                </a:lnTo>
                <a:lnTo>
                  <a:pt x="35738" y="495383"/>
                </a:lnTo>
                <a:lnTo>
                  <a:pt x="49000" y="538742"/>
                </a:lnTo>
                <a:lnTo>
                  <a:pt x="68377" y="578996"/>
                </a:lnTo>
                <a:lnTo>
                  <a:pt x="93300" y="615612"/>
                </a:lnTo>
                <a:lnTo>
                  <a:pt x="123201" y="648058"/>
                </a:lnTo>
                <a:lnTo>
                  <a:pt x="157509" y="675800"/>
                </a:lnTo>
                <a:lnTo>
                  <a:pt x="195658" y="698305"/>
                </a:lnTo>
                <a:lnTo>
                  <a:pt x="237078" y="715041"/>
                </a:lnTo>
                <a:lnTo>
                  <a:pt x="281200" y="725473"/>
                </a:lnTo>
                <a:lnTo>
                  <a:pt x="327456" y="729068"/>
                </a:lnTo>
                <a:lnTo>
                  <a:pt x="762812" y="729068"/>
                </a:lnTo>
                <a:lnTo>
                  <a:pt x="762812" y="296722"/>
                </a:lnTo>
                <a:lnTo>
                  <a:pt x="452488" y="296722"/>
                </a:lnTo>
                <a:lnTo>
                  <a:pt x="43324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E37E82D1-EFE2-49F0-9765-0FD2A5819243}"/>
              </a:ext>
            </a:extLst>
          </p:cNvPr>
          <p:cNvSpPr txBox="1">
            <a:spLocks/>
          </p:cNvSpPr>
          <p:nvPr/>
        </p:nvSpPr>
        <p:spPr>
          <a:xfrm>
            <a:off x="1041400" y="3110287"/>
            <a:ext cx="1826799" cy="2138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14"/>
              </a:spcBef>
            </a:pPr>
            <a:r>
              <a:rPr lang="fr-FR" sz="13800" kern="0" spc="310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5.</a:t>
            </a:r>
            <a:endParaRPr lang="fr-FR" sz="13800" kern="0" dirty="0"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26" name="Picture 25" descr="Shape&#10;&#10;Description automatically generated with low confidence">
            <a:extLst>
              <a:ext uri="{FF2B5EF4-FFF2-40B4-BE49-F238E27FC236}">
                <a16:creationId xmlns:a16="http://schemas.microsoft.com/office/drawing/2014/main" id="{56FDA6AE-D1CE-46B0-9779-1BBAA61D4A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486" y="7938841"/>
            <a:ext cx="313889" cy="313889"/>
          </a:xfrm>
          <a:prstGeom prst="rect">
            <a:avLst/>
          </a:prstGeom>
        </p:spPr>
      </p:pic>
      <p:sp>
        <p:nvSpPr>
          <p:cNvPr id="27" name="object 9">
            <a:extLst>
              <a:ext uri="{FF2B5EF4-FFF2-40B4-BE49-F238E27FC236}">
                <a16:creationId xmlns:a16="http://schemas.microsoft.com/office/drawing/2014/main" id="{3F69FF88-8B24-4068-B38B-02550A822709}"/>
              </a:ext>
            </a:extLst>
          </p:cNvPr>
          <p:cNvSpPr txBox="1"/>
          <p:nvPr/>
        </p:nvSpPr>
        <p:spPr>
          <a:xfrm>
            <a:off x="4919216" y="7651306"/>
            <a:ext cx="1277112" cy="64806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20 mins</a:t>
            </a:r>
          </a:p>
        </p:txBody>
      </p:sp>
      <p:pic>
        <p:nvPicPr>
          <p:cNvPr id="28" name="Image 18">
            <a:extLst>
              <a:ext uri="{FF2B5EF4-FFF2-40B4-BE49-F238E27FC236}">
                <a16:creationId xmlns:a16="http://schemas.microsoft.com/office/drawing/2014/main" id="{83C36922-B30D-43DC-B03D-694AEE2127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2905989" y="8108485"/>
            <a:ext cx="1935480" cy="247212"/>
          </a:xfrm>
          <a:prstGeom prst="rect">
            <a:avLst/>
          </a:prstGeom>
        </p:spPr>
      </p:pic>
      <p:pic>
        <p:nvPicPr>
          <p:cNvPr id="29" name="Image 18">
            <a:extLst>
              <a:ext uri="{FF2B5EF4-FFF2-40B4-BE49-F238E27FC236}">
                <a16:creationId xmlns:a16="http://schemas.microsoft.com/office/drawing/2014/main" id="{04B2C9E3-AFC6-41FE-A72D-C7B1CE6852B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6111713" y="8108485"/>
            <a:ext cx="1935480" cy="24721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9DEB5764-2144-49F0-8C26-E0E11A63E14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878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">
            <a:extLst>
              <a:ext uri="{FF2B5EF4-FFF2-40B4-BE49-F238E27FC236}">
                <a16:creationId xmlns:a16="http://schemas.microsoft.com/office/drawing/2014/main" id="{60A26E64-81F1-43B3-839A-0ACFD839F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123"/>
              </p:ext>
            </p:extLst>
          </p:nvPr>
        </p:nvGraphicFramePr>
        <p:xfrm>
          <a:off x="434876" y="2142773"/>
          <a:ext cx="14793852" cy="3892194"/>
        </p:xfrm>
        <a:graphic>
          <a:graphicData uri="http://schemas.openxmlformats.org/drawingml/2006/table">
            <a:tbl>
              <a:tblPr/>
              <a:tblGrid>
                <a:gridCol w="2465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642">
                  <a:extLst>
                    <a:ext uri="{9D8B030D-6E8A-4147-A177-3AD203B41FA5}">
                      <a16:colId xmlns:a16="http://schemas.microsoft.com/office/drawing/2014/main" val="3321849472"/>
                    </a:ext>
                  </a:extLst>
                </a:gridCol>
                <a:gridCol w="2465642">
                  <a:extLst>
                    <a:ext uri="{9D8B030D-6E8A-4147-A177-3AD203B41FA5}">
                      <a16:colId xmlns:a16="http://schemas.microsoft.com/office/drawing/2014/main" val="1849988725"/>
                    </a:ext>
                  </a:extLst>
                </a:gridCol>
                <a:gridCol w="2465642">
                  <a:extLst>
                    <a:ext uri="{9D8B030D-6E8A-4147-A177-3AD203B41FA5}">
                      <a16:colId xmlns:a16="http://schemas.microsoft.com/office/drawing/2014/main" val="1809668003"/>
                    </a:ext>
                  </a:extLst>
                </a:gridCol>
                <a:gridCol w="24656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564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32669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1</a:t>
                      </a:r>
                    </a:p>
                  </a:txBody>
                  <a:tcPr marL="9191" marR="9191" marT="8225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2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3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4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5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6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195189"/>
                  </a:ext>
                </a:extLst>
              </a:tr>
              <a:tr h="3259525">
                <a:tc>
                  <a:txBody>
                    <a:bodyPr/>
                    <a:lstStyle/>
                    <a:p>
                      <a:pPr algn="ctr"/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631536"/>
                  </a:ext>
                </a:extLst>
              </a:tr>
            </a:tbl>
          </a:graphicData>
        </a:graphic>
      </p:graphicFrame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22" name="Titre 5">
            <a:extLst>
              <a:ext uri="{FF2B5EF4-FFF2-40B4-BE49-F238E27FC236}">
                <a16:creationId xmlns:a16="http://schemas.microsoft.com/office/drawing/2014/main" id="{BC45A954-CF54-4969-BFC5-8FEB96815AAC}"/>
              </a:ext>
            </a:extLst>
          </p:cNvPr>
          <p:cNvSpPr txBox="1">
            <a:spLocks/>
          </p:cNvSpPr>
          <p:nvPr/>
        </p:nvSpPr>
        <p:spPr>
          <a:xfrm>
            <a:off x="1462143" y="3738423"/>
            <a:ext cx="10174949" cy="3600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600" b="0" i="0" u="none" strike="noStrike" kern="1200" cap="all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fr-FR">
              <a:solidFill>
                <a:srgbClr val="272936"/>
              </a:solidFill>
              <a:latin typeface="Ubuntu Medium"/>
            </a:endParaRPr>
          </a:p>
        </p:txBody>
      </p:sp>
      <p:sp>
        <p:nvSpPr>
          <p:cNvPr id="25" name="Étoile : 5 branches 121">
            <a:extLst>
              <a:ext uri="{FF2B5EF4-FFF2-40B4-BE49-F238E27FC236}">
                <a16:creationId xmlns:a16="http://schemas.microsoft.com/office/drawing/2014/main" id="{D7CB2880-DD04-415E-90EE-842F08D5FC70}"/>
              </a:ext>
            </a:extLst>
          </p:cNvPr>
          <p:cNvSpPr>
            <a:spLocks noChangeAspect="1"/>
          </p:cNvSpPr>
          <p:nvPr/>
        </p:nvSpPr>
        <p:spPr>
          <a:xfrm>
            <a:off x="1535158" y="6335155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Marianne"/>
              <a:ea typeface="Verdana" panose="020B0604030504040204" pitchFamily="34" charset="0"/>
            </a:endParaRPr>
          </a:p>
        </p:txBody>
      </p:sp>
      <p:sp>
        <p:nvSpPr>
          <p:cNvPr id="26" name="ZoneTexte 125">
            <a:extLst>
              <a:ext uri="{FF2B5EF4-FFF2-40B4-BE49-F238E27FC236}">
                <a16:creationId xmlns:a16="http://schemas.microsoft.com/office/drawing/2014/main" id="{A9C504A5-AB60-4BAF-907C-5D2FBAC885BE}"/>
              </a:ext>
            </a:extLst>
          </p:cNvPr>
          <p:cNvSpPr txBox="1"/>
          <p:nvPr/>
        </p:nvSpPr>
        <p:spPr>
          <a:xfrm>
            <a:off x="1754223" y="6286656"/>
            <a:ext cx="2425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rgbClr val="4D4F53"/>
                </a:solidFill>
                <a:latin typeface="Marianne"/>
                <a:ea typeface="Verdana" panose="020B0604030504040204" pitchFamily="34" charset="0"/>
              </a:rPr>
              <a:t>Point hebdomadaire de suivi</a:t>
            </a:r>
          </a:p>
        </p:txBody>
      </p:sp>
      <p:sp>
        <p:nvSpPr>
          <p:cNvPr id="30" name="Flèche : pentagone 107">
            <a:extLst>
              <a:ext uri="{FF2B5EF4-FFF2-40B4-BE49-F238E27FC236}">
                <a16:creationId xmlns:a16="http://schemas.microsoft.com/office/drawing/2014/main" id="{2407D569-2621-4C2C-BD5B-D6A8A727BAA6}"/>
              </a:ext>
            </a:extLst>
          </p:cNvPr>
          <p:cNvSpPr/>
          <p:nvPr/>
        </p:nvSpPr>
        <p:spPr>
          <a:xfrm>
            <a:off x="508193" y="3059832"/>
            <a:ext cx="6827720" cy="2088232"/>
          </a:xfrm>
          <a:prstGeom prst="homePlate">
            <a:avLst>
              <a:gd name="adj" fmla="val 14343"/>
            </a:avLst>
          </a:prstGeom>
          <a:solidFill>
            <a:srgbClr val="12ABDB"/>
          </a:solidFill>
          <a:ln w="19050">
            <a:noFill/>
          </a:ln>
        </p:spPr>
        <p:txBody>
          <a:bodyPr wrap="square" lIns="72000" tIns="72000" rIns="72000" bIns="36000" rtlCol="0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Verdana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Phase de diagnostic de maturité</a:t>
            </a:r>
            <a:endParaRPr kumimoji="0" lang="fr-FR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Verdana"/>
              <a:cs typeface="Calibri"/>
            </a:endParaRPr>
          </a:p>
        </p:txBody>
      </p:sp>
      <p:sp>
        <p:nvSpPr>
          <p:cNvPr id="53" name="Étoile : 5 branches 121">
            <a:extLst>
              <a:ext uri="{FF2B5EF4-FFF2-40B4-BE49-F238E27FC236}">
                <a16:creationId xmlns:a16="http://schemas.microsoft.com/office/drawing/2014/main" id="{55C2DE44-2425-4F51-AB40-3287377411E3}"/>
              </a:ext>
            </a:extLst>
          </p:cNvPr>
          <p:cNvSpPr>
            <a:spLocks noChangeAspect="1"/>
          </p:cNvSpPr>
          <p:nvPr/>
        </p:nvSpPr>
        <p:spPr>
          <a:xfrm>
            <a:off x="666946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69" name="object 14">
            <a:extLst>
              <a:ext uri="{FF2B5EF4-FFF2-40B4-BE49-F238E27FC236}">
                <a16:creationId xmlns:a16="http://schemas.microsoft.com/office/drawing/2014/main" id="{C2E7866D-A842-4BB7-8422-8D299D6EAD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 defTabSz="914377" rtl="0">
              <a:spcBef>
                <a:spcPts val="115"/>
              </a:spcBef>
            </a:pPr>
            <a:r>
              <a:rPr lang="fr-FR" sz="4000" kern="1200">
                <a:solidFill>
                  <a:srgbClr val="2C3176"/>
                </a:solidFill>
                <a:latin typeface="Marianne" panose="020B0604020202020204" charset="0"/>
              </a:rPr>
              <a:t>Planning prévisionnel type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0CE7CF-710C-4036-9A97-8C9639826E4C}"/>
              </a:ext>
            </a:extLst>
          </p:cNvPr>
          <p:cNvSpPr/>
          <p:nvPr/>
        </p:nvSpPr>
        <p:spPr>
          <a:xfrm>
            <a:off x="4675850" y="4977376"/>
            <a:ext cx="1551060" cy="4747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ZoneTexte 5">
            <a:extLst>
              <a:ext uri="{FF2B5EF4-FFF2-40B4-BE49-F238E27FC236}">
                <a16:creationId xmlns:a16="http://schemas.microsoft.com/office/drawing/2014/main" id="{689CBBC9-AAB4-40A4-A4EF-0443D9814634}"/>
              </a:ext>
            </a:extLst>
          </p:cNvPr>
          <p:cNvSpPr txBox="1"/>
          <p:nvPr/>
        </p:nvSpPr>
        <p:spPr>
          <a:xfrm>
            <a:off x="5778394" y="3107529"/>
            <a:ext cx="121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Ubuntu"/>
              </a:rPr>
              <a:t>Zoom pages suivantes</a:t>
            </a:r>
          </a:p>
        </p:txBody>
      </p:sp>
      <p:sp>
        <p:nvSpPr>
          <p:cNvPr id="81" name="object 32">
            <a:extLst>
              <a:ext uri="{FF2B5EF4-FFF2-40B4-BE49-F238E27FC236}">
                <a16:creationId xmlns:a16="http://schemas.microsoft.com/office/drawing/2014/main" id="{45421A3E-0BC2-4D79-B136-4519F805B176}"/>
              </a:ext>
            </a:extLst>
          </p:cNvPr>
          <p:cNvSpPr/>
          <p:nvPr/>
        </p:nvSpPr>
        <p:spPr>
          <a:xfrm>
            <a:off x="2098033" y="1839830"/>
            <a:ext cx="205679" cy="186690"/>
          </a:xfrm>
          <a:custGeom>
            <a:avLst/>
            <a:gdLst/>
            <a:ahLst/>
            <a:cxnLst/>
            <a:rect l="l" t="t" r="r" b="b"/>
            <a:pathLst>
              <a:path w="281940" h="248919">
                <a:moveTo>
                  <a:pt x="281940" y="0"/>
                </a:moveTo>
                <a:lnTo>
                  <a:pt x="140969" y="248412"/>
                </a:lnTo>
                <a:lnTo>
                  <a:pt x="0" y="0"/>
                </a:lnTo>
                <a:lnTo>
                  <a:pt x="281940" y="0"/>
                </a:lnTo>
                <a:close/>
              </a:path>
            </a:pathLst>
          </a:custGeom>
          <a:solidFill>
            <a:srgbClr val="92D050"/>
          </a:solidFill>
          <a:ln w="12191">
            <a:solidFill>
              <a:srgbClr val="2A0A3D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Ubuntu"/>
            </a:endParaRPr>
          </a:p>
        </p:txBody>
      </p:sp>
      <p:sp>
        <p:nvSpPr>
          <p:cNvPr id="82" name="ZoneTexte 3">
            <a:extLst>
              <a:ext uri="{FF2B5EF4-FFF2-40B4-BE49-F238E27FC236}">
                <a16:creationId xmlns:a16="http://schemas.microsoft.com/office/drawing/2014/main" id="{0413053E-1D6F-4D3D-BFE0-9468080AA242}"/>
              </a:ext>
            </a:extLst>
          </p:cNvPr>
          <p:cNvSpPr txBox="1"/>
          <p:nvPr/>
        </p:nvSpPr>
        <p:spPr>
          <a:xfrm>
            <a:off x="1211326" y="1375432"/>
            <a:ext cx="2096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fr-FR" sz="1600" b="1">
                <a:solidFill>
                  <a:schemeClr val="accent3"/>
                </a:solidFill>
                <a:latin typeface="Ubuntu"/>
              </a:rPr>
              <a:t>Nous sommes ici !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0F83C-BBB5-41F4-9B06-5F026D39A06D}"/>
              </a:ext>
            </a:extLst>
          </p:cNvPr>
          <p:cNvSpPr txBox="1">
            <a:spLocks/>
          </p:cNvSpPr>
          <p:nvPr/>
        </p:nvSpPr>
        <p:spPr>
          <a:xfrm>
            <a:off x="3308074" y="7308304"/>
            <a:ext cx="10004501" cy="99042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b="1" i="1">
                <a:latin typeface="Marianne" panose="020B0604020202020204"/>
              </a:rPr>
              <a:t>La durée indiquée ci-dessus est une recommandation, il est possible d’effectuer la démarche plus rapidement si la collectivité le souhaite  </a:t>
            </a:r>
          </a:p>
          <a:p>
            <a:pPr algn="ctr"/>
            <a:endParaRPr lang="fr-FR" b="1" i="1">
              <a:latin typeface="Marianne" panose="020B0604020202020204"/>
            </a:endParaRPr>
          </a:p>
        </p:txBody>
      </p:sp>
      <p:sp>
        <p:nvSpPr>
          <p:cNvPr id="41" name="Flèche : pentagone 107">
            <a:extLst>
              <a:ext uri="{FF2B5EF4-FFF2-40B4-BE49-F238E27FC236}">
                <a16:creationId xmlns:a16="http://schemas.microsoft.com/office/drawing/2014/main" id="{CD5A3AEA-F28F-41E0-BBE5-B2D4493431EE}"/>
              </a:ext>
            </a:extLst>
          </p:cNvPr>
          <p:cNvSpPr/>
          <p:nvPr/>
        </p:nvSpPr>
        <p:spPr>
          <a:xfrm>
            <a:off x="7907814" y="3059832"/>
            <a:ext cx="7320914" cy="2088232"/>
          </a:xfrm>
          <a:prstGeom prst="homePlate">
            <a:avLst>
              <a:gd name="adj" fmla="val 14343"/>
            </a:avLst>
          </a:prstGeom>
          <a:solidFill>
            <a:srgbClr val="12ABDB"/>
          </a:solidFill>
          <a:ln w="19050">
            <a:noFill/>
          </a:ln>
        </p:spPr>
        <p:txBody>
          <a:bodyPr wrap="square" lIns="72000" tIns="72000" rIns="72000" bIns="36000" rtlCol="0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Verdana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/>
                <a:ea typeface="Verdana"/>
                <a:cs typeface="Calibri"/>
              </a:rPr>
              <a:t>Phase d’élaboration de la feuille de route numérique responsable</a:t>
            </a:r>
            <a:endParaRPr kumimoji="0" lang="fr-FR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Verdana"/>
              <a:cs typeface="Calibri"/>
            </a:endParaRPr>
          </a:p>
        </p:txBody>
      </p:sp>
      <p:sp>
        <p:nvSpPr>
          <p:cNvPr id="55" name="Étoile : 5 branches 121">
            <a:extLst>
              <a:ext uri="{FF2B5EF4-FFF2-40B4-BE49-F238E27FC236}">
                <a16:creationId xmlns:a16="http://schemas.microsoft.com/office/drawing/2014/main" id="{7BEA06AD-6F70-4AD8-A164-F8EB83A434E0}"/>
              </a:ext>
            </a:extLst>
          </p:cNvPr>
          <p:cNvSpPr>
            <a:spLocks noChangeAspect="1"/>
          </p:cNvSpPr>
          <p:nvPr/>
        </p:nvSpPr>
        <p:spPr>
          <a:xfrm>
            <a:off x="1233751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56" name="Étoile : 5 branches 121">
            <a:extLst>
              <a:ext uri="{FF2B5EF4-FFF2-40B4-BE49-F238E27FC236}">
                <a16:creationId xmlns:a16="http://schemas.microsoft.com/office/drawing/2014/main" id="{62DFCBB5-4C2E-4018-82C0-02218300F6FE}"/>
              </a:ext>
            </a:extLst>
          </p:cNvPr>
          <p:cNvSpPr>
            <a:spLocks noChangeAspect="1"/>
          </p:cNvSpPr>
          <p:nvPr/>
        </p:nvSpPr>
        <p:spPr>
          <a:xfrm>
            <a:off x="1800556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57" name="Étoile : 5 branches 121">
            <a:extLst>
              <a:ext uri="{FF2B5EF4-FFF2-40B4-BE49-F238E27FC236}">
                <a16:creationId xmlns:a16="http://schemas.microsoft.com/office/drawing/2014/main" id="{BCD83B9E-84A0-4CD7-960F-8C549D39AA93}"/>
              </a:ext>
            </a:extLst>
          </p:cNvPr>
          <p:cNvSpPr>
            <a:spLocks noChangeAspect="1"/>
          </p:cNvSpPr>
          <p:nvPr/>
        </p:nvSpPr>
        <p:spPr>
          <a:xfrm>
            <a:off x="2367360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4338" name="Picture 2" descr="Search ">
            <a:extLst>
              <a:ext uri="{FF2B5EF4-FFF2-40B4-BE49-F238E27FC236}">
                <a16:creationId xmlns:a16="http://schemas.microsoft.com/office/drawing/2014/main" id="{F7988D5C-8B70-49CD-B3AD-6972D22F9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093" y="3139930"/>
            <a:ext cx="419129" cy="41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riangle 52">
            <a:extLst>
              <a:ext uri="{FF2B5EF4-FFF2-40B4-BE49-F238E27FC236}">
                <a16:creationId xmlns:a16="http://schemas.microsoft.com/office/drawing/2014/main" id="{A91B8AC1-86C2-4B8D-816B-E2E5D3417CDF}"/>
              </a:ext>
            </a:extLst>
          </p:cNvPr>
          <p:cNvSpPr>
            <a:spLocks noChangeAspect="1"/>
          </p:cNvSpPr>
          <p:nvPr/>
        </p:nvSpPr>
        <p:spPr>
          <a:xfrm>
            <a:off x="7479928" y="4567867"/>
            <a:ext cx="354225" cy="364173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1" u="none" strike="noStrike" kern="0" cap="none" spc="0" normalizeH="0" baseline="0" noProof="0">
                <a:ln>
                  <a:noFill/>
                </a:ln>
                <a:solidFill>
                  <a:srgbClr val="00A894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: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0E5B01F-D7FF-402D-805B-8EDBB0DC3C9C}"/>
              </a:ext>
            </a:extLst>
          </p:cNvPr>
          <p:cNvSpPr/>
          <p:nvPr/>
        </p:nvSpPr>
        <p:spPr>
          <a:xfrm>
            <a:off x="6282961" y="4952939"/>
            <a:ext cx="2997167" cy="443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600" b="1" i="1">
                <a:latin typeface="Ubuntu"/>
                <a:ea typeface="Verdana" panose="020B0604030504040204" pitchFamily="34" charset="0"/>
              </a:rPr>
              <a:t>Restitution phase </a:t>
            </a:r>
          </a:p>
          <a:p>
            <a:pPr algn="ctr">
              <a:lnSpc>
                <a:spcPct val="90000"/>
              </a:lnSpc>
            </a:pPr>
            <a:r>
              <a:rPr lang="fr-FR" sz="1600" b="1" i="1">
                <a:latin typeface="Ubuntu"/>
                <a:ea typeface="Verdana" panose="020B0604030504040204" pitchFamily="34" charset="0"/>
              </a:rPr>
              <a:t>de diagnostic</a:t>
            </a:r>
          </a:p>
        </p:txBody>
      </p:sp>
      <p:sp>
        <p:nvSpPr>
          <p:cNvPr id="58" name="Flèche : pentagone 107">
            <a:extLst>
              <a:ext uri="{FF2B5EF4-FFF2-40B4-BE49-F238E27FC236}">
                <a16:creationId xmlns:a16="http://schemas.microsoft.com/office/drawing/2014/main" id="{9FEA8989-C77B-41D0-93BA-D8E7B2A38460}"/>
              </a:ext>
            </a:extLst>
          </p:cNvPr>
          <p:cNvSpPr/>
          <p:nvPr/>
        </p:nvSpPr>
        <p:spPr>
          <a:xfrm>
            <a:off x="618300" y="3760402"/>
            <a:ext cx="1080013" cy="955768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72000" tIns="72000" rIns="72000" bIns="3600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/>
                <a:cs typeface="Calibri"/>
              </a:rPr>
              <a:t>Sécuriser les prérequis</a:t>
            </a:r>
            <a:endParaRPr kumimoji="0" lang="fr-FR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Ubuntu"/>
              <a:ea typeface="Verdana"/>
              <a:cs typeface="Calibri"/>
            </a:endParaRPr>
          </a:p>
        </p:txBody>
      </p:sp>
      <p:sp>
        <p:nvSpPr>
          <p:cNvPr id="59" name="Flèche : pentagone 107">
            <a:extLst>
              <a:ext uri="{FF2B5EF4-FFF2-40B4-BE49-F238E27FC236}">
                <a16:creationId xmlns:a16="http://schemas.microsoft.com/office/drawing/2014/main" id="{76561ECF-C416-4C23-BECB-D34EF9F2E2B5}"/>
              </a:ext>
            </a:extLst>
          </p:cNvPr>
          <p:cNvSpPr/>
          <p:nvPr/>
        </p:nvSpPr>
        <p:spPr>
          <a:xfrm>
            <a:off x="1747825" y="3760402"/>
            <a:ext cx="1091941" cy="955768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72000" tIns="72000" rIns="72000" bIns="3600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/>
                <a:cs typeface="Calibri"/>
              </a:rPr>
              <a:t>Lancer </a:t>
            </a:r>
            <a:r>
              <a:rPr kumimoji="0" lang="fr-FR" sz="1400" b="1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Ubuntu"/>
                <a:ea typeface="Verdana"/>
                <a:cs typeface="Calibri"/>
              </a:rPr>
              <a:t>officiell-ement</a:t>
            </a:r>
            <a:r>
              <a:rPr kumimoji="0" lang="fr-FR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/>
                <a:cs typeface="Calibri"/>
              </a:rPr>
              <a:t> la démarche</a:t>
            </a:r>
            <a:endParaRPr kumimoji="0" lang="fr-FR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Ubuntu"/>
              <a:ea typeface="Verdana"/>
              <a:cs typeface="Calibri"/>
            </a:endParaRPr>
          </a:p>
        </p:txBody>
      </p:sp>
      <p:sp>
        <p:nvSpPr>
          <p:cNvPr id="60" name="Flèche : pentagone 107">
            <a:extLst>
              <a:ext uri="{FF2B5EF4-FFF2-40B4-BE49-F238E27FC236}">
                <a16:creationId xmlns:a16="http://schemas.microsoft.com/office/drawing/2014/main" id="{C735F317-D72B-4DCC-A46E-6F2975023BE5}"/>
              </a:ext>
            </a:extLst>
          </p:cNvPr>
          <p:cNvSpPr/>
          <p:nvPr/>
        </p:nvSpPr>
        <p:spPr>
          <a:xfrm>
            <a:off x="2877383" y="3760402"/>
            <a:ext cx="4068151" cy="955768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72000" tIns="72000" rIns="72000" bIns="3600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/>
                <a:cs typeface="Calibri"/>
              </a:rPr>
              <a:t>Réaliser le diagnostic </a:t>
            </a:r>
          </a:p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Ubuntu"/>
                <a:ea typeface="Verdana"/>
                <a:cs typeface="Calibri"/>
              </a:rPr>
              <a:t>(analyse quantitative et qualitative)</a:t>
            </a:r>
            <a:endParaRPr kumimoji="0" lang="fr-FR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Ubuntu"/>
              <a:ea typeface="Verdana"/>
              <a:cs typeface="Calibri"/>
            </a:endParaRPr>
          </a:p>
        </p:txBody>
      </p:sp>
      <p:sp>
        <p:nvSpPr>
          <p:cNvPr id="67" name="Triangle 52">
            <a:extLst>
              <a:ext uri="{FF2B5EF4-FFF2-40B4-BE49-F238E27FC236}">
                <a16:creationId xmlns:a16="http://schemas.microsoft.com/office/drawing/2014/main" id="{B43FC154-08FE-4114-8C99-F9D9E469B82E}"/>
              </a:ext>
            </a:extLst>
          </p:cNvPr>
          <p:cNvSpPr>
            <a:spLocks noChangeAspect="1"/>
          </p:cNvSpPr>
          <p:nvPr/>
        </p:nvSpPr>
        <p:spPr>
          <a:xfrm>
            <a:off x="1516603" y="6678131"/>
            <a:ext cx="237620" cy="244293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1" u="none" strike="noStrike" kern="0" cap="none" spc="0" normalizeH="0" baseline="0" noProof="0">
                <a:ln>
                  <a:noFill/>
                </a:ln>
                <a:solidFill>
                  <a:srgbClr val="00A894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:</a:t>
            </a:r>
          </a:p>
        </p:txBody>
      </p:sp>
      <p:sp>
        <p:nvSpPr>
          <p:cNvPr id="68" name="ZoneTexte 125">
            <a:extLst>
              <a:ext uri="{FF2B5EF4-FFF2-40B4-BE49-F238E27FC236}">
                <a16:creationId xmlns:a16="http://schemas.microsoft.com/office/drawing/2014/main" id="{37532A12-71F0-4B47-9CE1-BB668871D8FB}"/>
              </a:ext>
            </a:extLst>
          </p:cNvPr>
          <p:cNvSpPr txBox="1"/>
          <p:nvPr/>
        </p:nvSpPr>
        <p:spPr>
          <a:xfrm>
            <a:off x="1754223" y="6666556"/>
            <a:ext cx="2425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rgbClr val="4D4F53"/>
                </a:solidFill>
                <a:latin typeface="Marianne"/>
                <a:ea typeface="Verdana" panose="020B0604030504040204" pitchFamily="34" charset="0"/>
              </a:rPr>
              <a:t>Réunion de restitution</a:t>
            </a:r>
          </a:p>
        </p:txBody>
      </p:sp>
      <p:sp>
        <p:nvSpPr>
          <p:cNvPr id="72" name="Étoile : 5 branches 121">
            <a:extLst>
              <a:ext uri="{FF2B5EF4-FFF2-40B4-BE49-F238E27FC236}">
                <a16:creationId xmlns:a16="http://schemas.microsoft.com/office/drawing/2014/main" id="{DB9B235E-0898-44DF-AAA7-547572BE7566}"/>
              </a:ext>
            </a:extLst>
          </p:cNvPr>
          <p:cNvSpPr>
            <a:spLocks noChangeAspect="1"/>
          </p:cNvSpPr>
          <p:nvPr/>
        </p:nvSpPr>
        <p:spPr>
          <a:xfrm>
            <a:off x="3187226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73" name="Étoile : 5 branches 121">
            <a:extLst>
              <a:ext uri="{FF2B5EF4-FFF2-40B4-BE49-F238E27FC236}">
                <a16:creationId xmlns:a16="http://schemas.microsoft.com/office/drawing/2014/main" id="{99318E09-5A94-46F7-9E75-6275C60E8EBF}"/>
              </a:ext>
            </a:extLst>
          </p:cNvPr>
          <p:cNvSpPr>
            <a:spLocks noChangeAspect="1"/>
          </p:cNvSpPr>
          <p:nvPr/>
        </p:nvSpPr>
        <p:spPr>
          <a:xfrm>
            <a:off x="3754031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74" name="Étoile : 5 branches 121">
            <a:extLst>
              <a:ext uri="{FF2B5EF4-FFF2-40B4-BE49-F238E27FC236}">
                <a16:creationId xmlns:a16="http://schemas.microsoft.com/office/drawing/2014/main" id="{89A33EE5-2EC7-496A-9580-99F3710BF675}"/>
              </a:ext>
            </a:extLst>
          </p:cNvPr>
          <p:cNvSpPr>
            <a:spLocks noChangeAspect="1"/>
          </p:cNvSpPr>
          <p:nvPr/>
        </p:nvSpPr>
        <p:spPr>
          <a:xfrm>
            <a:off x="4320836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75" name="Étoile : 5 branches 121">
            <a:extLst>
              <a:ext uri="{FF2B5EF4-FFF2-40B4-BE49-F238E27FC236}">
                <a16:creationId xmlns:a16="http://schemas.microsoft.com/office/drawing/2014/main" id="{1642D435-7C82-4642-9572-C697B676908D}"/>
              </a:ext>
            </a:extLst>
          </p:cNvPr>
          <p:cNvSpPr>
            <a:spLocks noChangeAspect="1"/>
          </p:cNvSpPr>
          <p:nvPr/>
        </p:nvSpPr>
        <p:spPr>
          <a:xfrm>
            <a:off x="4887640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76" name="Étoile : 5 branches 121">
            <a:extLst>
              <a:ext uri="{FF2B5EF4-FFF2-40B4-BE49-F238E27FC236}">
                <a16:creationId xmlns:a16="http://schemas.microsoft.com/office/drawing/2014/main" id="{B752A4DC-8C6E-40E2-A9BD-746C668AA776}"/>
              </a:ext>
            </a:extLst>
          </p:cNvPr>
          <p:cNvSpPr>
            <a:spLocks noChangeAspect="1"/>
          </p:cNvSpPr>
          <p:nvPr/>
        </p:nvSpPr>
        <p:spPr>
          <a:xfrm>
            <a:off x="5635499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77" name="Étoile : 5 branches 121">
            <a:extLst>
              <a:ext uri="{FF2B5EF4-FFF2-40B4-BE49-F238E27FC236}">
                <a16:creationId xmlns:a16="http://schemas.microsoft.com/office/drawing/2014/main" id="{026887B8-F5BD-43E2-9923-F7042F708E2D}"/>
              </a:ext>
            </a:extLst>
          </p:cNvPr>
          <p:cNvSpPr>
            <a:spLocks noChangeAspect="1"/>
          </p:cNvSpPr>
          <p:nvPr/>
        </p:nvSpPr>
        <p:spPr>
          <a:xfrm>
            <a:off x="6202304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78" name="Étoile : 5 branches 121">
            <a:extLst>
              <a:ext uri="{FF2B5EF4-FFF2-40B4-BE49-F238E27FC236}">
                <a16:creationId xmlns:a16="http://schemas.microsoft.com/office/drawing/2014/main" id="{ACC759CA-5EE1-4968-A395-E290E0F3524D}"/>
              </a:ext>
            </a:extLst>
          </p:cNvPr>
          <p:cNvSpPr>
            <a:spLocks noChangeAspect="1"/>
          </p:cNvSpPr>
          <p:nvPr/>
        </p:nvSpPr>
        <p:spPr>
          <a:xfrm>
            <a:off x="6769109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83" name="Étoile : 5 branches 121">
            <a:extLst>
              <a:ext uri="{FF2B5EF4-FFF2-40B4-BE49-F238E27FC236}">
                <a16:creationId xmlns:a16="http://schemas.microsoft.com/office/drawing/2014/main" id="{A257254E-57FF-484D-AF64-435A6EC001D0}"/>
              </a:ext>
            </a:extLst>
          </p:cNvPr>
          <p:cNvSpPr>
            <a:spLocks noChangeAspect="1"/>
          </p:cNvSpPr>
          <p:nvPr/>
        </p:nvSpPr>
        <p:spPr>
          <a:xfrm>
            <a:off x="7335913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84" name="Étoile : 5 branches 121">
            <a:extLst>
              <a:ext uri="{FF2B5EF4-FFF2-40B4-BE49-F238E27FC236}">
                <a16:creationId xmlns:a16="http://schemas.microsoft.com/office/drawing/2014/main" id="{7F26541B-0BCA-4CE2-98A9-7DFCFAB00E43}"/>
              </a:ext>
            </a:extLst>
          </p:cNvPr>
          <p:cNvSpPr>
            <a:spLocks noChangeAspect="1"/>
          </p:cNvSpPr>
          <p:nvPr/>
        </p:nvSpPr>
        <p:spPr>
          <a:xfrm>
            <a:off x="8077353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85" name="Étoile : 5 branches 121">
            <a:extLst>
              <a:ext uri="{FF2B5EF4-FFF2-40B4-BE49-F238E27FC236}">
                <a16:creationId xmlns:a16="http://schemas.microsoft.com/office/drawing/2014/main" id="{ED787A1F-1EF2-453C-B7BD-903B48DA3944}"/>
              </a:ext>
            </a:extLst>
          </p:cNvPr>
          <p:cNvSpPr>
            <a:spLocks noChangeAspect="1"/>
          </p:cNvSpPr>
          <p:nvPr/>
        </p:nvSpPr>
        <p:spPr>
          <a:xfrm>
            <a:off x="8644158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86" name="Étoile : 5 branches 121">
            <a:extLst>
              <a:ext uri="{FF2B5EF4-FFF2-40B4-BE49-F238E27FC236}">
                <a16:creationId xmlns:a16="http://schemas.microsoft.com/office/drawing/2014/main" id="{704BCADA-B4C5-4B8E-BFAA-B08C827E39B0}"/>
              </a:ext>
            </a:extLst>
          </p:cNvPr>
          <p:cNvSpPr>
            <a:spLocks noChangeAspect="1"/>
          </p:cNvSpPr>
          <p:nvPr/>
        </p:nvSpPr>
        <p:spPr>
          <a:xfrm>
            <a:off x="9210963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87" name="Étoile : 5 branches 121">
            <a:extLst>
              <a:ext uri="{FF2B5EF4-FFF2-40B4-BE49-F238E27FC236}">
                <a16:creationId xmlns:a16="http://schemas.microsoft.com/office/drawing/2014/main" id="{DAA7B309-0BBA-4100-B5A0-7B6EE1B62875}"/>
              </a:ext>
            </a:extLst>
          </p:cNvPr>
          <p:cNvSpPr>
            <a:spLocks noChangeAspect="1"/>
          </p:cNvSpPr>
          <p:nvPr/>
        </p:nvSpPr>
        <p:spPr>
          <a:xfrm>
            <a:off x="9777767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88" name="Étoile : 5 branches 121">
            <a:extLst>
              <a:ext uri="{FF2B5EF4-FFF2-40B4-BE49-F238E27FC236}">
                <a16:creationId xmlns:a16="http://schemas.microsoft.com/office/drawing/2014/main" id="{8F3B4A07-D688-432A-9CE5-73DA6E0537CC}"/>
              </a:ext>
            </a:extLst>
          </p:cNvPr>
          <p:cNvSpPr>
            <a:spLocks noChangeAspect="1"/>
          </p:cNvSpPr>
          <p:nvPr/>
        </p:nvSpPr>
        <p:spPr>
          <a:xfrm>
            <a:off x="10599839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89" name="Étoile : 5 branches 121">
            <a:extLst>
              <a:ext uri="{FF2B5EF4-FFF2-40B4-BE49-F238E27FC236}">
                <a16:creationId xmlns:a16="http://schemas.microsoft.com/office/drawing/2014/main" id="{BEBBE037-DFB3-45AC-847D-C05CB74642EA}"/>
              </a:ext>
            </a:extLst>
          </p:cNvPr>
          <p:cNvSpPr>
            <a:spLocks noChangeAspect="1"/>
          </p:cNvSpPr>
          <p:nvPr/>
        </p:nvSpPr>
        <p:spPr>
          <a:xfrm>
            <a:off x="11166644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90" name="Étoile : 5 branches 121">
            <a:extLst>
              <a:ext uri="{FF2B5EF4-FFF2-40B4-BE49-F238E27FC236}">
                <a16:creationId xmlns:a16="http://schemas.microsoft.com/office/drawing/2014/main" id="{18F986E5-C207-4631-A45B-51AD6BE09E14}"/>
              </a:ext>
            </a:extLst>
          </p:cNvPr>
          <p:cNvSpPr>
            <a:spLocks noChangeAspect="1"/>
          </p:cNvSpPr>
          <p:nvPr/>
        </p:nvSpPr>
        <p:spPr>
          <a:xfrm>
            <a:off x="11733449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91" name="Étoile : 5 branches 121">
            <a:extLst>
              <a:ext uri="{FF2B5EF4-FFF2-40B4-BE49-F238E27FC236}">
                <a16:creationId xmlns:a16="http://schemas.microsoft.com/office/drawing/2014/main" id="{2352775C-9E79-46A3-AEC9-19C213941040}"/>
              </a:ext>
            </a:extLst>
          </p:cNvPr>
          <p:cNvSpPr>
            <a:spLocks noChangeAspect="1"/>
          </p:cNvSpPr>
          <p:nvPr/>
        </p:nvSpPr>
        <p:spPr>
          <a:xfrm>
            <a:off x="12300253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92" name="Étoile : 5 branches 121">
            <a:extLst>
              <a:ext uri="{FF2B5EF4-FFF2-40B4-BE49-F238E27FC236}">
                <a16:creationId xmlns:a16="http://schemas.microsoft.com/office/drawing/2014/main" id="{BAE206E0-EF1E-47A3-AB7E-1AEBD4C73728}"/>
              </a:ext>
            </a:extLst>
          </p:cNvPr>
          <p:cNvSpPr>
            <a:spLocks noChangeAspect="1"/>
          </p:cNvSpPr>
          <p:nvPr/>
        </p:nvSpPr>
        <p:spPr>
          <a:xfrm>
            <a:off x="13060010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93" name="Étoile : 5 branches 121">
            <a:extLst>
              <a:ext uri="{FF2B5EF4-FFF2-40B4-BE49-F238E27FC236}">
                <a16:creationId xmlns:a16="http://schemas.microsoft.com/office/drawing/2014/main" id="{BEB32751-BB9A-453D-8854-E297B41269D1}"/>
              </a:ext>
            </a:extLst>
          </p:cNvPr>
          <p:cNvSpPr>
            <a:spLocks noChangeAspect="1"/>
          </p:cNvSpPr>
          <p:nvPr/>
        </p:nvSpPr>
        <p:spPr>
          <a:xfrm>
            <a:off x="13626815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94" name="Étoile : 5 branches 121">
            <a:extLst>
              <a:ext uri="{FF2B5EF4-FFF2-40B4-BE49-F238E27FC236}">
                <a16:creationId xmlns:a16="http://schemas.microsoft.com/office/drawing/2014/main" id="{9E34EBDB-74F6-4E68-8337-525DFBC42887}"/>
              </a:ext>
            </a:extLst>
          </p:cNvPr>
          <p:cNvSpPr>
            <a:spLocks noChangeAspect="1"/>
          </p:cNvSpPr>
          <p:nvPr/>
        </p:nvSpPr>
        <p:spPr>
          <a:xfrm>
            <a:off x="14193620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95" name="Étoile : 5 branches 121">
            <a:extLst>
              <a:ext uri="{FF2B5EF4-FFF2-40B4-BE49-F238E27FC236}">
                <a16:creationId xmlns:a16="http://schemas.microsoft.com/office/drawing/2014/main" id="{766F5040-52B7-4598-9275-CC1FFF9535ED}"/>
              </a:ext>
            </a:extLst>
          </p:cNvPr>
          <p:cNvSpPr>
            <a:spLocks noChangeAspect="1"/>
          </p:cNvSpPr>
          <p:nvPr/>
        </p:nvSpPr>
        <p:spPr>
          <a:xfrm>
            <a:off x="14760424" y="5549743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sp>
        <p:nvSpPr>
          <p:cNvPr id="51" name="Flèche : pentagone 107">
            <a:extLst>
              <a:ext uri="{FF2B5EF4-FFF2-40B4-BE49-F238E27FC236}">
                <a16:creationId xmlns:a16="http://schemas.microsoft.com/office/drawing/2014/main" id="{89D8B58C-EB3C-43B8-BB47-739BD9E4F193}"/>
              </a:ext>
            </a:extLst>
          </p:cNvPr>
          <p:cNvSpPr/>
          <p:nvPr/>
        </p:nvSpPr>
        <p:spPr>
          <a:xfrm>
            <a:off x="8023072" y="3750328"/>
            <a:ext cx="1257055" cy="965841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400" b="1" kern="0">
                <a:latin typeface="Ubuntu"/>
                <a:ea typeface="Verdana"/>
                <a:cs typeface="Calibri"/>
              </a:rPr>
              <a:t>Prioriser les leviers</a:t>
            </a:r>
          </a:p>
        </p:txBody>
      </p:sp>
      <p:sp>
        <p:nvSpPr>
          <p:cNvPr id="52" name="Flèche : pentagone 107">
            <a:extLst>
              <a:ext uri="{FF2B5EF4-FFF2-40B4-BE49-F238E27FC236}">
                <a16:creationId xmlns:a16="http://schemas.microsoft.com/office/drawing/2014/main" id="{B0F6712C-5193-4A5C-A2A3-D8F0216BBCD9}"/>
              </a:ext>
            </a:extLst>
          </p:cNvPr>
          <p:cNvSpPr/>
          <p:nvPr/>
        </p:nvSpPr>
        <p:spPr>
          <a:xfrm>
            <a:off x="13144762" y="3750328"/>
            <a:ext cx="1966880" cy="965841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400" b="1" kern="0">
                <a:latin typeface="Ubuntu"/>
                <a:ea typeface="Verdana"/>
                <a:cs typeface="Calibri"/>
              </a:rPr>
              <a:t>Valider la FDR et sécuriser les prochaines étapes </a:t>
            </a:r>
            <a:endParaRPr lang="fr-FR" sz="1400" kern="0">
              <a:latin typeface="Ubuntu"/>
              <a:ea typeface="Verdana"/>
              <a:cs typeface="Calibri"/>
            </a:endParaRPr>
          </a:p>
        </p:txBody>
      </p:sp>
      <p:sp>
        <p:nvSpPr>
          <p:cNvPr id="62" name="Flèche : pentagone 107">
            <a:extLst>
              <a:ext uri="{FF2B5EF4-FFF2-40B4-BE49-F238E27FC236}">
                <a16:creationId xmlns:a16="http://schemas.microsoft.com/office/drawing/2014/main" id="{90BB8A75-3C53-4634-B709-D425F103FC24}"/>
              </a:ext>
            </a:extLst>
          </p:cNvPr>
          <p:cNvSpPr/>
          <p:nvPr/>
        </p:nvSpPr>
        <p:spPr>
          <a:xfrm>
            <a:off x="9280127" y="3750328"/>
            <a:ext cx="2203573" cy="965841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400" b="1" kern="0">
                <a:latin typeface="Ubuntu"/>
                <a:ea typeface="Verdana"/>
                <a:cs typeface="Calibri"/>
              </a:rPr>
              <a:t>Compléter les fiches actions</a:t>
            </a:r>
          </a:p>
        </p:txBody>
      </p:sp>
      <p:sp>
        <p:nvSpPr>
          <p:cNvPr id="63" name="Flèche : pentagone 107">
            <a:extLst>
              <a:ext uri="{FF2B5EF4-FFF2-40B4-BE49-F238E27FC236}">
                <a16:creationId xmlns:a16="http://schemas.microsoft.com/office/drawing/2014/main" id="{A95542BD-D506-41CC-BA61-720E6A0ACD61}"/>
              </a:ext>
            </a:extLst>
          </p:cNvPr>
          <p:cNvSpPr/>
          <p:nvPr/>
        </p:nvSpPr>
        <p:spPr>
          <a:xfrm>
            <a:off x="11542710" y="3750328"/>
            <a:ext cx="1543043" cy="965841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400" b="1" kern="0">
                <a:latin typeface="Ubuntu"/>
                <a:ea typeface="Verdana"/>
                <a:cs typeface="Calibri"/>
              </a:rPr>
              <a:t>Construire la FDR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86B8C49-50AD-4855-8E23-1E3787524E0E}"/>
              </a:ext>
            </a:extLst>
          </p:cNvPr>
          <p:cNvSpPr/>
          <p:nvPr/>
        </p:nvSpPr>
        <p:spPr>
          <a:xfrm>
            <a:off x="12695036" y="4952939"/>
            <a:ext cx="2997167" cy="443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600" b="1" i="1">
                <a:latin typeface="Ubuntu"/>
                <a:ea typeface="Verdana" panose="020B0604030504040204" pitchFamily="34" charset="0"/>
              </a:rPr>
              <a:t>Restitution phase </a:t>
            </a:r>
          </a:p>
          <a:p>
            <a:pPr algn="ctr">
              <a:lnSpc>
                <a:spcPct val="90000"/>
              </a:lnSpc>
            </a:pPr>
            <a:r>
              <a:rPr lang="fr-FR" sz="1600" b="1" i="1">
                <a:latin typeface="Ubuntu"/>
                <a:ea typeface="Verdana" panose="020B0604030504040204" pitchFamily="34" charset="0"/>
              </a:rPr>
              <a:t>de feuille de route</a:t>
            </a:r>
          </a:p>
        </p:txBody>
      </p:sp>
      <p:sp>
        <p:nvSpPr>
          <p:cNvPr id="61" name="Triangle 52">
            <a:extLst>
              <a:ext uri="{FF2B5EF4-FFF2-40B4-BE49-F238E27FC236}">
                <a16:creationId xmlns:a16="http://schemas.microsoft.com/office/drawing/2014/main" id="{28ECC71E-5F14-4AB6-9AAD-ACCD482FDFE1}"/>
              </a:ext>
            </a:extLst>
          </p:cNvPr>
          <p:cNvSpPr>
            <a:spLocks noChangeAspect="1"/>
          </p:cNvSpPr>
          <p:nvPr/>
        </p:nvSpPr>
        <p:spPr>
          <a:xfrm>
            <a:off x="14016507" y="4567867"/>
            <a:ext cx="354225" cy="364173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1" u="none" strike="noStrike" kern="0" cap="none" spc="0" normalizeH="0" baseline="0" noProof="0">
                <a:ln>
                  <a:noFill/>
                </a:ln>
                <a:solidFill>
                  <a:srgbClr val="00A894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64690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1071216" y="4427984"/>
            <a:ext cx="4138083" cy="45719"/>
          </a:xfrm>
          <a:custGeom>
            <a:avLst/>
            <a:gdLst/>
            <a:ahLst/>
            <a:cxnLst/>
            <a:rect l="l" t="t" r="r" b="b"/>
            <a:pathLst>
              <a:path w="3890645" h="31114">
                <a:moveTo>
                  <a:pt x="3890213" y="0"/>
                </a:moveTo>
                <a:lnTo>
                  <a:pt x="0" y="0"/>
                </a:lnTo>
                <a:lnTo>
                  <a:pt x="0" y="30975"/>
                </a:lnTo>
                <a:lnTo>
                  <a:pt x="3890213" y="30975"/>
                </a:lnTo>
                <a:lnTo>
                  <a:pt x="38902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pPr algn="ctr"/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81474" y="4427984"/>
            <a:ext cx="4138083" cy="45719"/>
          </a:xfrm>
          <a:custGeom>
            <a:avLst/>
            <a:gdLst/>
            <a:ahLst/>
            <a:cxnLst/>
            <a:rect l="l" t="t" r="r" b="b"/>
            <a:pathLst>
              <a:path w="3890645" h="31114">
                <a:moveTo>
                  <a:pt x="3890213" y="0"/>
                </a:moveTo>
                <a:lnTo>
                  <a:pt x="0" y="0"/>
                </a:lnTo>
                <a:lnTo>
                  <a:pt x="0" y="30975"/>
                </a:lnTo>
                <a:lnTo>
                  <a:pt x="3890213" y="30975"/>
                </a:lnTo>
                <a:lnTo>
                  <a:pt x="38902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71216" y="3674690"/>
            <a:ext cx="5031055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914265" algn="l"/>
              </a:tabLst>
            </a:pPr>
            <a:r>
              <a:rPr lang="fr-FR" sz="2400" spc="1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1) Analyse documentaire</a:t>
            </a:r>
            <a:endParaRPr sz="2400"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80621" y="3674690"/>
            <a:ext cx="5182066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2400" spc="1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3) Inventaire quantitatif flash</a:t>
            </a:r>
            <a:endParaRPr sz="2400"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71216" y="4852432"/>
            <a:ext cx="41380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Collecte et appropriation de la documentation existante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 </a:t>
            </a:r>
            <a:endParaRPr spc="70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452563" y="0"/>
            <a:ext cx="2803525" cy="2910205"/>
          </a:xfrm>
          <a:custGeom>
            <a:avLst/>
            <a:gdLst/>
            <a:ahLst/>
            <a:cxnLst/>
            <a:rect l="l" t="t" r="r" b="b"/>
            <a:pathLst>
              <a:path w="2803525" h="2910205">
                <a:moveTo>
                  <a:pt x="2803437" y="0"/>
                </a:moveTo>
                <a:lnTo>
                  <a:pt x="0" y="0"/>
                </a:lnTo>
                <a:lnTo>
                  <a:pt x="0" y="761610"/>
                </a:lnTo>
                <a:lnTo>
                  <a:pt x="1969173" y="889473"/>
                </a:lnTo>
                <a:lnTo>
                  <a:pt x="1969173" y="2909866"/>
                </a:lnTo>
                <a:lnTo>
                  <a:pt x="2803437" y="2909866"/>
                </a:lnTo>
                <a:lnTo>
                  <a:pt x="280343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79035" y="3635896"/>
            <a:ext cx="35478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fr-FR" sz="2400" spc="1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2) Entretiens de diagnostic</a:t>
            </a:r>
            <a:endParaRPr lang="fr-FR" sz="2400"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27" name="object 20"/>
          <p:cNvSpPr txBox="1"/>
          <p:nvPr/>
        </p:nvSpPr>
        <p:spPr>
          <a:xfrm>
            <a:off x="5981474" y="4852432"/>
            <a:ext cx="4138083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Entretiens avec les interlocuteurs de la collectivité pour effectuer le diagnostique qualitatif 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(dimensions couvertes : stratégie et gouvernance, mesure, achats, transformation de l’IT, DEEE et Economie Circulaire, sensibilisation, IT pour un territoire éco-responsable) </a:t>
            </a:r>
          </a:p>
        </p:txBody>
      </p:sp>
      <p:sp>
        <p:nvSpPr>
          <p:cNvPr id="28" name="object 20"/>
          <p:cNvSpPr txBox="1"/>
          <p:nvPr/>
        </p:nvSpPr>
        <p:spPr>
          <a:xfrm>
            <a:off x="10880621" y="4852432"/>
            <a:ext cx="413808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Collecte d’une série de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données quantitatives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 visant à dresser </a:t>
            </a:r>
            <a:r>
              <a:rPr lang="fr-FR" b="1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l’inventaire IT </a:t>
            </a:r>
            <a:r>
              <a:rPr lang="fr-FR" spc="-5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de la collectivité</a:t>
            </a:r>
            <a:endParaRPr spc="70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</p:txBody>
      </p:sp>
      <p:sp>
        <p:nvSpPr>
          <p:cNvPr id="22" name="object 14">
            <a:extLst>
              <a:ext uri="{FF2B5EF4-FFF2-40B4-BE49-F238E27FC236}">
                <a16:creationId xmlns:a16="http://schemas.microsoft.com/office/drawing/2014/main" id="{E24E885B-2203-42A3-93CF-290A0D28F2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516" y="596273"/>
            <a:ext cx="14254967" cy="124585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 defTabSz="914377" rtl="0">
              <a:spcBef>
                <a:spcPts val="115"/>
              </a:spcBef>
            </a:pPr>
            <a:r>
              <a:rPr lang="fr-FR" sz="4000" kern="1200">
                <a:solidFill>
                  <a:srgbClr val="2C3176"/>
                </a:solidFill>
                <a:latin typeface="Marianne" panose="020B0604020202020204" charset="0"/>
              </a:rPr>
              <a:t>Zoom sur la phase de diagnostic </a:t>
            </a:r>
            <a:br>
              <a:rPr lang="fr-FR" sz="4000" kern="1200">
                <a:solidFill>
                  <a:srgbClr val="2C3176"/>
                </a:solidFill>
                <a:latin typeface="Marianne" panose="020B0604020202020204" charset="0"/>
              </a:rPr>
            </a:br>
            <a:r>
              <a:rPr lang="fr-FR" sz="4000" kern="1200">
                <a:solidFill>
                  <a:srgbClr val="2C3176"/>
                </a:solidFill>
                <a:latin typeface="Marianne" panose="020B0604020202020204" charset="0"/>
              </a:rPr>
              <a:t>de maturité</a:t>
            </a:r>
          </a:p>
        </p:txBody>
      </p:sp>
      <p:pic>
        <p:nvPicPr>
          <p:cNvPr id="10242" name="Picture 2" descr="Meeting Icons – Download for Free in PNG and SVG">
            <a:extLst>
              <a:ext uri="{FF2B5EF4-FFF2-40B4-BE49-F238E27FC236}">
                <a16:creationId xmlns:a16="http://schemas.microsoft.com/office/drawing/2014/main" id="{7FD1BF20-519D-4451-9D3F-DE6F8F552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2000"/>
                    </a14:imgEffect>
                    <a14:imgEffect>
                      <a14:colorTemperature colorTemp="6660"/>
                    </a14:imgEffect>
                    <a14:imgEffect>
                      <a14:saturation sat="400000"/>
                    </a14:imgEffect>
                    <a14:imgEffect>
                      <a14:brightnessContrast bright="-42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76" t="10718" r="10001" b="19214"/>
          <a:stretch/>
        </p:blipFill>
        <p:spPr bwMode="auto">
          <a:xfrm>
            <a:off x="7353568" y="2169491"/>
            <a:ext cx="1110020" cy="108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69A36DE5-0962-41CB-9817-1052F345CA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5481" y="2345281"/>
            <a:ext cx="914741" cy="914741"/>
          </a:xfrm>
          <a:prstGeom prst="rect">
            <a:avLst/>
          </a:prstGeom>
        </p:spPr>
      </p:pic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7A13A21D-5F86-49D4-8730-131CC0ACB3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910" y="2344276"/>
            <a:ext cx="914095" cy="914095"/>
          </a:xfrm>
          <a:prstGeom prst="rect">
            <a:avLst/>
          </a:prstGeom>
        </p:spPr>
      </p:pic>
      <p:sp>
        <p:nvSpPr>
          <p:cNvPr id="40" name="object 16">
            <a:extLst>
              <a:ext uri="{FF2B5EF4-FFF2-40B4-BE49-F238E27FC236}">
                <a16:creationId xmlns:a16="http://schemas.microsoft.com/office/drawing/2014/main" id="{596DA128-FBA8-4BDA-BC8E-FE0711F78216}"/>
              </a:ext>
            </a:extLst>
          </p:cNvPr>
          <p:cNvSpPr/>
          <p:nvPr/>
        </p:nvSpPr>
        <p:spPr>
          <a:xfrm>
            <a:off x="10880621" y="4427984"/>
            <a:ext cx="4138083" cy="45719"/>
          </a:xfrm>
          <a:custGeom>
            <a:avLst/>
            <a:gdLst/>
            <a:ahLst/>
            <a:cxnLst/>
            <a:rect l="l" t="t" r="r" b="b"/>
            <a:pathLst>
              <a:path w="3890645" h="31114">
                <a:moveTo>
                  <a:pt x="3890213" y="0"/>
                </a:moveTo>
                <a:lnTo>
                  <a:pt x="0" y="0"/>
                </a:lnTo>
                <a:lnTo>
                  <a:pt x="0" y="30975"/>
                </a:lnTo>
                <a:lnTo>
                  <a:pt x="3890213" y="30975"/>
                </a:lnTo>
                <a:lnTo>
                  <a:pt x="38902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Picture 2" descr="Search ">
            <a:extLst>
              <a:ext uri="{FF2B5EF4-FFF2-40B4-BE49-F238E27FC236}">
                <a16:creationId xmlns:a16="http://schemas.microsoft.com/office/drawing/2014/main" id="{31567CB3-FE05-4EA7-9B03-231570B27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3844" y="713403"/>
            <a:ext cx="741699" cy="74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372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 defTabSz="914377" rtl="0">
              <a:spcBef>
                <a:spcPts val="115"/>
              </a:spcBef>
            </a:pPr>
            <a:r>
              <a:rPr lang="fr-FR" sz="4000" kern="1200">
                <a:solidFill>
                  <a:srgbClr val="2C3176"/>
                </a:solidFill>
                <a:latin typeface="Marianne" panose="020B0604020202020204" charset="0"/>
              </a:rPr>
              <a:t>1) Analyse documentaire</a:t>
            </a:r>
            <a:endParaRPr sz="4000" kern="1200">
              <a:solidFill>
                <a:srgbClr val="2C3176"/>
              </a:solidFill>
              <a:latin typeface="Marianne" panose="020B0604020202020204" charset="0"/>
            </a:endParaRPr>
          </a:p>
        </p:txBody>
      </p:sp>
      <p:pic>
        <p:nvPicPr>
          <p:cNvPr id="30" name="Picture 29" descr="Shape&#10;&#10;Description automatically generated with low confidence">
            <a:extLst>
              <a:ext uri="{FF2B5EF4-FFF2-40B4-BE49-F238E27FC236}">
                <a16:creationId xmlns:a16="http://schemas.microsoft.com/office/drawing/2014/main" id="{1DC226C9-F93A-430C-A78C-4D5A14E0CE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581" y="342853"/>
            <a:ext cx="914095" cy="91409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446267-1DA3-42C7-B564-8CE3737D1D0D}"/>
              </a:ext>
            </a:extLst>
          </p:cNvPr>
          <p:cNvSpPr/>
          <p:nvPr/>
        </p:nvSpPr>
        <p:spPr>
          <a:xfrm>
            <a:off x="3125750" y="2912412"/>
            <a:ext cx="10004500" cy="4611916"/>
          </a:xfrm>
          <a:prstGeom prst="rect">
            <a:avLst/>
          </a:prstGeom>
          <a:solidFill>
            <a:srgbClr val="E9F1F5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bIns="108000" rtlCol="0" anchor="t" anchorCtr="0"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Plan Climat Air Energie Territorial (</a:t>
            </a:r>
            <a:r>
              <a:rPr kumimoji="0" lang="nb-N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PCAET</a:t>
            </a: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Contrats de Relance et de Transition Ecologique (</a:t>
            </a:r>
            <a:r>
              <a:rPr kumimoji="0" lang="nb-N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CRTE</a:t>
            </a: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Rapport Objectifs de Développement Durable (</a:t>
            </a:r>
            <a:r>
              <a:rPr kumimoji="0" lang="nb-N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ODD</a:t>
            </a: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Schéma de Promotion des Achats publics Socialement et Économiquement Responsables (</a:t>
            </a:r>
            <a:r>
              <a:rPr kumimoji="0" lang="nb-N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SPASER</a:t>
            </a: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Bilan d'Emission de Gaz à Effet de Serre (</a:t>
            </a:r>
            <a:r>
              <a:rPr kumimoji="0" lang="nb-N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BGES</a:t>
            </a: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Schéma Numérique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Schéma Directeur des Usages et Services Numériques (</a:t>
            </a:r>
            <a:r>
              <a:rPr kumimoji="0" lang="nb-N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SDUS</a:t>
            </a: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Plan Numérique Territorial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nb-NO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Tout autre document en lien avec le numérique responsable</a:t>
            </a:r>
            <a:r>
              <a:rPr kumimoji="0" lang="fr-FR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rPr>
              <a:t>…</a:t>
            </a:r>
            <a:endParaRPr kumimoji="0" lang="nb-NO" sz="1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rianne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2FC7DF-5EAD-44E3-914C-963BC665FF6C}"/>
              </a:ext>
            </a:extLst>
          </p:cNvPr>
          <p:cNvSpPr/>
          <p:nvPr/>
        </p:nvSpPr>
        <p:spPr>
          <a:xfrm>
            <a:off x="5651945" y="2636912"/>
            <a:ext cx="4952110" cy="551000"/>
          </a:xfrm>
          <a:prstGeom prst="rect">
            <a:avLst/>
          </a:prstGeom>
          <a:solidFill>
            <a:srgbClr val="06806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chemeClr val="bg1"/>
                </a:solidFill>
                <a:latin typeface="Marianne"/>
              </a:rPr>
              <a:t>Liste des documents types à collecter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58E1A1-E36D-4E52-BCF1-FD18BF502280}"/>
              </a:ext>
            </a:extLst>
          </p:cNvPr>
          <p:cNvSpPr/>
          <p:nvPr/>
        </p:nvSpPr>
        <p:spPr>
          <a:xfrm>
            <a:off x="3673768" y="1537748"/>
            <a:ext cx="8908465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spcBef>
                <a:spcPts val="115"/>
              </a:spcBef>
            </a:pPr>
            <a:r>
              <a:rPr lang="fr-FR" sz="3200" b="1" spc="-75">
                <a:solidFill>
                  <a:srgbClr val="2C3176"/>
                </a:solidFill>
                <a:latin typeface="Marianne ExtraBold" charset="0"/>
              </a:rPr>
              <a:t>Revue de la documentation produite par la collectivité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FF350D-1788-4FBF-8239-E03DBB91EB23}"/>
              </a:ext>
            </a:extLst>
          </p:cNvPr>
          <p:cNvSpPr txBox="1">
            <a:spLocks/>
          </p:cNvSpPr>
          <p:nvPr/>
        </p:nvSpPr>
        <p:spPr>
          <a:xfrm>
            <a:off x="3308074" y="8185214"/>
            <a:ext cx="10004501" cy="65398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b="1" i="1">
                <a:latin typeface="Marianne" panose="020B0604020202020204"/>
              </a:rPr>
              <a:t>Cette liste doit être adaptée par le référent avant la réunion pour qu’elle corresponde </a:t>
            </a:r>
          </a:p>
          <a:p>
            <a:pPr algn="ctr"/>
            <a:r>
              <a:rPr lang="fr-FR" b="1" i="1">
                <a:latin typeface="Marianne" panose="020B0604020202020204"/>
              </a:rPr>
              <a:t>à sa collectivité</a:t>
            </a:r>
          </a:p>
          <a:p>
            <a:pPr algn="ctr"/>
            <a:endParaRPr lang="fr-FR" b="1" i="1">
              <a:latin typeface="Mariann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93663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5CCCD9A-FDF3-44F9-A16F-8D323B839555}"/>
              </a:ext>
            </a:extLst>
          </p:cNvPr>
          <p:cNvSpPr txBox="1"/>
          <p:nvPr/>
        </p:nvSpPr>
        <p:spPr>
          <a:xfrm>
            <a:off x="1575272" y="1832805"/>
            <a:ext cx="12961440" cy="93610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300"/>
              </a:spcBef>
              <a:defRPr/>
            </a:pPr>
            <a:r>
              <a:rPr lang="fr-FR" sz="2000">
                <a:solidFill>
                  <a:srgbClr val="2C3176"/>
                </a:solidFill>
                <a:latin typeface="Marianne" panose="020B0604020202020204" charset="0"/>
              </a:rPr>
              <a:t>L’outil de diagnostic est </a:t>
            </a:r>
            <a:r>
              <a:rPr lang="fr-FR" sz="2000" b="1">
                <a:solidFill>
                  <a:srgbClr val="2C3176"/>
                </a:solidFill>
                <a:latin typeface="Marianne" panose="020B0604020202020204" charset="0"/>
              </a:rPr>
              <a:t>un questionnaire</a:t>
            </a:r>
            <a:r>
              <a:rPr lang="fr-FR" sz="2000">
                <a:solidFill>
                  <a:srgbClr val="2C3176"/>
                </a:solidFill>
                <a:latin typeface="Marianne" panose="020B0604020202020204" charset="0"/>
              </a:rPr>
              <a:t> aidant à comprendre </a:t>
            </a:r>
            <a:r>
              <a:rPr lang="fr-FR" sz="2000" b="1">
                <a:solidFill>
                  <a:srgbClr val="2C3176"/>
                </a:solidFill>
                <a:latin typeface="Marianne" panose="020B0604020202020204" charset="0"/>
              </a:rPr>
              <a:t>le niveau de maturité de la collectivité </a:t>
            </a:r>
            <a:r>
              <a:rPr lang="fr-FR" sz="2000">
                <a:solidFill>
                  <a:srgbClr val="2C3176"/>
                </a:solidFill>
                <a:latin typeface="Marianne" panose="020B0604020202020204" charset="0"/>
              </a:rPr>
              <a:t>sur le sujet du </a:t>
            </a:r>
            <a:r>
              <a:rPr lang="fr-FR" sz="2000" b="1">
                <a:solidFill>
                  <a:srgbClr val="2C3176"/>
                </a:solidFill>
                <a:latin typeface="Marianne" panose="020B0604020202020204" charset="0"/>
              </a:rPr>
              <a:t>Numérique Responsable</a:t>
            </a:r>
            <a:r>
              <a:rPr lang="fr-FR" sz="2000">
                <a:solidFill>
                  <a:srgbClr val="2C3176"/>
                </a:solidFill>
                <a:latin typeface="Marianne" panose="020B0604020202020204" charset="0"/>
              </a:rPr>
              <a:t>. </a:t>
            </a:r>
          </a:p>
          <a:p>
            <a:pPr lvl="0" algn="ctr">
              <a:spcBef>
                <a:spcPts val="300"/>
              </a:spcBef>
              <a:defRPr/>
            </a:pPr>
            <a:r>
              <a:rPr lang="fr-FR" sz="2000">
                <a:solidFill>
                  <a:srgbClr val="2C3176"/>
                </a:solidFill>
                <a:latin typeface="Marianne" panose="020B0604020202020204" charset="0"/>
              </a:rPr>
              <a:t>Il contient environ </a:t>
            </a:r>
            <a:r>
              <a:rPr lang="fr-FR" sz="2000" b="1">
                <a:solidFill>
                  <a:srgbClr val="2C3176"/>
                </a:solidFill>
                <a:latin typeface="Marianne" panose="020B0604020202020204" charset="0"/>
              </a:rPr>
              <a:t>250 questions qualitatives et quantitatives</a:t>
            </a:r>
            <a:r>
              <a:rPr lang="fr-FR" sz="2000">
                <a:solidFill>
                  <a:srgbClr val="2C3176"/>
                </a:solidFill>
                <a:latin typeface="Marianne" panose="020B0604020202020204" charset="0"/>
              </a:rPr>
              <a:t>,</a:t>
            </a:r>
            <a:r>
              <a:rPr lang="fr-FR" sz="2000" b="1">
                <a:solidFill>
                  <a:srgbClr val="2C3176"/>
                </a:solidFill>
                <a:latin typeface="Marianne" panose="020B0604020202020204" charset="0"/>
              </a:rPr>
              <a:t> </a:t>
            </a:r>
            <a:r>
              <a:rPr lang="fr-FR" sz="2000">
                <a:solidFill>
                  <a:srgbClr val="2C3176"/>
                </a:solidFill>
                <a:latin typeface="Marianne" panose="020B0604020202020204" charset="0"/>
              </a:rPr>
              <a:t>est basée sur </a:t>
            </a:r>
            <a:r>
              <a:rPr lang="fr-FR" sz="2000" b="1">
                <a:solidFill>
                  <a:srgbClr val="2C3176"/>
                </a:solidFill>
                <a:latin typeface="Marianne" panose="020B0604020202020204" charset="0"/>
              </a:rPr>
              <a:t>7 dimensions </a:t>
            </a:r>
            <a:r>
              <a:rPr lang="fr-FR" sz="2000">
                <a:solidFill>
                  <a:srgbClr val="2C3176"/>
                </a:solidFill>
                <a:latin typeface="Marianne" panose="020B0604020202020204" charset="0"/>
              </a:rPr>
              <a:t>et couvre</a:t>
            </a:r>
            <a:r>
              <a:rPr lang="fr-FR" sz="2000" b="1">
                <a:solidFill>
                  <a:srgbClr val="2C3176"/>
                </a:solidFill>
                <a:latin typeface="Marianne" panose="020B0604020202020204" charset="0"/>
              </a:rPr>
              <a:t> différents profils</a:t>
            </a:r>
            <a:r>
              <a:rPr lang="fr-FR" sz="2000">
                <a:solidFill>
                  <a:srgbClr val="2C3176"/>
                </a:solidFill>
                <a:latin typeface="Marianne" panose="020B0604020202020204" charset="0"/>
              </a:rPr>
              <a:t>.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CF323B-2125-474C-AE16-F7C109E47BE6}"/>
              </a:ext>
            </a:extLst>
          </p:cNvPr>
          <p:cNvSpPr/>
          <p:nvPr/>
        </p:nvSpPr>
        <p:spPr>
          <a:xfrm>
            <a:off x="2295352" y="3203848"/>
            <a:ext cx="4791600" cy="5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>
                <a:ln>
                  <a:noFill/>
                </a:ln>
                <a:solidFill>
                  <a:srgbClr val="383C7E"/>
                </a:solidFill>
                <a:effectLst/>
                <a:uLnTx/>
                <a:uFillTx/>
                <a:latin typeface="Marianne" panose="020B0604020202020204" charset="0"/>
              </a:rPr>
              <a:t>7 dimensions du Numérique Responsable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EAEA37-6948-46B0-A73A-FDAAA49178B7}"/>
              </a:ext>
            </a:extLst>
          </p:cNvPr>
          <p:cNvGrpSpPr/>
          <p:nvPr/>
        </p:nvGrpSpPr>
        <p:grpSpPr>
          <a:xfrm>
            <a:off x="2801781" y="4118664"/>
            <a:ext cx="3778743" cy="3384376"/>
            <a:chOff x="6005441" y="4716016"/>
            <a:chExt cx="3744416" cy="3384376"/>
          </a:xfrm>
          <a:solidFill>
            <a:srgbClr val="383C7E"/>
          </a:solidFill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BCC7EBF-E9D5-4899-84CC-809A168A8F53}"/>
                </a:ext>
              </a:extLst>
            </p:cNvPr>
            <p:cNvSpPr/>
            <p:nvPr/>
          </p:nvSpPr>
          <p:spPr>
            <a:xfrm>
              <a:off x="6005441" y="4716016"/>
              <a:ext cx="1728192" cy="648072"/>
            </a:xfrm>
            <a:prstGeom prst="roundRect">
              <a:avLst/>
            </a:prstGeom>
            <a:grpFill/>
            <a:ln w="12700">
              <a:solidFill>
                <a:srgbClr val="5D6D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fr-FR" sz="1400" b="1">
                  <a:solidFill>
                    <a:schemeClr val="bg1"/>
                  </a:solidFill>
                  <a:latin typeface="Marianne" panose="020B0604020202020204" charset="0"/>
                </a:rPr>
                <a:t>Stratégie et gouvernance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2D21894-4525-4823-A6C2-3A9695AAC77D}"/>
                </a:ext>
              </a:extLst>
            </p:cNvPr>
            <p:cNvSpPr/>
            <p:nvPr/>
          </p:nvSpPr>
          <p:spPr>
            <a:xfrm>
              <a:off x="6005441" y="5580112"/>
              <a:ext cx="1728192" cy="648072"/>
            </a:xfrm>
            <a:prstGeom prst="roundRect">
              <a:avLst/>
            </a:prstGeom>
            <a:grpFill/>
            <a:ln w="12700">
              <a:solidFill>
                <a:srgbClr val="5D6D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r>
                <a:rPr lang="fr-FR" sz="1400" b="1">
                  <a:solidFill>
                    <a:schemeClr val="bg1"/>
                  </a:solidFill>
                  <a:latin typeface="Marianne" panose="020B0604020202020204" charset="0"/>
                </a:rPr>
                <a:t>Mesure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FC9A0CC-E4AD-4ADF-B05C-4915F8CDC309}"/>
                </a:ext>
              </a:extLst>
            </p:cNvPr>
            <p:cNvSpPr/>
            <p:nvPr/>
          </p:nvSpPr>
          <p:spPr>
            <a:xfrm>
              <a:off x="6005441" y="7452320"/>
              <a:ext cx="1728192" cy="648072"/>
            </a:xfrm>
            <a:prstGeom prst="roundRect">
              <a:avLst/>
            </a:prstGeom>
            <a:grpFill/>
            <a:ln w="12700">
              <a:solidFill>
                <a:srgbClr val="5D6D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r>
                <a:rPr lang="fr-FR" sz="1400" b="1">
                  <a:solidFill>
                    <a:schemeClr val="bg1"/>
                  </a:solidFill>
                  <a:latin typeface="Marianne" panose="020B0604020202020204" charset="0"/>
                </a:rPr>
                <a:t>Transformation de l’IT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7BB616FC-FC84-4306-AA52-F45C63A6E906}"/>
                </a:ext>
              </a:extLst>
            </p:cNvPr>
            <p:cNvSpPr/>
            <p:nvPr/>
          </p:nvSpPr>
          <p:spPr>
            <a:xfrm>
              <a:off x="6005441" y="6516216"/>
              <a:ext cx="1728192" cy="648072"/>
            </a:xfrm>
            <a:prstGeom prst="roundRect">
              <a:avLst/>
            </a:prstGeom>
            <a:grpFill/>
            <a:ln w="12700">
              <a:solidFill>
                <a:srgbClr val="5D6D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r>
                <a:rPr lang="fr-FR" sz="1400" b="1">
                  <a:solidFill>
                    <a:schemeClr val="bg1"/>
                  </a:solidFill>
                  <a:latin typeface="Marianne" panose="020B0604020202020204" charset="0"/>
                </a:rPr>
                <a:t>Achat</a:t>
              </a: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8614A585-2D30-4387-BAE1-EA836E1B4307}"/>
                </a:ext>
              </a:extLst>
            </p:cNvPr>
            <p:cNvSpPr/>
            <p:nvPr/>
          </p:nvSpPr>
          <p:spPr>
            <a:xfrm>
              <a:off x="8021665" y="4716016"/>
              <a:ext cx="1728192" cy="648072"/>
            </a:xfrm>
            <a:prstGeom prst="roundRect">
              <a:avLst/>
            </a:prstGeom>
            <a:grpFill/>
            <a:ln w="12700">
              <a:solidFill>
                <a:srgbClr val="5D6D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r>
                <a:rPr lang="fr-FR" sz="1400" b="1">
                  <a:solidFill>
                    <a:schemeClr val="bg1"/>
                  </a:solidFill>
                  <a:latin typeface="Marianne" panose="020B0604020202020204" charset="0"/>
                </a:rPr>
                <a:t>DEEE et Economie circulaire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4D306034-0189-44BB-9393-9D4F5E7B3B2B}"/>
                </a:ext>
              </a:extLst>
            </p:cNvPr>
            <p:cNvSpPr/>
            <p:nvPr/>
          </p:nvSpPr>
          <p:spPr>
            <a:xfrm>
              <a:off x="8021665" y="5580112"/>
              <a:ext cx="1728192" cy="648072"/>
            </a:xfrm>
            <a:prstGeom prst="roundRect">
              <a:avLst/>
            </a:prstGeom>
            <a:grpFill/>
            <a:ln w="12700">
              <a:solidFill>
                <a:srgbClr val="5D6D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r>
                <a:rPr lang="fr-FR" sz="1400" b="1">
                  <a:solidFill>
                    <a:schemeClr val="bg1"/>
                  </a:solidFill>
                  <a:latin typeface="Marianne" panose="020B0604020202020204" charset="0"/>
                </a:rPr>
                <a:t>Sensibilisation</a:t>
              </a: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FAE0B9CA-AA5C-4317-920E-CF11D074B6BD}"/>
                </a:ext>
              </a:extLst>
            </p:cNvPr>
            <p:cNvSpPr/>
            <p:nvPr/>
          </p:nvSpPr>
          <p:spPr>
            <a:xfrm>
              <a:off x="8021665" y="6516216"/>
              <a:ext cx="1728192" cy="648072"/>
            </a:xfrm>
            <a:prstGeom prst="roundRect">
              <a:avLst/>
            </a:prstGeom>
            <a:grpFill/>
            <a:ln w="12700">
              <a:solidFill>
                <a:srgbClr val="5D6D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r>
                <a:rPr lang="fr-FR" sz="1400" b="1">
                  <a:solidFill>
                    <a:schemeClr val="bg1"/>
                  </a:solidFill>
                  <a:latin typeface="Marianne" panose="020B0604020202020204" charset="0"/>
                </a:rPr>
                <a:t>IT pour un territoire éco-responsable</a:t>
              </a: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E7A1B95-731E-4399-B187-74A4ED98CC9C}"/>
              </a:ext>
            </a:extLst>
          </p:cNvPr>
          <p:cNvSpPr/>
          <p:nvPr/>
        </p:nvSpPr>
        <p:spPr>
          <a:xfrm>
            <a:off x="9064104" y="3203848"/>
            <a:ext cx="4791600" cy="54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>
                <a:ln>
                  <a:noFill/>
                </a:ln>
                <a:solidFill>
                  <a:srgbClr val="06806C"/>
                </a:solidFill>
                <a:effectLst/>
                <a:uLnTx/>
                <a:uFillTx/>
                <a:latin typeface="Marianne" panose="020B0604020202020204" charset="0"/>
              </a:rPr>
              <a:t>6 « profils » concernés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6D67E-DEF5-4EB7-9AB9-7AAB53A1C319}"/>
              </a:ext>
            </a:extLst>
          </p:cNvPr>
          <p:cNvCxnSpPr/>
          <p:nvPr/>
        </p:nvCxnSpPr>
        <p:spPr>
          <a:xfrm>
            <a:off x="8075528" y="3830632"/>
            <a:ext cx="0" cy="352839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Receipt outline">
            <a:extLst>
              <a:ext uri="{FF2B5EF4-FFF2-40B4-BE49-F238E27FC236}">
                <a16:creationId xmlns:a16="http://schemas.microsoft.com/office/drawing/2014/main" id="{58AC1B39-2425-4EDA-879A-403BEF2A8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4184" y="4025591"/>
            <a:ext cx="463426" cy="463426"/>
          </a:xfrm>
          <a:prstGeom prst="rect">
            <a:avLst/>
          </a:prstGeom>
        </p:spPr>
      </p:pic>
      <p:pic>
        <p:nvPicPr>
          <p:cNvPr id="112" name="Graphic 111" descr="Open hand with plant outline">
            <a:extLst>
              <a:ext uri="{FF2B5EF4-FFF2-40B4-BE49-F238E27FC236}">
                <a16:creationId xmlns:a16="http://schemas.microsoft.com/office/drawing/2014/main" id="{BB13FD65-8A08-4EE8-AA76-1BC8C356FC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184" y="5186145"/>
            <a:ext cx="463426" cy="463426"/>
          </a:xfrm>
          <a:prstGeom prst="rect">
            <a:avLst/>
          </a:prstGeom>
        </p:spPr>
      </p:pic>
      <p:pic>
        <p:nvPicPr>
          <p:cNvPr id="114" name="Graphic 113" descr="Puzzle pieces outline">
            <a:extLst>
              <a:ext uri="{FF2B5EF4-FFF2-40B4-BE49-F238E27FC236}">
                <a16:creationId xmlns:a16="http://schemas.microsoft.com/office/drawing/2014/main" id="{6EAB8D63-52A8-4F53-8F20-51E4426BE0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4184" y="6346699"/>
            <a:ext cx="463426" cy="463426"/>
          </a:xfrm>
          <a:prstGeom prst="rect">
            <a:avLst/>
          </a:prstGeom>
        </p:spPr>
      </p:pic>
      <p:pic>
        <p:nvPicPr>
          <p:cNvPr id="118" name="Graphic 117" descr="Lecturer outline">
            <a:extLst>
              <a:ext uri="{FF2B5EF4-FFF2-40B4-BE49-F238E27FC236}">
                <a16:creationId xmlns:a16="http://schemas.microsoft.com/office/drawing/2014/main" id="{DD9D0342-0244-464D-9868-2ECCD27633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84184" y="5766422"/>
            <a:ext cx="463426" cy="463426"/>
          </a:xfrm>
          <a:prstGeom prst="rect">
            <a:avLst/>
          </a:prstGeom>
        </p:spPr>
      </p:pic>
      <p:pic>
        <p:nvPicPr>
          <p:cNvPr id="120" name="Graphic 119" descr="Teacher outline">
            <a:extLst>
              <a:ext uri="{FF2B5EF4-FFF2-40B4-BE49-F238E27FC236}">
                <a16:creationId xmlns:a16="http://schemas.microsoft.com/office/drawing/2014/main" id="{B96D84C6-A411-4DE4-B583-572168865CC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84184" y="6926976"/>
            <a:ext cx="463426" cy="463426"/>
          </a:xfrm>
          <a:prstGeom prst="rect">
            <a:avLst/>
          </a:prstGeom>
        </p:spPr>
      </p:pic>
      <p:pic>
        <p:nvPicPr>
          <p:cNvPr id="124" name="Graphic 123" descr="Internet outline">
            <a:extLst>
              <a:ext uri="{FF2B5EF4-FFF2-40B4-BE49-F238E27FC236}">
                <a16:creationId xmlns:a16="http://schemas.microsoft.com/office/drawing/2014/main" id="{9EA552E7-ED14-4574-BB85-36EEBE8E67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84184" y="4605868"/>
            <a:ext cx="463426" cy="463426"/>
          </a:xfrm>
          <a:prstGeom prst="rect">
            <a:avLst/>
          </a:prstGeom>
        </p:spPr>
      </p:pic>
      <p:sp>
        <p:nvSpPr>
          <p:cNvPr id="119" name="object 8">
            <a:extLst>
              <a:ext uri="{FF2B5EF4-FFF2-40B4-BE49-F238E27FC236}">
                <a16:creationId xmlns:a16="http://schemas.microsoft.com/office/drawing/2014/main" id="{B315857C-BAE9-4BAF-9D75-D58BA2F9CD7F}"/>
              </a:ext>
            </a:extLst>
          </p:cNvPr>
          <p:cNvSpPr txBox="1"/>
          <p:nvPr/>
        </p:nvSpPr>
        <p:spPr>
          <a:xfrm>
            <a:off x="10550958" y="4143169"/>
            <a:ext cx="3193666" cy="315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algn="l" fontAlgn="b">
              <a:spcBef>
                <a:spcPts val="0"/>
              </a:spcBef>
              <a:spcAft>
                <a:spcPts val="0"/>
              </a:spcAft>
            </a:pPr>
            <a:r>
              <a:rPr lang="fr-FR" sz="1400" b="1" i="0" u="none" strike="noStrike">
                <a:solidFill>
                  <a:srgbClr val="06806C"/>
                </a:solidFill>
                <a:effectLst/>
                <a:latin typeface="Marianne" panose="020B0604020202020204"/>
              </a:rPr>
              <a:t>Direction des achats</a:t>
            </a:r>
          </a:p>
          <a:p>
            <a:pPr marL="0" algn="l" fontAlgn="b">
              <a:spcBef>
                <a:spcPts val="0"/>
              </a:spcBef>
              <a:spcAft>
                <a:spcPts val="0"/>
              </a:spcAft>
            </a:pPr>
            <a:endParaRPr lang="en-GB" sz="2400" b="0" i="0" u="none" strike="noStrike">
              <a:effectLst/>
              <a:latin typeface="Arial" panose="020B0604020202020204" pitchFamily="34" charset="0"/>
            </a:endParaRPr>
          </a:p>
          <a:p>
            <a:pPr marL="0" algn="l" fontAlgn="b">
              <a:spcBef>
                <a:spcPts val="0"/>
              </a:spcBef>
              <a:spcAft>
                <a:spcPts val="0"/>
              </a:spcAft>
            </a:pPr>
            <a:r>
              <a:rPr lang="fr-FR" sz="1400" b="1" i="0" u="none" strike="noStrike">
                <a:solidFill>
                  <a:srgbClr val="06806C"/>
                </a:solidFill>
                <a:effectLst/>
                <a:latin typeface="Marianne" panose="020B0604020202020204"/>
              </a:rPr>
              <a:t>DSI</a:t>
            </a:r>
            <a:endParaRPr lang="en-GB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fontAlgn="b">
              <a:spcBef>
                <a:spcPts val="0"/>
              </a:spcBef>
              <a:spcAft>
                <a:spcPts val="0"/>
              </a:spcAft>
            </a:pPr>
            <a:endParaRPr lang="fr-FR" sz="2400" b="1" i="0" u="none" strike="noStrike">
              <a:solidFill>
                <a:srgbClr val="06806C"/>
              </a:solidFill>
              <a:effectLst/>
              <a:latin typeface="Marianne" panose="020B0604020202020204"/>
            </a:endParaRPr>
          </a:p>
          <a:p>
            <a:pPr marL="0" algn="l" fontAlgn="b">
              <a:spcBef>
                <a:spcPts val="0"/>
              </a:spcBef>
              <a:spcAft>
                <a:spcPts val="0"/>
              </a:spcAft>
            </a:pPr>
            <a:r>
              <a:rPr lang="fr-FR" sz="1400" b="1" i="0" u="none" strike="noStrike">
                <a:solidFill>
                  <a:srgbClr val="06806C"/>
                </a:solidFill>
                <a:effectLst/>
                <a:latin typeface="Marianne" panose="020B0604020202020204"/>
              </a:rPr>
              <a:t>Chargé de mission Numérique Responsable</a:t>
            </a:r>
            <a:endParaRPr lang="en-GB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fontAlgn="b">
              <a:spcBef>
                <a:spcPts val="0"/>
              </a:spcBef>
              <a:spcAft>
                <a:spcPts val="0"/>
              </a:spcAft>
            </a:pPr>
            <a:endParaRPr lang="fr-FR" sz="2400" b="1" i="0" u="none" strike="noStrike">
              <a:solidFill>
                <a:srgbClr val="06806C"/>
              </a:solidFill>
              <a:effectLst/>
              <a:latin typeface="Marianne" panose="020B0604020202020204"/>
            </a:endParaRPr>
          </a:p>
          <a:p>
            <a:pPr marL="0" algn="l" fontAlgn="b">
              <a:spcBef>
                <a:spcPts val="0"/>
              </a:spcBef>
              <a:spcAft>
                <a:spcPts val="0"/>
              </a:spcAft>
            </a:pPr>
            <a:r>
              <a:rPr lang="fr-FR" sz="1400" b="1" i="0" u="none" strike="noStrike">
                <a:solidFill>
                  <a:srgbClr val="06806C"/>
                </a:solidFill>
                <a:effectLst/>
                <a:latin typeface="Marianne" panose="020B0604020202020204"/>
              </a:rPr>
              <a:t>Elu(s)</a:t>
            </a:r>
            <a:endParaRPr lang="en-GB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fontAlgn="b">
              <a:spcBef>
                <a:spcPts val="0"/>
              </a:spcBef>
              <a:spcAft>
                <a:spcPts val="0"/>
              </a:spcAft>
            </a:pPr>
            <a:endParaRPr lang="fr-FR" sz="2400" b="1" i="0" u="none" strike="noStrike">
              <a:solidFill>
                <a:srgbClr val="06806C"/>
              </a:solidFill>
              <a:effectLst/>
              <a:latin typeface="Marianne" panose="020B0604020202020204"/>
            </a:endParaRPr>
          </a:p>
          <a:p>
            <a:pPr defTabSz="685800" fontAlgn="b"/>
            <a:r>
              <a:rPr lang="fr-FR" sz="1400" b="1">
                <a:solidFill>
                  <a:srgbClr val="06806C"/>
                </a:solidFill>
                <a:latin typeface="Marianne" panose="020B0604020202020204"/>
              </a:rPr>
              <a:t>Territoire &amp; Partenariats</a:t>
            </a:r>
            <a:endParaRPr lang="en-GB" sz="200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algn="l" fontAlgn="b">
              <a:spcBef>
                <a:spcPts val="0"/>
              </a:spcBef>
              <a:spcAft>
                <a:spcPts val="0"/>
              </a:spcAft>
            </a:pPr>
            <a:endParaRPr lang="fr-FR" sz="2400" b="1" i="0" u="none" strike="noStrike">
              <a:solidFill>
                <a:srgbClr val="06806C"/>
              </a:solidFill>
              <a:effectLst/>
              <a:latin typeface="Marianne" panose="020B0604020202020204"/>
            </a:endParaRPr>
          </a:p>
          <a:p>
            <a:pPr marL="0" algn="l" fontAlgn="b">
              <a:spcBef>
                <a:spcPts val="0"/>
              </a:spcBef>
              <a:spcAft>
                <a:spcPts val="0"/>
              </a:spcAft>
            </a:pPr>
            <a:r>
              <a:rPr lang="fr-FR" sz="1400" b="1" i="0" u="none" strike="noStrike">
                <a:solidFill>
                  <a:srgbClr val="06806C"/>
                </a:solidFill>
                <a:effectLst/>
                <a:latin typeface="Marianne" panose="020B0604020202020204"/>
              </a:rPr>
              <a:t>Direction RH / formation</a:t>
            </a:r>
            <a:endParaRPr lang="en-GB" sz="1800" b="0" i="0" u="none" strike="noStrike"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BAEE0-21D2-48A8-AA04-DFB6DC50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30300"/>
          </a:xfrm>
        </p:spPr>
        <p:txBody>
          <a:bodyPr vert="horz" wrap="square" lIns="0" tIns="14604" rIns="0" bIns="0" rtlCol="0">
            <a:spAutoFit/>
          </a:bodyPr>
          <a:lstStyle/>
          <a:p>
            <a:pPr marL="12700" defTabSz="914377" rtl="0">
              <a:spcBef>
                <a:spcPts val="115"/>
              </a:spcBef>
            </a:pPr>
            <a:r>
              <a:rPr lang="fr-FR" sz="4000"/>
              <a:t>Présentation de l’outil de diagnostic</a:t>
            </a:r>
            <a:endParaRPr lang="en-GB" sz="40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9031CC-DE6F-4B17-85FB-5615A92C2F21}"/>
              </a:ext>
            </a:extLst>
          </p:cNvPr>
          <p:cNvSpPr txBox="1">
            <a:spLocks/>
          </p:cNvSpPr>
          <p:nvPr/>
        </p:nvSpPr>
        <p:spPr>
          <a:xfrm>
            <a:off x="8627269" y="7694635"/>
            <a:ext cx="6048672" cy="118042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b="1" i="1">
                <a:latin typeface="Marianne" panose="020B0604020202020204"/>
              </a:rPr>
              <a:t>Cette liste des profils doit être adaptée par le référent avant la réunion pour qu’elle corresponde à sa collectivité</a:t>
            </a:r>
          </a:p>
          <a:p>
            <a:pPr algn="ctr"/>
            <a:endParaRPr lang="fr-FR" b="1" i="1">
              <a:latin typeface="Marianne" panose="020B0604020202020204"/>
            </a:endParaRPr>
          </a:p>
        </p:txBody>
      </p:sp>
      <p:pic>
        <p:nvPicPr>
          <p:cNvPr id="37" name="Picture 2" descr="Pencil ">
            <a:extLst>
              <a:ext uri="{FF2B5EF4-FFF2-40B4-BE49-F238E27FC236}">
                <a16:creationId xmlns:a16="http://schemas.microsoft.com/office/drawing/2014/main" id="{C2FE1A3E-1365-459B-8776-3BB006ABC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8876" y="313424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337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14EB8E8-061A-4F43-A970-F020DBF82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090" y="1835696"/>
            <a:ext cx="11181534" cy="533852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Graphic 97" descr="Cheers with solid fill">
            <a:extLst>
              <a:ext uri="{FF2B5EF4-FFF2-40B4-BE49-F238E27FC236}">
                <a16:creationId xmlns:a16="http://schemas.microsoft.com/office/drawing/2014/main" id="{A7E497D0-0B8A-4CF8-BD0D-F87AB4BF5B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15647" y="7736683"/>
            <a:ext cx="343840" cy="34304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1EDCA61-C7BD-4E38-9CC3-B18B43B20A4B}"/>
              </a:ext>
            </a:extLst>
          </p:cNvPr>
          <p:cNvCxnSpPr/>
          <p:nvPr/>
        </p:nvCxnSpPr>
        <p:spPr>
          <a:xfrm flipH="1">
            <a:off x="2013046" y="2210814"/>
            <a:ext cx="504056" cy="216024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55FCB8F-691E-4E05-B567-5077475A1F67}"/>
              </a:ext>
            </a:extLst>
          </p:cNvPr>
          <p:cNvSpPr/>
          <p:nvPr/>
        </p:nvSpPr>
        <p:spPr>
          <a:xfrm>
            <a:off x="1004934" y="2210814"/>
            <a:ext cx="1080120" cy="57606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fr-FR" sz="1400" b="1">
                <a:solidFill>
                  <a:srgbClr val="383C7E"/>
                </a:solidFill>
                <a:latin typeface="Marianne" panose="020B0604020202020204" charset="0"/>
              </a:rPr>
              <a:t>Niveau de maturité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5147A7-F0AF-4CC6-983A-6CBDBFCCC418}"/>
              </a:ext>
            </a:extLst>
          </p:cNvPr>
          <p:cNvCxnSpPr>
            <a:cxnSpLocks/>
          </p:cNvCxnSpPr>
          <p:nvPr/>
        </p:nvCxnSpPr>
        <p:spPr>
          <a:xfrm>
            <a:off x="3525214" y="7251374"/>
            <a:ext cx="0" cy="288032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319F93C-5573-4A99-A670-E92E8F712427}"/>
              </a:ext>
            </a:extLst>
          </p:cNvPr>
          <p:cNvSpPr/>
          <p:nvPr/>
        </p:nvSpPr>
        <p:spPr>
          <a:xfrm>
            <a:off x="2814751" y="7574902"/>
            <a:ext cx="1403063" cy="57606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fr-FR" sz="1400" b="1" dirty="0">
                <a:solidFill>
                  <a:srgbClr val="383C7E"/>
                </a:solidFill>
                <a:latin typeface="Marianne" panose="020B0604020202020204" charset="0"/>
              </a:rPr>
              <a:t>Dimension &amp; Thématique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7EDC3F2-C77C-4A5C-ACD5-D79093EB40C1}"/>
              </a:ext>
            </a:extLst>
          </p:cNvPr>
          <p:cNvCxnSpPr>
            <a:cxnSpLocks/>
          </p:cNvCxnSpPr>
          <p:nvPr/>
        </p:nvCxnSpPr>
        <p:spPr>
          <a:xfrm>
            <a:off x="5124867" y="7251374"/>
            <a:ext cx="0" cy="288032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796BE50-CA9D-45AE-92B6-121D9DED70A0}"/>
              </a:ext>
            </a:extLst>
          </p:cNvPr>
          <p:cNvSpPr/>
          <p:nvPr/>
        </p:nvSpPr>
        <p:spPr>
          <a:xfrm>
            <a:off x="4566805" y="7574902"/>
            <a:ext cx="1188132" cy="57606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fr-FR" sz="1400" b="1">
                <a:solidFill>
                  <a:srgbClr val="383C7E"/>
                </a:solidFill>
                <a:latin typeface="Marianne" panose="020B0604020202020204" charset="0"/>
              </a:rPr>
              <a:t>Questions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AD1B073-1D41-4D61-82C2-7BA497FAC094}"/>
              </a:ext>
            </a:extLst>
          </p:cNvPr>
          <p:cNvCxnSpPr>
            <a:cxnSpLocks/>
          </p:cNvCxnSpPr>
          <p:nvPr/>
        </p:nvCxnSpPr>
        <p:spPr>
          <a:xfrm>
            <a:off x="7618383" y="7251374"/>
            <a:ext cx="0" cy="288032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F0ACE33-DAA1-47F7-BFEC-E6F938FC327C}"/>
              </a:ext>
            </a:extLst>
          </p:cNvPr>
          <p:cNvSpPr/>
          <p:nvPr/>
        </p:nvSpPr>
        <p:spPr>
          <a:xfrm>
            <a:off x="7060321" y="7574902"/>
            <a:ext cx="1188132" cy="57606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fr-FR" sz="1400" b="1">
                <a:solidFill>
                  <a:srgbClr val="383C7E"/>
                </a:solidFill>
                <a:latin typeface="Marianne" panose="020B0604020202020204" charset="0"/>
              </a:rPr>
              <a:t>Profils des interviewés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B1EDBC-BB83-4624-83A6-B6170E42385E}"/>
              </a:ext>
            </a:extLst>
          </p:cNvPr>
          <p:cNvCxnSpPr>
            <a:cxnSpLocks/>
          </p:cNvCxnSpPr>
          <p:nvPr/>
        </p:nvCxnSpPr>
        <p:spPr>
          <a:xfrm>
            <a:off x="10326853" y="7251374"/>
            <a:ext cx="0" cy="288032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4CDF9AF4-4EB2-407E-A327-A4954E6AF2E3}"/>
              </a:ext>
            </a:extLst>
          </p:cNvPr>
          <p:cNvSpPr/>
          <p:nvPr/>
        </p:nvSpPr>
        <p:spPr>
          <a:xfrm>
            <a:off x="9768791" y="7574902"/>
            <a:ext cx="1188132" cy="57606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fr-FR" sz="1400" b="1">
                <a:solidFill>
                  <a:srgbClr val="383C7E"/>
                </a:solidFill>
                <a:latin typeface="Marianne" panose="020B0604020202020204" charset="0"/>
              </a:rPr>
              <a:t>Grille de notations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114017-D38D-460C-9A39-C5F73E4E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30300"/>
          </a:xfrm>
        </p:spPr>
        <p:txBody>
          <a:bodyPr vert="horz" wrap="square" lIns="0" tIns="14604" rIns="0" bIns="0" rtlCol="0">
            <a:spAutoFit/>
          </a:bodyPr>
          <a:lstStyle/>
          <a:p>
            <a:pPr marL="12700" defTabSz="914377" rtl="0">
              <a:spcBef>
                <a:spcPts val="115"/>
              </a:spcBef>
            </a:pPr>
            <a:r>
              <a:rPr lang="fr-FR" sz="4000"/>
              <a:t>Présentation de l’outil de diagnostic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28DFC4-2347-42B1-B90C-7FB1D06B76F8}"/>
              </a:ext>
            </a:extLst>
          </p:cNvPr>
          <p:cNvCxnSpPr>
            <a:cxnSpLocks/>
          </p:cNvCxnSpPr>
          <p:nvPr/>
        </p:nvCxnSpPr>
        <p:spPr>
          <a:xfrm>
            <a:off x="12731985" y="7251374"/>
            <a:ext cx="0" cy="288032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DDF77F7-4FC1-4C87-AFBC-B271B686F170}"/>
              </a:ext>
            </a:extLst>
          </p:cNvPr>
          <p:cNvSpPr/>
          <p:nvPr/>
        </p:nvSpPr>
        <p:spPr>
          <a:xfrm>
            <a:off x="12173923" y="7574902"/>
            <a:ext cx="1188132" cy="57606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fr-FR" sz="1400" b="1">
                <a:solidFill>
                  <a:srgbClr val="383C7E"/>
                </a:solidFill>
                <a:latin typeface="Marianne" panose="020B0604020202020204" charset="0"/>
              </a:rPr>
              <a:t>Réponses</a:t>
            </a:r>
          </a:p>
        </p:txBody>
      </p:sp>
    </p:spTree>
    <p:extLst>
      <p:ext uri="{BB962C8B-B14F-4D97-AF65-F5344CB8AC3E}">
        <p14:creationId xmlns:p14="http://schemas.microsoft.com/office/powerpoint/2010/main" val="185235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 defTabSz="914377" rtl="0">
              <a:spcBef>
                <a:spcPts val="115"/>
              </a:spcBef>
            </a:pPr>
            <a:r>
              <a:rPr lang="fr-FR" sz="4000" kern="1200">
                <a:solidFill>
                  <a:srgbClr val="2C3176"/>
                </a:solidFill>
                <a:latin typeface="Marianne" panose="020B0604020202020204" charset="0"/>
              </a:rPr>
              <a:t>2) Entretiens de diagnostic</a:t>
            </a:r>
            <a:endParaRPr sz="4000" kern="1200">
              <a:solidFill>
                <a:srgbClr val="2C3176"/>
              </a:solidFill>
              <a:latin typeface="Marianne" panose="020B0604020202020204" charset="0"/>
            </a:endParaRPr>
          </a:p>
        </p:txBody>
      </p:sp>
      <p:pic>
        <p:nvPicPr>
          <p:cNvPr id="17" name="Picture 2" descr="Meeting Icons – Download for Free in PNG and SVG">
            <a:extLst>
              <a:ext uri="{FF2B5EF4-FFF2-40B4-BE49-F238E27FC236}">
                <a16:creationId xmlns:a16="http://schemas.microsoft.com/office/drawing/2014/main" id="{48977BA8-F7C4-4A67-AB8F-64347C95C1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2000"/>
                    </a14:imgEffect>
                    <a14:imgEffect>
                      <a14:colorTemperature colorTemp="6660"/>
                    </a14:imgEffect>
                    <a14:imgEffect>
                      <a14:saturation sat="400000"/>
                    </a14:imgEffect>
                    <a14:imgEffect>
                      <a14:brightnessContrast bright="-42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76" t="10718" r="10001" b="19214"/>
          <a:stretch/>
        </p:blipFill>
        <p:spPr bwMode="auto">
          <a:xfrm>
            <a:off x="11674647" y="180290"/>
            <a:ext cx="1110020" cy="108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92EF366-EE2D-43FE-ABF3-245DECB2F1DC}"/>
              </a:ext>
            </a:extLst>
          </p:cNvPr>
          <p:cNvSpPr/>
          <p:nvPr/>
        </p:nvSpPr>
        <p:spPr>
          <a:xfrm>
            <a:off x="3495543" y="1535644"/>
            <a:ext cx="9264396" cy="8438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fr-FR" sz="2400" b="1" spc="1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Comprendre par fonction les connaissances et les ambitions </a:t>
            </a:r>
          </a:p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fr-FR" sz="2400" b="1" spc="1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des collectivités sur le numérique responsable</a:t>
            </a:r>
            <a:endParaRPr lang="fr-FR" sz="2400" b="1"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CA04C8-F868-4B44-97E5-167488ED74C2}"/>
              </a:ext>
            </a:extLst>
          </p:cNvPr>
          <p:cNvSpPr/>
          <p:nvPr/>
        </p:nvSpPr>
        <p:spPr>
          <a:xfrm>
            <a:off x="3548088" y="2865158"/>
            <a:ext cx="1422400" cy="812800"/>
          </a:xfrm>
          <a:prstGeom prst="rect">
            <a:avLst/>
          </a:prstGeom>
          <a:solidFill>
            <a:srgbClr val="068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>
                <a:latin typeface="Marianne"/>
              </a:rPr>
              <a:t>Direction des achats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BDA04A-5413-4460-9FB4-B97C1386E06F}"/>
              </a:ext>
            </a:extLst>
          </p:cNvPr>
          <p:cNvSpPr/>
          <p:nvPr/>
        </p:nvSpPr>
        <p:spPr>
          <a:xfrm>
            <a:off x="5190621" y="2865158"/>
            <a:ext cx="1422400" cy="812800"/>
          </a:xfrm>
          <a:prstGeom prst="rect">
            <a:avLst/>
          </a:prstGeom>
          <a:solidFill>
            <a:srgbClr val="068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>
                <a:latin typeface="Marianne"/>
              </a:rPr>
              <a:t>DSI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385946-F3A3-4E10-A1BE-48481C778CFB}"/>
              </a:ext>
            </a:extLst>
          </p:cNvPr>
          <p:cNvSpPr/>
          <p:nvPr/>
        </p:nvSpPr>
        <p:spPr>
          <a:xfrm>
            <a:off x="6833155" y="2865158"/>
            <a:ext cx="1422400" cy="812800"/>
          </a:xfrm>
          <a:prstGeom prst="rect">
            <a:avLst/>
          </a:prstGeom>
          <a:solidFill>
            <a:srgbClr val="068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>
                <a:latin typeface="Marianne"/>
              </a:rPr>
              <a:t>Chargé de mission NR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35658C-3012-4BCB-B055-2111D668724D}"/>
              </a:ext>
            </a:extLst>
          </p:cNvPr>
          <p:cNvSpPr/>
          <p:nvPr/>
        </p:nvSpPr>
        <p:spPr>
          <a:xfrm>
            <a:off x="8475688" y="2865158"/>
            <a:ext cx="1422400" cy="812800"/>
          </a:xfrm>
          <a:prstGeom prst="rect">
            <a:avLst/>
          </a:prstGeom>
          <a:solidFill>
            <a:srgbClr val="068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>
                <a:latin typeface="Marianne"/>
              </a:rPr>
              <a:t>Elu(s)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5C6AF0-4CFA-41D2-B87C-6F92CD362FBD}"/>
              </a:ext>
            </a:extLst>
          </p:cNvPr>
          <p:cNvSpPr/>
          <p:nvPr/>
        </p:nvSpPr>
        <p:spPr>
          <a:xfrm>
            <a:off x="11760755" y="2865158"/>
            <a:ext cx="1422400" cy="812800"/>
          </a:xfrm>
          <a:prstGeom prst="rect">
            <a:avLst/>
          </a:prstGeom>
          <a:solidFill>
            <a:srgbClr val="068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>
                <a:latin typeface="Marianne"/>
              </a:rPr>
              <a:t>Direction environnement</a:t>
            </a:r>
            <a:endParaRPr lang="fr-FR" sz="1300">
              <a:latin typeface="Marianne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323862-DC3F-47EC-84CE-50197D9F0B6E}"/>
              </a:ext>
            </a:extLst>
          </p:cNvPr>
          <p:cNvSpPr/>
          <p:nvPr/>
        </p:nvSpPr>
        <p:spPr>
          <a:xfrm>
            <a:off x="10118221" y="2865158"/>
            <a:ext cx="1422400" cy="812800"/>
          </a:xfrm>
          <a:prstGeom prst="rect">
            <a:avLst/>
          </a:prstGeom>
          <a:solidFill>
            <a:srgbClr val="068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>
                <a:latin typeface="Marianne"/>
              </a:rPr>
              <a:t>Direction RH / formation / communication</a:t>
            </a:r>
          </a:p>
        </p:txBody>
      </p:sp>
      <p:graphicFrame>
        <p:nvGraphicFramePr>
          <p:cNvPr id="50" name="Table 8">
            <a:extLst>
              <a:ext uri="{FF2B5EF4-FFF2-40B4-BE49-F238E27FC236}">
                <a16:creationId xmlns:a16="http://schemas.microsoft.com/office/drawing/2014/main" id="{C6474ADC-13DA-42FC-822E-598F7AA51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010675"/>
              </p:ext>
            </p:extLst>
          </p:nvPr>
        </p:nvGraphicFramePr>
        <p:xfrm>
          <a:off x="1719288" y="3931249"/>
          <a:ext cx="11571199" cy="29393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0381">
                  <a:extLst>
                    <a:ext uri="{9D8B030D-6E8A-4147-A177-3AD203B41FA5}">
                      <a16:colId xmlns:a16="http://schemas.microsoft.com/office/drawing/2014/main" val="2734706940"/>
                    </a:ext>
                  </a:extLst>
                </a:gridCol>
                <a:gridCol w="1636803">
                  <a:extLst>
                    <a:ext uri="{9D8B030D-6E8A-4147-A177-3AD203B41FA5}">
                      <a16:colId xmlns:a16="http://schemas.microsoft.com/office/drawing/2014/main" val="2477082095"/>
                    </a:ext>
                  </a:extLst>
                </a:gridCol>
                <a:gridCol w="1636803">
                  <a:extLst>
                    <a:ext uri="{9D8B030D-6E8A-4147-A177-3AD203B41FA5}">
                      <a16:colId xmlns:a16="http://schemas.microsoft.com/office/drawing/2014/main" val="1850582754"/>
                    </a:ext>
                  </a:extLst>
                </a:gridCol>
                <a:gridCol w="1636803">
                  <a:extLst>
                    <a:ext uri="{9D8B030D-6E8A-4147-A177-3AD203B41FA5}">
                      <a16:colId xmlns:a16="http://schemas.microsoft.com/office/drawing/2014/main" val="2392962617"/>
                    </a:ext>
                  </a:extLst>
                </a:gridCol>
                <a:gridCol w="1670411">
                  <a:extLst>
                    <a:ext uri="{9D8B030D-6E8A-4147-A177-3AD203B41FA5}">
                      <a16:colId xmlns:a16="http://schemas.microsoft.com/office/drawing/2014/main" val="505590558"/>
                    </a:ext>
                  </a:extLst>
                </a:gridCol>
                <a:gridCol w="1603195">
                  <a:extLst>
                    <a:ext uri="{9D8B030D-6E8A-4147-A177-3AD203B41FA5}">
                      <a16:colId xmlns:a16="http://schemas.microsoft.com/office/drawing/2014/main" val="617802993"/>
                    </a:ext>
                  </a:extLst>
                </a:gridCol>
                <a:gridCol w="1636803">
                  <a:extLst>
                    <a:ext uri="{9D8B030D-6E8A-4147-A177-3AD203B41FA5}">
                      <a16:colId xmlns:a16="http://schemas.microsoft.com/office/drawing/2014/main" val="1422912913"/>
                    </a:ext>
                  </a:extLst>
                </a:gridCol>
              </a:tblGrid>
              <a:tr h="624358">
                <a:tc>
                  <a:txBody>
                    <a:bodyPr/>
                    <a:lstStyle/>
                    <a:p>
                      <a:pPr algn="ctr" fontAlgn="b"/>
                      <a:r>
                        <a:rPr lang="fr-FR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Temps d’entretien préconisé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666448"/>
                  </a:ext>
                </a:extLst>
              </a:tr>
              <a:tr h="966071">
                <a:tc>
                  <a:txBody>
                    <a:bodyPr/>
                    <a:lstStyle/>
                    <a:p>
                      <a:pPr algn="ctr" fontAlgn="b"/>
                      <a:r>
                        <a:rPr lang="fr-FR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Interlocuteur(s) collectivité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711324"/>
                  </a:ext>
                </a:extLst>
              </a:tr>
              <a:tr h="724553">
                <a:tc>
                  <a:txBody>
                    <a:bodyPr/>
                    <a:lstStyle/>
                    <a:p>
                      <a:pPr algn="ctr" fontAlgn="b"/>
                      <a:r>
                        <a:rPr lang="fr-FR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d’entretien &amp; Horaire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460716"/>
                  </a:ext>
                </a:extLst>
              </a:tr>
              <a:tr h="624358">
                <a:tc>
                  <a:txBody>
                    <a:bodyPr/>
                    <a:lstStyle/>
                    <a:p>
                      <a:pPr algn="ctr" fontAlgn="b"/>
                      <a:r>
                        <a:rPr lang="fr-FR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600" b="0" i="0" u="none" strike="noStrike">
                        <a:solidFill>
                          <a:schemeClr val="tx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44226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DAB85C7-F4BD-4B16-BB98-8613E83495C9}"/>
              </a:ext>
            </a:extLst>
          </p:cNvPr>
          <p:cNvSpPr txBox="1">
            <a:spLocks/>
          </p:cNvSpPr>
          <p:nvPr/>
        </p:nvSpPr>
        <p:spPr>
          <a:xfrm>
            <a:off x="3231456" y="7308304"/>
            <a:ext cx="9793088" cy="1496225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i="1">
                <a:latin typeface="Marianne" panose="020B0604020202020204"/>
              </a:rPr>
              <a:t>La liste des profils en haut du tableau doit être adaptée en amont par le référent selon les profils identifiés pour sa collectivité (cf. page 18)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i="1">
                <a:latin typeface="Marianne" panose="020B0604020202020204"/>
              </a:rPr>
              <a:t>Le reste du tableau doit être complété en séance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i="1">
                <a:latin typeface="Marianne" panose="020B0604020202020204"/>
              </a:rPr>
              <a:t>La durée recommandée d’un entretien est entre 1h et 1h30 selon le profil</a:t>
            </a:r>
          </a:p>
          <a:p>
            <a:pPr algn="ctr"/>
            <a:endParaRPr lang="fr-FR" b="1" i="1">
              <a:latin typeface="Marianne" panose="020B0604020202020204"/>
            </a:endParaRPr>
          </a:p>
        </p:txBody>
      </p:sp>
      <p:pic>
        <p:nvPicPr>
          <p:cNvPr id="40" name="Picture 2" descr="Pencil ">
            <a:extLst>
              <a:ext uri="{FF2B5EF4-FFF2-40B4-BE49-F238E27FC236}">
                <a16:creationId xmlns:a16="http://schemas.microsoft.com/office/drawing/2014/main" id="{062F09F8-41E4-4A9D-A9B5-6BF3AB79E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8600" y="295773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556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00517" y="471574"/>
            <a:ext cx="14254967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 defTabSz="914377" rtl="0">
              <a:spcBef>
                <a:spcPts val="115"/>
              </a:spcBef>
            </a:pPr>
            <a:r>
              <a:rPr lang="fr-FR" sz="4000" kern="1200">
                <a:solidFill>
                  <a:srgbClr val="2C3176"/>
                </a:solidFill>
                <a:latin typeface="Marianne" panose="020B0604020202020204" charset="0"/>
              </a:rPr>
              <a:t>3) Inventaire quantitatif flash</a:t>
            </a:r>
            <a:endParaRPr sz="4000" kern="1200">
              <a:solidFill>
                <a:srgbClr val="2C3176"/>
              </a:solidFill>
              <a:latin typeface="Marianne" panose="020B0604020202020204" charset="0"/>
            </a:endParaRPr>
          </a:p>
        </p:txBody>
      </p:sp>
      <p:pic>
        <p:nvPicPr>
          <p:cNvPr id="17" name="Picture 16" descr="Shape&#10;&#10;Description automatically generated with low confidence">
            <a:extLst>
              <a:ext uri="{FF2B5EF4-FFF2-40B4-BE49-F238E27FC236}">
                <a16:creationId xmlns:a16="http://schemas.microsoft.com/office/drawing/2014/main" id="{E536E3DC-9573-46DB-9FAC-DF301C3B2A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88" y="295747"/>
            <a:ext cx="914741" cy="9147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2E0AE16-8B1B-4A60-B9BB-CD1BA844C3E8}"/>
              </a:ext>
            </a:extLst>
          </p:cNvPr>
          <p:cNvSpPr/>
          <p:nvPr/>
        </p:nvSpPr>
        <p:spPr>
          <a:xfrm>
            <a:off x="3479800" y="2452778"/>
            <a:ext cx="9255224" cy="457200"/>
          </a:xfrm>
          <a:prstGeom prst="rect">
            <a:avLst/>
          </a:prstGeom>
          <a:solidFill>
            <a:srgbClr val="068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chemeClr val="bg1"/>
                </a:solidFill>
              </a:rPr>
              <a:t>Liste des questions quantitatives </a:t>
            </a:r>
            <a:r>
              <a:rPr lang="fr-FR">
                <a:solidFill>
                  <a:schemeClr val="bg1"/>
                </a:solidFill>
              </a:rPr>
              <a:t>(32 au total)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8DFB73-7876-4829-9ABC-FD7743986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836819"/>
              </p:ext>
            </p:extLst>
          </p:nvPr>
        </p:nvGraphicFramePr>
        <p:xfrm>
          <a:off x="3479800" y="2986179"/>
          <a:ext cx="4495800" cy="482702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289932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642277387"/>
                    </a:ext>
                  </a:extLst>
                </a:gridCol>
              </a:tblGrid>
              <a:tr h="49718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solidFill>
                            <a:srgbClr val="06806C"/>
                          </a:solidFill>
                          <a:effectLst/>
                          <a:latin typeface="Marianne"/>
                        </a:rPr>
                        <a:t>Niveau de maturité</a:t>
                      </a:r>
                      <a:endParaRPr lang="fr-FR" sz="1200" b="1" i="0" u="none" strike="noStrike">
                        <a:solidFill>
                          <a:srgbClr val="06806C"/>
                        </a:solidFill>
                        <a:effectLst/>
                        <a:latin typeface="Marianne"/>
                      </a:endParaRPr>
                    </a:p>
                  </a:txBody>
                  <a:tcPr marL="0" marR="0" marT="0" marB="0" anchor="ctr">
                    <a:lnB w="3810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solidFill>
                            <a:srgbClr val="06806C"/>
                          </a:solidFill>
                          <a:effectLst/>
                          <a:latin typeface="Marianne"/>
                        </a:rPr>
                        <a:t>Question</a:t>
                      </a:r>
                      <a:endParaRPr lang="fr-FR" sz="1200" b="1" i="0" u="none" strike="noStrike">
                        <a:solidFill>
                          <a:srgbClr val="06806C"/>
                        </a:solidFill>
                        <a:effectLst/>
                        <a:latin typeface="Marianne"/>
                      </a:endParaRPr>
                    </a:p>
                  </a:txBody>
                  <a:tcPr marL="0" marR="0" marT="0" marB="0" anchor="ctr">
                    <a:lnB w="3810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740412"/>
                  </a:ext>
                </a:extLst>
              </a:tr>
              <a:tr h="367471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>
                          <a:solidFill>
                            <a:srgbClr val="06806C"/>
                          </a:solidFill>
                          <a:effectLst/>
                          <a:latin typeface="Marianne"/>
                        </a:rPr>
                        <a:t>Niveau 1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 est le nombre d'agents de la collectivité concernés par vos services numériques ?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>
                    <a:lnT w="3810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06015078"/>
                  </a:ext>
                </a:extLst>
              </a:tr>
              <a:tr h="18373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d'unités centrales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3505281913"/>
                  </a:ext>
                </a:extLst>
              </a:tr>
              <a:tr h="18373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de PC portables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709240167"/>
                  </a:ext>
                </a:extLst>
              </a:tr>
              <a:tr h="18373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de smartphones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913098624"/>
                  </a:ext>
                </a:extLst>
              </a:tr>
              <a:tr h="18373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écran plat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257333906"/>
                  </a:ext>
                </a:extLst>
              </a:tr>
              <a:tr h="18373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imprimantes en réseau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3256060020"/>
                  </a:ext>
                </a:extLst>
              </a:tr>
              <a:tr h="18373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imprimantes personnelles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937485903"/>
                  </a:ext>
                </a:extLst>
              </a:tr>
              <a:tr h="367471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de nouveaux outils / logiciels introduits dans votre organisation par an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363049924"/>
                  </a:ext>
                </a:extLst>
              </a:tr>
              <a:tr h="271437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Quelle est la durée de vie moyenne de vos unités centrales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547252683"/>
                  </a:ext>
                </a:extLst>
              </a:tr>
              <a:tr h="367471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Quelle est la durée de vie moyenne de vos ordinateurs portables ?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998890264"/>
                  </a:ext>
                </a:extLst>
              </a:tr>
              <a:tr h="271437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Combien de datacenter sont-ils présents sur votre territoire ?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629254"/>
                  </a:ext>
                </a:extLst>
              </a:tr>
              <a:tr h="183735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>
                          <a:solidFill>
                            <a:srgbClr val="06806C"/>
                          </a:solidFill>
                          <a:effectLst/>
                          <a:latin typeface="Marianne"/>
                        </a:rPr>
                        <a:t>Niveau 2</a:t>
                      </a:r>
                    </a:p>
                  </a:txBody>
                  <a:tcPr marL="0" marR="0" marT="0" marB="0"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0E3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de tablettes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286997"/>
                  </a:ext>
                </a:extLst>
              </a:tr>
              <a:tr h="18373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d'écran TV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3561751460"/>
                  </a:ext>
                </a:extLst>
              </a:tr>
              <a:tr h="18373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Taille moyenne des écrans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846762873"/>
                  </a:ext>
                </a:extLst>
              </a:tr>
              <a:tr h="18373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Quelle est la durée de vie moyenne de vos tablettes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296212469"/>
                  </a:ext>
                </a:extLst>
              </a:tr>
              <a:tr h="367471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Quelle est la durée de vie moyenne de vos imprimantes personnelles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475591446"/>
                  </a:ext>
                </a:extLst>
              </a:tr>
              <a:tr h="352039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Quelle est la durée de vie moyenne de vos imprimantes en réseau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72493186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2234113-B827-43E4-9B3E-2D3004913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038994"/>
              </p:ext>
            </p:extLst>
          </p:nvPr>
        </p:nvGraphicFramePr>
        <p:xfrm>
          <a:off x="8128000" y="2986178"/>
          <a:ext cx="4601616" cy="505790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2899326"/>
                    </a:ext>
                  </a:extLst>
                </a:gridCol>
                <a:gridCol w="3763416">
                  <a:extLst>
                    <a:ext uri="{9D8B030D-6E8A-4147-A177-3AD203B41FA5}">
                      <a16:colId xmlns:a16="http://schemas.microsoft.com/office/drawing/2014/main" val="2642277387"/>
                    </a:ext>
                  </a:extLst>
                </a:gridCol>
              </a:tblGrid>
              <a:tr h="46353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solidFill>
                            <a:srgbClr val="06806C"/>
                          </a:solidFill>
                          <a:effectLst/>
                          <a:latin typeface="Marianne"/>
                        </a:rPr>
                        <a:t>Niveau de maturité</a:t>
                      </a:r>
                      <a:endParaRPr lang="fr-FR" sz="1200" b="1" i="0" u="none" strike="noStrike">
                        <a:solidFill>
                          <a:srgbClr val="06806C"/>
                        </a:solidFill>
                        <a:effectLst/>
                        <a:latin typeface="Marianne"/>
                      </a:endParaRPr>
                    </a:p>
                  </a:txBody>
                  <a:tcPr marL="0" marR="0" marT="0" marB="0" anchor="ctr">
                    <a:lnB w="3810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solidFill>
                            <a:srgbClr val="06806C"/>
                          </a:solidFill>
                          <a:effectLst/>
                          <a:latin typeface="Marianne"/>
                        </a:rPr>
                        <a:t>Question</a:t>
                      </a:r>
                      <a:endParaRPr lang="fr-FR" sz="1200" b="1" i="0" u="none" strike="noStrike">
                        <a:solidFill>
                          <a:srgbClr val="06806C"/>
                        </a:solidFill>
                        <a:effectLst/>
                        <a:latin typeface="Marianne"/>
                      </a:endParaRPr>
                    </a:p>
                  </a:txBody>
                  <a:tcPr marL="0" marR="0" marT="0" marB="0" anchor="ctr">
                    <a:lnB w="3810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740412"/>
                  </a:ext>
                </a:extLst>
              </a:tr>
              <a:tr h="27551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>
                          <a:solidFill>
                            <a:srgbClr val="06806C"/>
                          </a:solidFill>
                          <a:effectLst/>
                          <a:latin typeface="Marianne"/>
                        </a:rPr>
                        <a:t>Niveau 2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Quelle est la durée de vie moyenne de vos serveurs physiques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>
                    <a:lnT w="38100" cap="flat" cmpd="sng" algn="ctr">
                      <a:solidFill>
                        <a:srgbClr val="068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16695253"/>
                  </a:ext>
                </a:extLst>
              </a:tr>
              <a:tr h="55343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 est le volume global de stockage de vos données en moyenne sur l'année dernière (disques durs externes, serveurs, NAS, SAN) ?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688707903"/>
                  </a:ext>
                </a:extLst>
              </a:tr>
              <a:tr h="36895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 est  le niveau de performance énergétique de votre datacenter (PUE) ?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997880174"/>
                  </a:ext>
                </a:extLst>
              </a:tr>
              <a:tr h="275519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 est le nombre de serveurs physiques dans l'organisation ?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27787291"/>
                  </a:ext>
                </a:extLst>
              </a:tr>
              <a:tr h="36895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Quelle est l'évolution cette année en %, du nombre de serveurs physiques ?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2560889009"/>
                  </a:ext>
                </a:extLst>
              </a:tr>
              <a:tr h="275519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 est le nombre de serveurs virtuels dans l'organisation ?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882461384"/>
                  </a:ext>
                </a:extLst>
              </a:tr>
              <a:tr h="368955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Quelle est l'évolution cette année en %, du nombre de serveurs virtuels ?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541489"/>
                  </a:ext>
                </a:extLst>
              </a:tr>
              <a:tr h="184478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>
                          <a:solidFill>
                            <a:srgbClr val="06806C"/>
                          </a:solidFill>
                          <a:effectLst/>
                          <a:latin typeface="Marianne"/>
                        </a:rPr>
                        <a:t>Niveau 3</a:t>
                      </a:r>
                    </a:p>
                  </a:txBody>
                  <a:tcPr marL="0" marR="0" marT="0" marB="0"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de téléphone IP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37193629"/>
                  </a:ext>
                </a:extLst>
              </a:tr>
              <a:tr h="184478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3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de bornes WIFI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4118381415"/>
                  </a:ext>
                </a:extLst>
              </a:tr>
              <a:tr h="184478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3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Nombre d'enceintes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638761452"/>
                  </a:ext>
                </a:extLst>
              </a:tr>
              <a:tr h="184478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3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Poids DEEE par an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767863196"/>
                  </a:ext>
                </a:extLst>
              </a:tr>
              <a:tr h="275519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3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solidFill>
                            <a:schemeClr val="tx1"/>
                          </a:solidFill>
                          <a:effectLst/>
                          <a:latin typeface="Marianne"/>
                        </a:rPr>
                        <a:t>Quelle est la durée de vie moyenne de vos téléphones IP ?</a:t>
                      </a:r>
                      <a:endParaRPr lang="fr-FR" sz="1100" b="0" i="0" u="none" strike="noStrike">
                        <a:solidFill>
                          <a:schemeClr val="tx1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3890319959"/>
                  </a:ext>
                </a:extLst>
              </a:tr>
              <a:tr h="275519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3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solidFill>
                            <a:schemeClr val="tx1"/>
                          </a:solidFill>
                          <a:effectLst/>
                          <a:latin typeface="Marianne"/>
                        </a:rPr>
                        <a:t>Quelle est la durée de vie moyenne de vos bornes WIFI ? </a:t>
                      </a:r>
                      <a:endParaRPr lang="fr-FR" sz="1100" b="0" i="0" u="none" strike="noStrike">
                        <a:solidFill>
                          <a:schemeClr val="tx1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801995381"/>
                  </a:ext>
                </a:extLst>
              </a:tr>
              <a:tr h="184478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3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solidFill>
                            <a:schemeClr val="tx1"/>
                          </a:solidFill>
                          <a:effectLst/>
                          <a:latin typeface="Marianne"/>
                        </a:rPr>
                        <a:t>Quelle est la durée de vie moyenne de vos enceintes ?</a:t>
                      </a:r>
                      <a:endParaRPr lang="fr-FR" sz="1100" b="0" i="0" u="none" strike="noStrike">
                        <a:solidFill>
                          <a:schemeClr val="tx1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854226999"/>
                  </a:ext>
                </a:extLst>
              </a:tr>
              <a:tr h="275519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3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  <a:latin typeface="Marianne"/>
                        </a:rPr>
                        <a:t>Quelle est la superficie totale de vos salles informatiques ?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Marianne"/>
                      </a:endParaRP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596077167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38E380B8-C767-4DBB-BAD6-A41E1D3EC76A}"/>
              </a:ext>
            </a:extLst>
          </p:cNvPr>
          <p:cNvGrpSpPr/>
          <p:nvPr/>
        </p:nvGrpSpPr>
        <p:grpSpPr>
          <a:xfrm>
            <a:off x="4169178" y="8135424"/>
            <a:ext cx="619847" cy="490085"/>
            <a:chOff x="16270214" y="6162283"/>
            <a:chExt cx="3207176" cy="2529724"/>
          </a:xfrm>
        </p:grpSpPr>
        <p:sp>
          <p:nvSpPr>
            <p:cNvPr id="29" name="Freeform 118">
              <a:extLst>
                <a:ext uri="{FF2B5EF4-FFF2-40B4-BE49-F238E27FC236}">
                  <a16:creationId xmlns:a16="http://schemas.microsoft.com/office/drawing/2014/main" id="{DE157F26-DFEE-4043-B784-A3D74541465B}"/>
                </a:ext>
              </a:extLst>
            </p:cNvPr>
            <p:cNvSpPr/>
            <p:nvPr/>
          </p:nvSpPr>
          <p:spPr>
            <a:xfrm rot="21084094">
              <a:off x="16373721" y="6623383"/>
              <a:ext cx="3103669" cy="1926885"/>
            </a:xfrm>
            <a:custGeom>
              <a:avLst/>
              <a:gdLst>
                <a:gd name="connsiteX0" fmla="*/ 1963441 w 3695778"/>
                <a:gd name="connsiteY0" fmla="*/ 170825 h 2294491"/>
                <a:gd name="connsiteX1" fmla="*/ 3182888 w 3695778"/>
                <a:gd name="connsiteY1" fmla="*/ 681851 h 2294491"/>
                <a:gd name="connsiteX2" fmla="*/ 3134733 w 3695778"/>
                <a:gd name="connsiteY2" fmla="*/ 691885 h 2294491"/>
                <a:gd name="connsiteX3" fmla="*/ 3184271 w 3695778"/>
                <a:gd name="connsiteY3" fmla="*/ 683298 h 2294491"/>
                <a:gd name="connsiteX4" fmla="*/ 3185519 w 3695778"/>
                <a:gd name="connsiteY4" fmla="*/ 684640 h 2294491"/>
                <a:gd name="connsiteX5" fmla="*/ 3193467 w 3695778"/>
                <a:gd name="connsiteY5" fmla="*/ 683297 h 2294491"/>
                <a:gd name="connsiteX6" fmla="*/ 3192201 w 3695778"/>
                <a:gd name="connsiteY6" fmla="*/ 691823 h 2294491"/>
                <a:gd name="connsiteX7" fmla="*/ 3695778 w 3695778"/>
                <a:gd name="connsiteY7" fmla="*/ 1233236 h 2294491"/>
                <a:gd name="connsiteX8" fmla="*/ 3096367 w 3695778"/>
                <a:gd name="connsiteY8" fmla="*/ 1337138 h 2294491"/>
                <a:gd name="connsiteX9" fmla="*/ 2988267 w 3695778"/>
                <a:gd name="connsiteY9" fmla="*/ 2065046 h 2294491"/>
                <a:gd name="connsiteX10" fmla="*/ 1643163 w 3695778"/>
                <a:gd name="connsiteY10" fmla="*/ 2293188 h 2294491"/>
                <a:gd name="connsiteX11" fmla="*/ 1838927 w 3695778"/>
                <a:gd name="connsiteY11" fmla="*/ 970170 h 2294491"/>
                <a:gd name="connsiteX12" fmla="*/ 1841255 w 3695778"/>
                <a:gd name="connsiteY12" fmla="*/ 954439 h 2294491"/>
                <a:gd name="connsiteX13" fmla="*/ 1840003 w 3695778"/>
                <a:gd name="connsiteY13" fmla="*/ 953758 h 2294491"/>
                <a:gd name="connsiteX14" fmla="*/ 1837390 w 3695778"/>
                <a:gd name="connsiteY14" fmla="*/ 971414 h 2294491"/>
                <a:gd name="connsiteX15" fmla="*/ 1641587 w 3695778"/>
                <a:gd name="connsiteY15" fmla="*/ 2294491 h 2294491"/>
                <a:gd name="connsiteX16" fmla="*/ 431127 w 3695778"/>
                <a:gd name="connsiteY16" fmla="*/ 1686789 h 2294491"/>
                <a:gd name="connsiteX17" fmla="*/ 539874 w 3695778"/>
                <a:gd name="connsiteY17" fmla="*/ 954468 h 2294491"/>
                <a:gd name="connsiteX18" fmla="*/ 0 w 3695778"/>
                <a:gd name="connsiteY18" fmla="*/ 682611 h 2294491"/>
                <a:gd name="connsiteX19" fmla="*/ 635087 w 3695778"/>
                <a:gd name="connsiteY19" fmla="*/ 313280 h 2294491"/>
                <a:gd name="connsiteX20" fmla="*/ 636310 w 3695778"/>
                <a:gd name="connsiteY20" fmla="*/ 305046 h 2294491"/>
                <a:gd name="connsiteX21" fmla="*/ 643255 w 3695778"/>
                <a:gd name="connsiteY21" fmla="*/ 308530 h 2294491"/>
                <a:gd name="connsiteX22" fmla="*/ 647722 w 3695778"/>
                <a:gd name="connsiteY22" fmla="*/ 305933 h 2294491"/>
                <a:gd name="connsiteX23" fmla="*/ 646690 w 3695778"/>
                <a:gd name="connsiteY23" fmla="*/ 305372 h 2294491"/>
                <a:gd name="connsiteX24" fmla="*/ 649111 w 3695778"/>
                <a:gd name="connsiteY24" fmla="*/ 305124 h 2294491"/>
                <a:gd name="connsiteX25" fmla="*/ 649248 w 3695778"/>
                <a:gd name="connsiteY25" fmla="*/ 305045 h 2294491"/>
                <a:gd name="connsiteX26" fmla="*/ 649356 w 3695778"/>
                <a:gd name="connsiteY26" fmla="*/ 305099 h 2294491"/>
                <a:gd name="connsiteX27" fmla="*/ 1962094 w 3695778"/>
                <a:gd name="connsiteY27" fmla="*/ 170826 h 2294491"/>
                <a:gd name="connsiteX28" fmla="*/ 1962359 w 3695778"/>
                <a:gd name="connsiteY28" fmla="*/ 170937 h 2294491"/>
                <a:gd name="connsiteX29" fmla="*/ 2496781 w 3695778"/>
                <a:gd name="connsiteY29" fmla="*/ 154556 h 2294491"/>
                <a:gd name="connsiteX30" fmla="*/ 3659188 w 3695778"/>
                <a:gd name="connsiteY30" fmla="*/ 672217 h 2294491"/>
                <a:gd name="connsiteX31" fmla="*/ 3179912 w 3695778"/>
                <a:gd name="connsiteY31" fmla="*/ 679729 h 2294491"/>
                <a:gd name="connsiteX32" fmla="*/ 1962257 w 3695778"/>
                <a:gd name="connsiteY32" fmla="*/ 169507 h 2294491"/>
                <a:gd name="connsiteX33" fmla="*/ 647560 w 3695778"/>
                <a:gd name="connsiteY33" fmla="*/ 303970 h 2294491"/>
                <a:gd name="connsiteX34" fmla="*/ 191161 w 3695778"/>
                <a:gd name="connsiteY34" fmla="*/ 157488 h 2294491"/>
                <a:gd name="connsiteX35" fmla="*/ 1453887 w 3695778"/>
                <a:gd name="connsiteY35" fmla="*/ 0 h 2294491"/>
                <a:gd name="connsiteX36" fmla="*/ 1941074 w 3695778"/>
                <a:gd name="connsiteY36" fmla="*/ 162155 h 2294491"/>
                <a:gd name="connsiteX37" fmla="*/ 1960801 w 3695778"/>
                <a:gd name="connsiteY37" fmla="*/ 168721 h 2294491"/>
                <a:gd name="connsiteX38" fmla="*/ 1983455 w 3695778"/>
                <a:gd name="connsiteY38" fmla="*/ 168122 h 2294491"/>
                <a:gd name="connsiteX39" fmla="*/ 2496781 w 3695778"/>
                <a:gd name="connsiteY39" fmla="*/ 154556 h 229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695778" h="2294491">
                  <a:moveTo>
                    <a:pt x="1963441" y="170825"/>
                  </a:moveTo>
                  <a:cubicBezTo>
                    <a:pt x="1963441" y="170825"/>
                    <a:pt x="3182888" y="681851"/>
                    <a:pt x="3182888" y="681851"/>
                  </a:cubicBezTo>
                  <a:lnTo>
                    <a:pt x="3134733" y="691885"/>
                  </a:lnTo>
                  <a:lnTo>
                    <a:pt x="3184271" y="683298"/>
                  </a:lnTo>
                  <a:lnTo>
                    <a:pt x="3185519" y="684640"/>
                  </a:lnTo>
                  <a:lnTo>
                    <a:pt x="3193467" y="683297"/>
                  </a:lnTo>
                  <a:lnTo>
                    <a:pt x="3192201" y="691823"/>
                  </a:lnTo>
                  <a:lnTo>
                    <a:pt x="3695778" y="1233236"/>
                  </a:lnTo>
                  <a:lnTo>
                    <a:pt x="3096367" y="1337138"/>
                  </a:lnTo>
                  <a:lnTo>
                    <a:pt x="2988267" y="2065046"/>
                  </a:lnTo>
                  <a:lnTo>
                    <a:pt x="1643163" y="2293188"/>
                  </a:lnTo>
                  <a:cubicBezTo>
                    <a:pt x="1643163" y="2293188"/>
                    <a:pt x="1799774" y="1234773"/>
                    <a:pt x="1838927" y="970170"/>
                  </a:cubicBezTo>
                  <a:lnTo>
                    <a:pt x="1841255" y="954439"/>
                  </a:lnTo>
                  <a:lnTo>
                    <a:pt x="1840003" y="953758"/>
                  </a:lnTo>
                  <a:lnTo>
                    <a:pt x="1837390" y="971414"/>
                  </a:lnTo>
                  <a:cubicBezTo>
                    <a:pt x="1798229" y="1236029"/>
                    <a:pt x="1641587" y="2294491"/>
                    <a:pt x="1641587" y="2294491"/>
                  </a:cubicBezTo>
                  <a:lnTo>
                    <a:pt x="431127" y="1686789"/>
                  </a:lnTo>
                  <a:lnTo>
                    <a:pt x="539874" y="954468"/>
                  </a:lnTo>
                  <a:lnTo>
                    <a:pt x="0" y="682611"/>
                  </a:lnTo>
                  <a:lnTo>
                    <a:pt x="635087" y="313280"/>
                  </a:lnTo>
                  <a:lnTo>
                    <a:pt x="636310" y="305046"/>
                  </a:lnTo>
                  <a:lnTo>
                    <a:pt x="643255" y="308530"/>
                  </a:lnTo>
                  <a:lnTo>
                    <a:pt x="647722" y="305933"/>
                  </a:lnTo>
                  <a:lnTo>
                    <a:pt x="646690" y="305372"/>
                  </a:lnTo>
                  <a:lnTo>
                    <a:pt x="649111" y="305124"/>
                  </a:lnTo>
                  <a:lnTo>
                    <a:pt x="649248" y="305045"/>
                  </a:lnTo>
                  <a:lnTo>
                    <a:pt x="649356" y="305099"/>
                  </a:lnTo>
                  <a:lnTo>
                    <a:pt x="1962094" y="170826"/>
                  </a:lnTo>
                  <a:lnTo>
                    <a:pt x="1962359" y="170937"/>
                  </a:lnTo>
                  <a:close/>
                  <a:moveTo>
                    <a:pt x="2496781" y="154556"/>
                  </a:moveTo>
                  <a:lnTo>
                    <a:pt x="3659188" y="672217"/>
                  </a:lnTo>
                  <a:lnTo>
                    <a:pt x="3179912" y="679729"/>
                  </a:lnTo>
                  <a:lnTo>
                    <a:pt x="1962257" y="169507"/>
                  </a:lnTo>
                  <a:lnTo>
                    <a:pt x="647560" y="303970"/>
                  </a:lnTo>
                  <a:lnTo>
                    <a:pt x="191161" y="157488"/>
                  </a:lnTo>
                  <a:lnTo>
                    <a:pt x="1453887" y="0"/>
                  </a:lnTo>
                  <a:cubicBezTo>
                    <a:pt x="1453887" y="0"/>
                    <a:pt x="1843637" y="129724"/>
                    <a:pt x="1941074" y="162155"/>
                  </a:cubicBezTo>
                  <a:lnTo>
                    <a:pt x="1960801" y="168721"/>
                  </a:lnTo>
                  <a:lnTo>
                    <a:pt x="1983455" y="168122"/>
                  </a:lnTo>
                  <a:cubicBezTo>
                    <a:pt x="2086120" y="165409"/>
                    <a:pt x="2496781" y="154556"/>
                    <a:pt x="2496781" y="154556"/>
                  </a:cubicBez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ontserrat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D75D7FF-7641-469A-9BB7-2C697A0F5DC1}"/>
                </a:ext>
              </a:extLst>
            </p:cNvPr>
            <p:cNvGrpSpPr/>
            <p:nvPr/>
          </p:nvGrpSpPr>
          <p:grpSpPr>
            <a:xfrm>
              <a:off x="16348313" y="6693427"/>
              <a:ext cx="2929343" cy="786849"/>
              <a:chOff x="4612843" y="5316904"/>
              <a:chExt cx="2929343" cy="786849"/>
            </a:xfrm>
          </p:grpSpPr>
          <p:sp>
            <p:nvSpPr>
              <p:cNvPr id="86" name="Shape 6">
                <a:extLst>
                  <a:ext uri="{FF2B5EF4-FFF2-40B4-BE49-F238E27FC236}">
                    <a16:creationId xmlns:a16="http://schemas.microsoft.com/office/drawing/2014/main" id="{6C0D4DFF-7799-4085-8C91-55378082421E}"/>
                  </a:ext>
                </a:extLst>
              </p:cNvPr>
              <p:cNvSpPr/>
              <p:nvPr/>
            </p:nvSpPr>
            <p:spPr>
              <a:xfrm rot="21084094">
                <a:off x="5039352" y="5441631"/>
                <a:ext cx="2128705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3686"/>
                    </a:moveTo>
                    <a:lnTo>
                      <a:pt x="11209" y="0"/>
                    </a:lnTo>
                    <a:lnTo>
                      <a:pt x="21600" y="14000"/>
                    </a:lnTo>
                    <a:lnTo>
                      <a:pt x="10255" y="21600"/>
                    </a:lnTo>
                    <a:cubicBezTo>
                      <a:pt x="10255" y="21600"/>
                      <a:pt x="0" y="3686"/>
                      <a:pt x="0" y="3686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87" name="Shape 7">
                <a:extLst>
                  <a:ext uri="{FF2B5EF4-FFF2-40B4-BE49-F238E27FC236}">
                    <a16:creationId xmlns:a16="http://schemas.microsoft.com/office/drawing/2014/main" id="{4777FC4A-E3E4-4D2E-B0AB-EF5B93555E9D}"/>
                  </a:ext>
                </a:extLst>
              </p:cNvPr>
              <p:cNvSpPr/>
              <p:nvPr/>
            </p:nvSpPr>
            <p:spPr>
              <a:xfrm rot="21084094">
                <a:off x="6034496" y="5366731"/>
                <a:ext cx="1129093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" y="0"/>
                    </a:moveTo>
                    <a:lnTo>
                      <a:pt x="1862" y="26"/>
                    </a:lnTo>
                    <a:lnTo>
                      <a:pt x="0" y="21405"/>
                    </a:lnTo>
                    <a:lnTo>
                      <a:pt x="210" y="21600"/>
                    </a:lnTo>
                    <a:lnTo>
                      <a:pt x="21600" y="14000"/>
                    </a:lnTo>
                    <a:cubicBezTo>
                      <a:pt x="21600" y="14000"/>
                      <a:pt x="2009" y="0"/>
                      <a:pt x="2009" y="0"/>
                    </a:cubicBezTo>
                    <a:close/>
                  </a:path>
                </a:pathLst>
              </a:custGeom>
              <a:solidFill>
                <a:srgbClr val="010101">
                  <a:alpha val="1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88" name="Shape 8">
                <a:extLst>
                  <a:ext uri="{FF2B5EF4-FFF2-40B4-BE49-F238E27FC236}">
                    <a16:creationId xmlns:a16="http://schemas.microsoft.com/office/drawing/2014/main" id="{FF7F1775-C813-42B7-A793-B3626722907F}"/>
                  </a:ext>
                </a:extLst>
              </p:cNvPr>
              <p:cNvSpPr/>
              <p:nvPr/>
            </p:nvSpPr>
            <p:spPr>
              <a:xfrm rot="21084094">
                <a:off x="4612843" y="5407168"/>
                <a:ext cx="1487925" cy="2552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394" y="0"/>
                    </a:moveTo>
                    <a:lnTo>
                      <a:pt x="0" y="11191"/>
                    </a:lnTo>
                    <a:lnTo>
                      <a:pt x="5564" y="21600"/>
                    </a:lnTo>
                    <a:lnTo>
                      <a:pt x="21600" y="12040"/>
                    </a:lnTo>
                    <a:cubicBezTo>
                      <a:pt x="21600" y="12040"/>
                      <a:pt x="15394" y="0"/>
                      <a:pt x="15394" y="0"/>
                    </a:cubicBezTo>
                    <a:close/>
                  </a:path>
                </a:pathLst>
              </a:custGeom>
              <a:solidFill>
                <a:srgbClr val="7D8287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89" name="Shape 9">
                <a:extLst>
                  <a:ext uri="{FF2B5EF4-FFF2-40B4-BE49-F238E27FC236}">
                    <a16:creationId xmlns:a16="http://schemas.microsoft.com/office/drawing/2014/main" id="{D3AD414A-A858-462D-9ED8-108642C527E3}"/>
                  </a:ext>
                </a:extLst>
              </p:cNvPr>
              <p:cNvSpPr/>
              <p:nvPr/>
            </p:nvSpPr>
            <p:spPr>
              <a:xfrm rot="21084094">
                <a:off x="6115571" y="5316904"/>
                <a:ext cx="1426615" cy="4410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820" y="0"/>
                    </a:moveTo>
                    <a:lnTo>
                      <a:pt x="21600" y="21291"/>
                    </a:lnTo>
                    <a:lnTo>
                      <a:pt x="15506" y="21600"/>
                    </a:lnTo>
                    <a:lnTo>
                      <a:pt x="0" y="583"/>
                    </a:lnTo>
                    <a:cubicBezTo>
                      <a:pt x="0" y="583"/>
                      <a:pt x="6820" y="0"/>
                      <a:pt x="6820" y="0"/>
                    </a:cubicBezTo>
                    <a:close/>
                  </a:path>
                </a:pathLst>
              </a:custGeom>
              <a:solidFill>
                <a:srgbClr val="7D8287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3B3653C-3A1F-472B-A0B3-C21AED3D0BD4}"/>
                </a:ext>
              </a:extLst>
            </p:cNvPr>
            <p:cNvGrpSpPr/>
            <p:nvPr/>
          </p:nvGrpSpPr>
          <p:grpSpPr>
            <a:xfrm rot="973300">
              <a:off x="18126218" y="6384139"/>
              <a:ext cx="752102" cy="1060254"/>
              <a:chOff x="8069198" y="642783"/>
              <a:chExt cx="1998328" cy="2817088"/>
            </a:xfrm>
          </p:grpSpPr>
          <p:sp>
            <p:nvSpPr>
              <p:cNvPr id="74" name="Shape 22">
                <a:extLst>
                  <a:ext uri="{FF2B5EF4-FFF2-40B4-BE49-F238E27FC236}">
                    <a16:creationId xmlns:a16="http://schemas.microsoft.com/office/drawing/2014/main" id="{5B71FCAA-21E9-4D07-B340-7E9504BC9FEA}"/>
                  </a:ext>
                </a:extLst>
              </p:cNvPr>
              <p:cNvSpPr/>
              <p:nvPr/>
            </p:nvSpPr>
            <p:spPr>
              <a:xfrm>
                <a:off x="8069198" y="642783"/>
                <a:ext cx="1998328" cy="2817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463" y="0"/>
                    </a:moveTo>
                    <a:lnTo>
                      <a:pt x="17137" y="0"/>
                    </a:lnTo>
                    <a:cubicBezTo>
                      <a:pt x="19592" y="0"/>
                      <a:pt x="21600" y="1018"/>
                      <a:pt x="21600" y="2264"/>
                    </a:cubicBezTo>
                    <a:lnTo>
                      <a:pt x="21600" y="19336"/>
                    </a:lnTo>
                    <a:cubicBezTo>
                      <a:pt x="21600" y="20581"/>
                      <a:pt x="19592" y="21600"/>
                      <a:pt x="17137" y="21600"/>
                    </a:cubicBezTo>
                    <a:lnTo>
                      <a:pt x="4463" y="21600"/>
                    </a:lnTo>
                    <a:cubicBezTo>
                      <a:pt x="2008" y="21600"/>
                      <a:pt x="0" y="20581"/>
                      <a:pt x="0" y="19336"/>
                    </a:cubicBezTo>
                    <a:lnTo>
                      <a:pt x="0" y="2264"/>
                    </a:lnTo>
                    <a:cubicBezTo>
                      <a:pt x="0" y="1018"/>
                      <a:pt x="2008" y="0"/>
                      <a:pt x="4463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75" name="Shape 23">
                <a:extLst>
                  <a:ext uri="{FF2B5EF4-FFF2-40B4-BE49-F238E27FC236}">
                    <a16:creationId xmlns:a16="http://schemas.microsoft.com/office/drawing/2014/main" id="{D86AF31E-76A7-4544-BC2C-600C67AC285F}"/>
                  </a:ext>
                </a:extLst>
              </p:cNvPr>
              <p:cNvSpPr/>
              <p:nvPr/>
            </p:nvSpPr>
            <p:spPr>
              <a:xfrm>
                <a:off x="8193940" y="937623"/>
                <a:ext cx="1754183" cy="226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6" y="0"/>
                    </a:moveTo>
                    <a:lnTo>
                      <a:pt x="21524" y="0"/>
                    </a:lnTo>
                    <a:cubicBezTo>
                      <a:pt x="21566" y="0"/>
                      <a:pt x="21600" y="18"/>
                      <a:pt x="21600" y="38"/>
                    </a:cubicBezTo>
                    <a:lnTo>
                      <a:pt x="21600" y="21562"/>
                    </a:lnTo>
                    <a:cubicBezTo>
                      <a:pt x="21600" y="21583"/>
                      <a:pt x="21566" y="21600"/>
                      <a:pt x="21524" y="21600"/>
                    </a:cubicBezTo>
                    <a:lnTo>
                      <a:pt x="76" y="21600"/>
                    </a:lnTo>
                    <a:cubicBezTo>
                      <a:pt x="34" y="21600"/>
                      <a:pt x="0" y="21583"/>
                      <a:pt x="0" y="21562"/>
                    </a:cubicBezTo>
                    <a:lnTo>
                      <a:pt x="0" y="38"/>
                    </a:lnTo>
                    <a:cubicBezTo>
                      <a:pt x="0" y="18"/>
                      <a:pt x="34" y="0"/>
                      <a:pt x="76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76" name="Shape 24">
                <a:extLst>
                  <a:ext uri="{FF2B5EF4-FFF2-40B4-BE49-F238E27FC236}">
                    <a16:creationId xmlns:a16="http://schemas.microsoft.com/office/drawing/2014/main" id="{64415102-EBF6-439E-83F0-41485AF1211A}"/>
                  </a:ext>
                </a:extLst>
              </p:cNvPr>
              <p:cNvSpPr/>
              <p:nvPr/>
            </p:nvSpPr>
            <p:spPr>
              <a:xfrm>
                <a:off x="8851659" y="744842"/>
                <a:ext cx="476056" cy="427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71" y="0"/>
                    </a:moveTo>
                    <a:lnTo>
                      <a:pt x="20629" y="0"/>
                    </a:lnTo>
                    <a:cubicBezTo>
                      <a:pt x="21164" y="0"/>
                      <a:pt x="21600" y="4826"/>
                      <a:pt x="21600" y="10785"/>
                    </a:cubicBezTo>
                    <a:lnTo>
                      <a:pt x="21600" y="10785"/>
                    </a:lnTo>
                    <a:cubicBezTo>
                      <a:pt x="21600" y="16745"/>
                      <a:pt x="21164" y="21600"/>
                      <a:pt x="20629" y="21600"/>
                    </a:cubicBezTo>
                    <a:lnTo>
                      <a:pt x="971" y="21600"/>
                    </a:lnTo>
                    <a:cubicBezTo>
                      <a:pt x="436" y="21600"/>
                      <a:pt x="0" y="16745"/>
                      <a:pt x="0" y="10785"/>
                    </a:cubicBezTo>
                    <a:lnTo>
                      <a:pt x="0" y="10785"/>
                    </a:lnTo>
                    <a:cubicBezTo>
                      <a:pt x="0" y="4826"/>
                      <a:pt x="436" y="0"/>
                      <a:pt x="971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77" name="Shape 25">
                <a:extLst>
                  <a:ext uri="{FF2B5EF4-FFF2-40B4-BE49-F238E27FC236}">
                    <a16:creationId xmlns:a16="http://schemas.microsoft.com/office/drawing/2014/main" id="{332151E3-24DF-41BD-8535-E2FE5D6701E5}"/>
                  </a:ext>
                </a:extLst>
              </p:cNvPr>
              <p:cNvSpPr/>
              <p:nvPr/>
            </p:nvSpPr>
            <p:spPr>
              <a:xfrm>
                <a:off x="8999080" y="3250980"/>
                <a:ext cx="144391" cy="1444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5" y="0"/>
                    </a:moveTo>
                    <a:cubicBezTo>
                      <a:pt x="16765" y="0"/>
                      <a:pt x="21600" y="4833"/>
                      <a:pt x="21600" y="10800"/>
                    </a:cubicBezTo>
                    <a:cubicBezTo>
                      <a:pt x="21600" y="16759"/>
                      <a:pt x="16765" y="21600"/>
                      <a:pt x="10795" y="21600"/>
                    </a:cubicBezTo>
                    <a:cubicBezTo>
                      <a:pt x="4826" y="21600"/>
                      <a:pt x="0" y="16759"/>
                      <a:pt x="0" y="10800"/>
                    </a:cubicBezTo>
                    <a:cubicBezTo>
                      <a:pt x="0" y="4833"/>
                      <a:pt x="4826" y="0"/>
                      <a:pt x="10795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78" name="Shape 26">
                <a:extLst>
                  <a:ext uri="{FF2B5EF4-FFF2-40B4-BE49-F238E27FC236}">
                    <a16:creationId xmlns:a16="http://schemas.microsoft.com/office/drawing/2014/main" id="{ECA33080-6E2B-453B-B6E0-CCED18C35FE8}"/>
                  </a:ext>
                </a:extLst>
              </p:cNvPr>
              <p:cNvSpPr/>
              <p:nvPr/>
            </p:nvSpPr>
            <p:spPr>
              <a:xfrm>
                <a:off x="8386721" y="1969563"/>
                <a:ext cx="314328" cy="958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79" name="Shape 27">
                <a:extLst>
                  <a:ext uri="{FF2B5EF4-FFF2-40B4-BE49-F238E27FC236}">
                    <a16:creationId xmlns:a16="http://schemas.microsoft.com/office/drawing/2014/main" id="{64BD861C-3F2D-4601-AE12-93AA21630448}"/>
                  </a:ext>
                </a:extLst>
              </p:cNvPr>
              <p:cNvSpPr/>
              <p:nvPr/>
            </p:nvSpPr>
            <p:spPr>
              <a:xfrm>
                <a:off x="8749600" y="2196364"/>
                <a:ext cx="314250" cy="7369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6C83C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80" name="Shape 28">
                <a:extLst>
                  <a:ext uri="{FF2B5EF4-FFF2-40B4-BE49-F238E27FC236}">
                    <a16:creationId xmlns:a16="http://schemas.microsoft.com/office/drawing/2014/main" id="{F9AE26C1-0037-4C4D-9C47-6BC2E257FB5A}"/>
                  </a:ext>
                </a:extLst>
              </p:cNvPr>
              <p:cNvSpPr/>
              <p:nvPr/>
            </p:nvSpPr>
            <p:spPr>
              <a:xfrm>
                <a:off x="9112479" y="2445840"/>
                <a:ext cx="314328" cy="4873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81" name="Shape 29">
                <a:extLst>
                  <a:ext uri="{FF2B5EF4-FFF2-40B4-BE49-F238E27FC236}">
                    <a16:creationId xmlns:a16="http://schemas.microsoft.com/office/drawing/2014/main" id="{636F71C0-8D3E-4CA1-9F91-AA9A7D7F2FDB}"/>
                  </a:ext>
                </a:extLst>
              </p:cNvPr>
              <p:cNvSpPr/>
              <p:nvPr/>
            </p:nvSpPr>
            <p:spPr>
              <a:xfrm>
                <a:off x="9475361" y="2207703"/>
                <a:ext cx="314328" cy="7158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82" name="Shape 30">
                <a:extLst>
                  <a:ext uri="{FF2B5EF4-FFF2-40B4-BE49-F238E27FC236}">
                    <a16:creationId xmlns:a16="http://schemas.microsoft.com/office/drawing/2014/main" id="{5EE45A0A-4009-4DE0-A9C9-3235994F1ED5}"/>
                  </a:ext>
                </a:extLst>
              </p:cNvPr>
              <p:cNvSpPr/>
              <p:nvPr/>
            </p:nvSpPr>
            <p:spPr>
              <a:xfrm>
                <a:off x="8386721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83" name="Shape 31">
                <a:extLst>
                  <a:ext uri="{FF2B5EF4-FFF2-40B4-BE49-F238E27FC236}">
                    <a16:creationId xmlns:a16="http://schemas.microsoft.com/office/drawing/2014/main" id="{98D7990D-A90E-4325-9996-C4E5EE814051}"/>
                  </a:ext>
                </a:extLst>
              </p:cNvPr>
              <p:cNvSpPr/>
              <p:nvPr/>
            </p:nvSpPr>
            <p:spPr>
              <a:xfrm>
                <a:off x="8386721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84" name="Shape 32">
                <a:extLst>
                  <a:ext uri="{FF2B5EF4-FFF2-40B4-BE49-F238E27FC236}">
                    <a16:creationId xmlns:a16="http://schemas.microsoft.com/office/drawing/2014/main" id="{12BBA895-78C8-49CF-8B15-AE6238AC44A2}"/>
                  </a:ext>
                </a:extLst>
              </p:cNvPr>
              <p:cNvSpPr/>
              <p:nvPr/>
            </p:nvSpPr>
            <p:spPr>
              <a:xfrm>
                <a:off x="9157842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85" name="Shape 33">
                <a:extLst>
                  <a:ext uri="{FF2B5EF4-FFF2-40B4-BE49-F238E27FC236}">
                    <a16:creationId xmlns:a16="http://schemas.microsoft.com/office/drawing/2014/main" id="{D544CA97-4293-4A05-B188-66D9C72F4D91}"/>
                  </a:ext>
                </a:extLst>
              </p:cNvPr>
              <p:cNvSpPr/>
              <p:nvPr/>
            </p:nvSpPr>
            <p:spPr>
              <a:xfrm>
                <a:off x="9157842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94AF60A-A86B-4A67-99BB-1C86A8E32DB5}"/>
                </a:ext>
              </a:extLst>
            </p:cNvPr>
            <p:cNvGrpSpPr/>
            <p:nvPr/>
          </p:nvGrpSpPr>
          <p:grpSpPr>
            <a:xfrm rot="733196">
              <a:off x="17436324" y="6162283"/>
              <a:ext cx="841256" cy="952478"/>
              <a:chOff x="2197689" y="5658698"/>
              <a:chExt cx="654706" cy="741278"/>
            </a:xfrm>
          </p:grpSpPr>
          <p:sp>
            <p:nvSpPr>
              <p:cNvPr id="68" name="Shape 15">
                <a:extLst>
                  <a:ext uri="{FF2B5EF4-FFF2-40B4-BE49-F238E27FC236}">
                    <a16:creationId xmlns:a16="http://schemas.microsoft.com/office/drawing/2014/main" id="{BB50CF47-280A-4BEE-AA58-E530B0C43B00}"/>
                  </a:ext>
                </a:extLst>
              </p:cNvPr>
              <p:cNvSpPr/>
              <p:nvPr/>
            </p:nvSpPr>
            <p:spPr>
              <a:xfrm>
                <a:off x="2235340" y="5917554"/>
                <a:ext cx="41739" cy="21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D6D6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69" name="Shape 29">
                <a:extLst>
                  <a:ext uri="{FF2B5EF4-FFF2-40B4-BE49-F238E27FC236}">
                    <a16:creationId xmlns:a16="http://schemas.microsoft.com/office/drawing/2014/main" id="{8D6B3B69-B6A7-4976-9A9F-432E0DAD600F}"/>
                  </a:ext>
                </a:extLst>
              </p:cNvPr>
              <p:cNvSpPr/>
              <p:nvPr/>
            </p:nvSpPr>
            <p:spPr>
              <a:xfrm>
                <a:off x="2197689" y="5658698"/>
                <a:ext cx="654706" cy="741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94" h="21329" extrusionOk="0">
                    <a:moveTo>
                      <a:pt x="1121" y="3116"/>
                    </a:moveTo>
                    <a:lnTo>
                      <a:pt x="15042" y="39"/>
                    </a:lnTo>
                    <a:cubicBezTo>
                      <a:pt x="15831" y="-135"/>
                      <a:pt x="16638" y="294"/>
                      <a:pt x="16835" y="992"/>
                    </a:cubicBezTo>
                    <a:lnTo>
                      <a:pt x="21250" y="16628"/>
                    </a:lnTo>
                    <a:cubicBezTo>
                      <a:pt x="21447" y="17326"/>
                      <a:pt x="20963" y="18040"/>
                      <a:pt x="20173" y="18214"/>
                    </a:cubicBezTo>
                    <a:lnTo>
                      <a:pt x="6253" y="21290"/>
                    </a:lnTo>
                    <a:cubicBezTo>
                      <a:pt x="5463" y="21465"/>
                      <a:pt x="4656" y="21036"/>
                      <a:pt x="4459" y="20338"/>
                    </a:cubicBezTo>
                    <a:lnTo>
                      <a:pt x="44" y="4702"/>
                    </a:lnTo>
                    <a:cubicBezTo>
                      <a:pt x="-153" y="4004"/>
                      <a:pt x="331" y="3290"/>
                      <a:pt x="1121" y="3116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70" name="Shape 31">
                <a:extLst>
                  <a:ext uri="{FF2B5EF4-FFF2-40B4-BE49-F238E27FC236}">
                    <a16:creationId xmlns:a16="http://schemas.microsoft.com/office/drawing/2014/main" id="{4D96BBEA-3073-41F3-B63D-449B55053670}"/>
                  </a:ext>
                </a:extLst>
              </p:cNvPr>
              <p:cNvSpPr/>
              <p:nvPr/>
            </p:nvSpPr>
            <p:spPr>
              <a:xfrm>
                <a:off x="2677749" y="6049335"/>
                <a:ext cx="114998" cy="116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8" h="20818" extrusionOk="0">
                    <a:moveTo>
                      <a:pt x="2900" y="2688"/>
                    </a:moveTo>
                    <a:lnTo>
                      <a:pt x="13346" y="112"/>
                    </a:lnTo>
                    <a:cubicBezTo>
                      <a:pt x="15391" y="-391"/>
                      <a:pt x="17479" y="846"/>
                      <a:pt x="17989" y="2864"/>
                    </a:cubicBezTo>
                    <a:lnTo>
                      <a:pt x="20694" y="13548"/>
                    </a:lnTo>
                    <a:cubicBezTo>
                      <a:pt x="21204" y="15564"/>
                      <a:pt x="19951" y="17627"/>
                      <a:pt x="17908" y="18130"/>
                    </a:cubicBezTo>
                    <a:lnTo>
                      <a:pt x="7462" y="20706"/>
                    </a:lnTo>
                    <a:cubicBezTo>
                      <a:pt x="5417" y="21209"/>
                      <a:pt x="3329" y="19972"/>
                      <a:pt x="2819" y="17954"/>
                    </a:cubicBezTo>
                    <a:lnTo>
                      <a:pt x="114" y="7270"/>
                    </a:lnTo>
                    <a:cubicBezTo>
                      <a:pt x="-396" y="5254"/>
                      <a:pt x="857" y="3191"/>
                      <a:pt x="2900" y="2688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71" name="Freeform 58">
                <a:extLst>
                  <a:ext uri="{FF2B5EF4-FFF2-40B4-BE49-F238E27FC236}">
                    <a16:creationId xmlns:a16="http://schemas.microsoft.com/office/drawing/2014/main" id="{C0504670-4B05-454E-8991-933BF87C3746}"/>
                  </a:ext>
                </a:extLst>
              </p:cNvPr>
              <p:cNvSpPr/>
              <p:nvPr/>
            </p:nvSpPr>
            <p:spPr>
              <a:xfrm>
                <a:off x="2232985" y="5696350"/>
                <a:ext cx="531535" cy="671941"/>
              </a:xfrm>
              <a:custGeom>
                <a:avLst/>
                <a:gdLst>
                  <a:gd name="connsiteX0" fmla="*/ 191432 w 531535"/>
                  <a:gd name="connsiteY0" fmla="*/ 555990 h 671941"/>
                  <a:gd name="connsiteX1" fmla="*/ 217089 w 531535"/>
                  <a:gd name="connsiteY1" fmla="*/ 571402 h 671941"/>
                  <a:gd name="connsiteX2" fmla="*/ 232030 w 531535"/>
                  <a:gd name="connsiteY2" fmla="*/ 631235 h 671941"/>
                  <a:gd name="connsiteX3" fmla="*/ 216631 w 531535"/>
                  <a:gd name="connsiteY3" fmla="*/ 656895 h 671941"/>
                  <a:gd name="connsiteX4" fmla="*/ 158898 w 531535"/>
                  <a:gd name="connsiteY4" fmla="*/ 671309 h 671941"/>
                  <a:gd name="connsiteX5" fmla="*/ 133251 w 531535"/>
                  <a:gd name="connsiteY5" fmla="*/ 655909 h 671941"/>
                  <a:gd name="connsiteX6" fmla="*/ 118300 w 531535"/>
                  <a:gd name="connsiteY6" fmla="*/ 596077 h 671941"/>
                  <a:gd name="connsiteX7" fmla="*/ 133699 w 531535"/>
                  <a:gd name="connsiteY7" fmla="*/ 570417 h 671941"/>
                  <a:gd name="connsiteX8" fmla="*/ 309085 w 531535"/>
                  <a:gd name="connsiteY8" fmla="*/ 527758 h 671941"/>
                  <a:gd name="connsiteX9" fmla="*/ 334746 w 531535"/>
                  <a:gd name="connsiteY9" fmla="*/ 543158 h 671941"/>
                  <a:gd name="connsiteX10" fmla="*/ 349696 w 531535"/>
                  <a:gd name="connsiteY10" fmla="*/ 602990 h 671941"/>
                  <a:gd name="connsiteX11" fmla="*/ 334298 w 531535"/>
                  <a:gd name="connsiteY11" fmla="*/ 628650 h 671941"/>
                  <a:gd name="connsiteX12" fmla="*/ 276555 w 531535"/>
                  <a:gd name="connsiteY12" fmla="*/ 643076 h 671941"/>
                  <a:gd name="connsiteX13" fmla="*/ 250900 w 531535"/>
                  <a:gd name="connsiteY13" fmla="*/ 627664 h 671941"/>
                  <a:gd name="connsiteX14" fmla="*/ 235956 w 531535"/>
                  <a:gd name="connsiteY14" fmla="*/ 567833 h 671941"/>
                  <a:gd name="connsiteX15" fmla="*/ 251353 w 531535"/>
                  <a:gd name="connsiteY15" fmla="*/ 542173 h 671941"/>
                  <a:gd name="connsiteX16" fmla="*/ 429100 w 531535"/>
                  <a:gd name="connsiteY16" fmla="*/ 497165 h 671941"/>
                  <a:gd name="connsiteX17" fmla="*/ 454760 w 531535"/>
                  <a:gd name="connsiteY17" fmla="*/ 512566 h 671941"/>
                  <a:gd name="connsiteX18" fmla="*/ 469710 w 531535"/>
                  <a:gd name="connsiteY18" fmla="*/ 572398 h 671941"/>
                  <a:gd name="connsiteX19" fmla="*/ 454313 w 531535"/>
                  <a:gd name="connsiteY19" fmla="*/ 598064 h 671941"/>
                  <a:gd name="connsiteX20" fmla="*/ 396581 w 531535"/>
                  <a:gd name="connsiteY20" fmla="*/ 612484 h 671941"/>
                  <a:gd name="connsiteX21" fmla="*/ 370921 w 531535"/>
                  <a:gd name="connsiteY21" fmla="*/ 597084 h 671941"/>
                  <a:gd name="connsiteX22" fmla="*/ 355971 w 531535"/>
                  <a:gd name="connsiteY22" fmla="*/ 537240 h 671941"/>
                  <a:gd name="connsiteX23" fmla="*/ 371368 w 531535"/>
                  <a:gd name="connsiteY23" fmla="*/ 511591 h 671941"/>
                  <a:gd name="connsiteX24" fmla="*/ 163192 w 531535"/>
                  <a:gd name="connsiteY24" fmla="*/ 443041 h 671941"/>
                  <a:gd name="connsiteX25" fmla="*/ 188856 w 531535"/>
                  <a:gd name="connsiteY25" fmla="*/ 458441 h 671941"/>
                  <a:gd name="connsiteX26" fmla="*/ 203796 w 531535"/>
                  <a:gd name="connsiteY26" fmla="*/ 518273 h 671941"/>
                  <a:gd name="connsiteX27" fmla="*/ 188397 w 531535"/>
                  <a:gd name="connsiteY27" fmla="*/ 543933 h 671941"/>
                  <a:gd name="connsiteX28" fmla="*/ 130664 w 531535"/>
                  <a:gd name="connsiteY28" fmla="*/ 558359 h 671941"/>
                  <a:gd name="connsiteX29" fmla="*/ 105006 w 531535"/>
                  <a:gd name="connsiteY29" fmla="*/ 542947 h 671941"/>
                  <a:gd name="connsiteX30" fmla="*/ 90055 w 531535"/>
                  <a:gd name="connsiteY30" fmla="*/ 483115 h 671941"/>
                  <a:gd name="connsiteX31" fmla="*/ 105454 w 531535"/>
                  <a:gd name="connsiteY31" fmla="*/ 457455 h 671941"/>
                  <a:gd name="connsiteX32" fmla="*/ 280860 w 531535"/>
                  <a:gd name="connsiteY32" fmla="*/ 412449 h 671941"/>
                  <a:gd name="connsiteX33" fmla="*/ 306518 w 531535"/>
                  <a:gd name="connsiteY33" fmla="*/ 427849 h 671941"/>
                  <a:gd name="connsiteX34" fmla="*/ 321469 w 531535"/>
                  <a:gd name="connsiteY34" fmla="*/ 487692 h 671941"/>
                  <a:gd name="connsiteX35" fmla="*/ 306059 w 531535"/>
                  <a:gd name="connsiteY35" fmla="*/ 513347 h 671941"/>
                  <a:gd name="connsiteX36" fmla="*/ 248326 w 531535"/>
                  <a:gd name="connsiteY36" fmla="*/ 527767 h 671941"/>
                  <a:gd name="connsiteX37" fmla="*/ 222668 w 531535"/>
                  <a:gd name="connsiteY37" fmla="*/ 512367 h 671941"/>
                  <a:gd name="connsiteX38" fmla="*/ 207717 w 531535"/>
                  <a:gd name="connsiteY38" fmla="*/ 452523 h 671941"/>
                  <a:gd name="connsiteX39" fmla="*/ 223127 w 531535"/>
                  <a:gd name="connsiteY39" fmla="*/ 426875 h 671941"/>
                  <a:gd name="connsiteX40" fmla="*/ 398514 w 531535"/>
                  <a:gd name="connsiteY40" fmla="*/ 381851 h 671941"/>
                  <a:gd name="connsiteX41" fmla="*/ 424170 w 531535"/>
                  <a:gd name="connsiteY41" fmla="*/ 397250 h 671941"/>
                  <a:gd name="connsiteX42" fmla="*/ 439121 w 531535"/>
                  <a:gd name="connsiteY42" fmla="*/ 457094 h 671941"/>
                  <a:gd name="connsiteX43" fmla="*/ 423712 w 531535"/>
                  <a:gd name="connsiteY43" fmla="*/ 482752 h 671941"/>
                  <a:gd name="connsiteX44" fmla="*/ 365981 w 531535"/>
                  <a:gd name="connsiteY44" fmla="*/ 497172 h 671941"/>
                  <a:gd name="connsiteX45" fmla="*/ 340324 w 531535"/>
                  <a:gd name="connsiteY45" fmla="*/ 481772 h 671941"/>
                  <a:gd name="connsiteX46" fmla="*/ 325384 w 531535"/>
                  <a:gd name="connsiteY46" fmla="*/ 421939 h 671941"/>
                  <a:gd name="connsiteX47" fmla="*/ 340783 w 531535"/>
                  <a:gd name="connsiteY47" fmla="*/ 396276 h 671941"/>
                  <a:gd name="connsiteX48" fmla="*/ 398514 w 531535"/>
                  <a:gd name="connsiteY48" fmla="*/ 381851 h 671941"/>
                  <a:gd name="connsiteX49" fmla="*/ 132600 w 531535"/>
                  <a:gd name="connsiteY49" fmla="*/ 327726 h 671941"/>
                  <a:gd name="connsiteX50" fmla="*/ 158258 w 531535"/>
                  <a:gd name="connsiteY50" fmla="*/ 343125 h 671941"/>
                  <a:gd name="connsiteX51" fmla="*/ 173209 w 531535"/>
                  <a:gd name="connsiteY51" fmla="*/ 402970 h 671941"/>
                  <a:gd name="connsiteX52" fmla="*/ 157799 w 531535"/>
                  <a:gd name="connsiteY52" fmla="*/ 428628 h 671941"/>
                  <a:gd name="connsiteX53" fmla="*/ 100067 w 531535"/>
                  <a:gd name="connsiteY53" fmla="*/ 443053 h 671941"/>
                  <a:gd name="connsiteX54" fmla="*/ 74409 w 531535"/>
                  <a:gd name="connsiteY54" fmla="*/ 427648 h 671941"/>
                  <a:gd name="connsiteX55" fmla="*/ 59469 w 531535"/>
                  <a:gd name="connsiteY55" fmla="*/ 367814 h 671941"/>
                  <a:gd name="connsiteX56" fmla="*/ 74868 w 531535"/>
                  <a:gd name="connsiteY56" fmla="*/ 342151 h 671941"/>
                  <a:gd name="connsiteX57" fmla="*/ 252606 w 531535"/>
                  <a:gd name="connsiteY57" fmla="*/ 297134 h 671941"/>
                  <a:gd name="connsiteX58" fmla="*/ 278266 w 531535"/>
                  <a:gd name="connsiteY58" fmla="*/ 312535 h 671941"/>
                  <a:gd name="connsiteX59" fmla="*/ 293216 w 531535"/>
                  <a:gd name="connsiteY59" fmla="*/ 372378 h 671941"/>
                  <a:gd name="connsiteX60" fmla="*/ 277819 w 531535"/>
                  <a:gd name="connsiteY60" fmla="*/ 398038 h 671941"/>
                  <a:gd name="connsiteX61" fmla="*/ 220077 w 531535"/>
                  <a:gd name="connsiteY61" fmla="*/ 412465 h 671941"/>
                  <a:gd name="connsiteX62" fmla="*/ 194427 w 531535"/>
                  <a:gd name="connsiteY62" fmla="*/ 397053 h 671941"/>
                  <a:gd name="connsiteX63" fmla="*/ 179478 w 531535"/>
                  <a:gd name="connsiteY63" fmla="*/ 337220 h 671941"/>
                  <a:gd name="connsiteX64" fmla="*/ 194875 w 531535"/>
                  <a:gd name="connsiteY64" fmla="*/ 311560 h 671941"/>
                  <a:gd name="connsiteX65" fmla="*/ 370280 w 531535"/>
                  <a:gd name="connsiteY65" fmla="*/ 266542 h 671941"/>
                  <a:gd name="connsiteX66" fmla="*/ 395937 w 531535"/>
                  <a:gd name="connsiteY66" fmla="*/ 281942 h 671941"/>
                  <a:gd name="connsiteX67" fmla="*/ 410877 w 531535"/>
                  <a:gd name="connsiteY67" fmla="*/ 341786 h 671941"/>
                  <a:gd name="connsiteX68" fmla="*/ 395478 w 531535"/>
                  <a:gd name="connsiteY68" fmla="*/ 367446 h 671941"/>
                  <a:gd name="connsiteX69" fmla="*/ 337742 w 531535"/>
                  <a:gd name="connsiteY69" fmla="*/ 381872 h 671941"/>
                  <a:gd name="connsiteX70" fmla="*/ 312091 w 531535"/>
                  <a:gd name="connsiteY70" fmla="*/ 366471 h 671941"/>
                  <a:gd name="connsiteX71" fmla="*/ 297140 w 531535"/>
                  <a:gd name="connsiteY71" fmla="*/ 306628 h 671941"/>
                  <a:gd name="connsiteX72" fmla="*/ 312538 w 531535"/>
                  <a:gd name="connsiteY72" fmla="*/ 280968 h 671941"/>
                  <a:gd name="connsiteX73" fmla="*/ 490298 w 531535"/>
                  <a:gd name="connsiteY73" fmla="*/ 238303 h 671941"/>
                  <a:gd name="connsiteX74" fmla="*/ 515956 w 531535"/>
                  <a:gd name="connsiteY74" fmla="*/ 253708 h 671941"/>
                  <a:gd name="connsiteX75" fmla="*/ 530908 w 531535"/>
                  <a:gd name="connsiteY75" fmla="*/ 313542 h 671941"/>
                  <a:gd name="connsiteX76" fmla="*/ 515497 w 531535"/>
                  <a:gd name="connsiteY76" fmla="*/ 339206 h 671941"/>
                  <a:gd name="connsiteX77" fmla="*/ 457770 w 531535"/>
                  <a:gd name="connsiteY77" fmla="*/ 353631 h 671941"/>
                  <a:gd name="connsiteX78" fmla="*/ 432107 w 531535"/>
                  <a:gd name="connsiteY78" fmla="*/ 338226 h 671941"/>
                  <a:gd name="connsiteX79" fmla="*/ 417155 w 531535"/>
                  <a:gd name="connsiteY79" fmla="*/ 278386 h 671941"/>
                  <a:gd name="connsiteX80" fmla="*/ 432565 w 531535"/>
                  <a:gd name="connsiteY80" fmla="*/ 252728 h 671941"/>
                  <a:gd name="connsiteX81" fmla="*/ 104367 w 531535"/>
                  <a:gd name="connsiteY81" fmla="*/ 212418 h 671941"/>
                  <a:gd name="connsiteX82" fmla="*/ 130025 w 531535"/>
                  <a:gd name="connsiteY82" fmla="*/ 227819 h 671941"/>
                  <a:gd name="connsiteX83" fmla="*/ 144965 w 531535"/>
                  <a:gd name="connsiteY83" fmla="*/ 287662 h 671941"/>
                  <a:gd name="connsiteX84" fmla="*/ 129566 w 531535"/>
                  <a:gd name="connsiteY84" fmla="*/ 313322 h 671941"/>
                  <a:gd name="connsiteX85" fmla="*/ 71833 w 531535"/>
                  <a:gd name="connsiteY85" fmla="*/ 327749 h 671941"/>
                  <a:gd name="connsiteX86" fmla="*/ 46175 w 531535"/>
                  <a:gd name="connsiteY86" fmla="*/ 312348 h 671941"/>
                  <a:gd name="connsiteX87" fmla="*/ 31224 w 531535"/>
                  <a:gd name="connsiteY87" fmla="*/ 252504 h 671941"/>
                  <a:gd name="connsiteX88" fmla="*/ 46623 w 531535"/>
                  <a:gd name="connsiteY88" fmla="*/ 226844 h 671941"/>
                  <a:gd name="connsiteX89" fmla="*/ 222023 w 531535"/>
                  <a:gd name="connsiteY89" fmla="*/ 181826 h 671941"/>
                  <a:gd name="connsiteX90" fmla="*/ 247681 w 531535"/>
                  <a:gd name="connsiteY90" fmla="*/ 197226 h 671941"/>
                  <a:gd name="connsiteX91" fmla="*/ 262632 w 531535"/>
                  <a:gd name="connsiteY91" fmla="*/ 257069 h 671941"/>
                  <a:gd name="connsiteX92" fmla="*/ 247222 w 531535"/>
                  <a:gd name="connsiteY92" fmla="*/ 282729 h 671941"/>
                  <a:gd name="connsiteX93" fmla="*/ 189490 w 531535"/>
                  <a:gd name="connsiteY93" fmla="*/ 297155 h 671941"/>
                  <a:gd name="connsiteX94" fmla="*/ 163832 w 531535"/>
                  <a:gd name="connsiteY94" fmla="*/ 281754 h 671941"/>
                  <a:gd name="connsiteX95" fmla="*/ 148892 w 531535"/>
                  <a:gd name="connsiteY95" fmla="*/ 221912 h 671941"/>
                  <a:gd name="connsiteX96" fmla="*/ 164280 w 531535"/>
                  <a:gd name="connsiteY96" fmla="*/ 196252 h 671941"/>
                  <a:gd name="connsiteX97" fmla="*/ 342030 w 531535"/>
                  <a:gd name="connsiteY97" fmla="*/ 153587 h 671941"/>
                  <a:gd name="connsiteX98" fmla="*/ 367691 w 531535"/>
                  <a:gd name="connsiteY98" fmla="*/ 168986 h 671941"/>
                  <a:gd name="connsiteX99" fmla="*/ 382641 w 531535"/>
                  <a:gd name="connsiteY99" fmla="*/ 228820 h 671941"/>
                  <a:gd name="connsiteX100" fmla="*/ 367244 w 531535"/>
                  <a:gd name="connsiteY100" fmla="*/ 254484 h 671941"/>
                  <a:gd name="connsiteX101" fmla="*/ 309500 w 531535"/>
                  <a:gd name="connsiteY101" fmla="*/ 268909 h 671941"/>
                  <a:gd name="connsiteX102" fmla="*/ 283840 w 531535"/>
                  <a:gd name="connsiteY102" fmla="*/ 253504 h 671941"/>
                  <a:gd name="connsiteX103" fmla="*/ 268901 w 531535"/>
                  <a:gd name="connsiteY103" fmla="*/ 193664 h 671941"/>
                  <a:gd name="connsiteX104" fmla="*/ 284298 w 531535"/>
                  <a:gd name="connsiteY104" fmla="*/ 168001 h 671941"/>
                  <a:gd name="connsiteX105" fmla="*/ 459703 w 531535"/>
                  <a:gd name="connsiteY105" fmla="*/ 122995 h 671941"/>
                  <a:gd name="connsiteX106" fmla="*/ 485352 w 531535"/>
                  <a:gd name="connsiteY106" fmla="*/ 138401 h 671941"/>
                  <a:gd name="connsiteX107" fmla="*/ 500302 w 531535"/>
                  <a:gd name="connsiteY107" fmla="*/ 198245 h 671941"/>
                  <a:gd name="connsiteX108" fmla="*/ 484905 w 531535"/>
                  <a:gd name="connsiteY108" fmla="*/ 223905 h 671941"/>
                  <a:gd name="connsiteX109" fmla="*/ 427173 w 531535"/>
                  <a:gd name="connsiteY109" fmla="*/ 238320 h 671941"/>
                  <a:gd name="connsiteX110" fmla="*/ 401513 w 531535"/>
                  <a:gd name="connsiteY110" fmla="*/ 222919 h 671941"/>
                  <a:gd name="connsiteX111" fmla="*/ 386563 w 531535"/>
                  <a:gd name="connsiteY111" fmla="*/ 163081 h 671941"/>
                  <a:gd name="connsiteX112" fmla="*/ 401960 w 531535"/>
                  <a:gd name="connsiteY112" fmla="*/ 137415 h 671941"/>
                  <a:gd name="connsiteX113" fmla="*/ 427557 w 531535"/>
                  <a:gd name="connsiteY113" fmla="*/ 677 h 671941"/>
                  <a:gd name="connsiteX114" fmla="*/ 455346 w 531535"/>
                  <a:gd name="connsiteY114" fmla="*/ 17360 h 671941"/>
                  <a:gd name="connsiteX115" fmla="*/ 470960 w 531535"/>
                  <a:gd name="connsiteY115" fmla="*/ 79861 h 671941"/>
                  <a:gd name="connsiteX116" fmla="*/ 454287 w 531535"/>
                  <a:gd name="connsiteY116" fmla="*/ 107629 h 671941"/>
                  <a:gd name="connsiteX117" fmla="*/ 44068 w 531535"/>
                  <a:gd name="connsiteY117" fmla="*/ 210101 h 671941"/>
                  <a:gd name="connsiteX118" fmla="*/ 16278 w 531535"/>
                  <a:gd name="connsiteY118" fmla="*/ 193428 h 671941"/>
                  <a:gd name="connsiteX119" fmla="*/ 686 w 531535"/>
                  <a:gd name="connsiteY119" fmla="*/ 130927 h 671941"/>
                  <a:gd name="connsiteX120" fmla="*/ 17359 w 531535"/>
                  <a:gd name="connsiteY120" fmla="*/ 103159 h 671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531535" h="671941">
                    <a:moveTo>
                      <a:pt x="191432" y="555990"/>
                    </a:moveTo>
                    <a:cubicBezTo>
                      <a:pt x="202718" y="553174"/>
                      <a:pt x="214271" y="560101"/>
                      <a:pt x="217089" y="571402"/>
                    </a:cubicBezTo>
                    <a:cubicBezTo>
                      <a:pt x="217089" y="571402"/>
                      <a:pt x="232030" y="631235"/>
                      <a:pt x="232030" y="631235"/>
                    </a:cubicBezTo>
                    <a:cubicBezTo>
                      <a:pt x="234860" y="642524"/>
                      <a:pt x="227934" y="654078"/>
                      <a:pt x="216631" y="656895"/>
                    </a:cubicBezTo>
                    <a:lnTo>
                      <a:pt x="158898" y="671309"/>
                    </a:lnTo>
                    <a:cubicBezTo>
                      <a:pt x="147605" y="674138"/>
                      <a:pt x="136064" y="667199"/>
                      <a:pt x="133251" y="655909"/>
                    </a:cubicBezTo>
                    <a:lnTo>
                      <a:pt x="118300" y="596077"/>
                    </a:lnTo>
                    <a:cubicBezTo>
                      <a:pt x="115470" y="584787"/>
                      <a:pt x="122406" y="573233"/>
                      <a:pt x="133699" y="570417"/>
                    </a:cubicBezTo>
                    <a:close/>
                    <a:moveTo>
                      <a:pt x="309085" y="527758"/>
                    </a:moveTo>
                    <a:cubicBezTo>
                      <a:pt x="320377" y="524930"/>
                      <a:pt x="331927" y="531869"/>
                      <a:pt x="334746" y="543158"/>
                    </a:cubicBezTo>
                    <a:cubicBezTo>
                      <a:pt x="334746" y="543158"/>
                      <a:pt x="349696" y="602990"/>
                      <a:pt x="349696" y="602990"/>
                    </a:cubicBezTo>
                    <a:cubicBezTo>
                      <a:pt x="352514" y="614280"/>
                      <a:pt x="345589" y="625833"/>
                      <a:pt x="334298" y="628650"/>
                    </a:cubicBezTo>
                    <a:lnTo>
                      <a:pt x="276555" y="643076"/>
                    </a:lnTo>
                    <a:cubicBezTo>
                      <a:pt x="265264" y="645893"/>
                      <a:pt x="253724" y="638966"/>
                      <a:pt x="250900" y="627664"/>
                    </a:cubicBezTo>
                    <a:lnTo>
                      <a:pt x="235956" y="567833"/>
                    </a:lnTo>
                    <a:cubicBezTo>
                      <a:pt x="233137" y="556543"/>
                      <a:pt x="240062" y="544990"/>
                      <a:pt x="251353" y="542173"/>
                    </a:cubicBezTo>
                    <a:close/>
                    <a:moveTo>
                      <a:pt x="429100" y="497165"/>
                    </a:moveTo>
                    <a:cubicBezTo>
                      <a:pt x="440391" y="494336"/>
                      <a:pt x="451953" y="501270"/>
                      <a:pt x="454760" y="512566"/>
                    </a:cubicBezTo>
                    <a:cubicBezTo>
                      <a:pt x="454760" y="512566"/>
                      <a:pt x="469710" y="572398"/>
                      <a:pt x="469710" y="572398"/>
                    </a:cubicBezTo>
                    <a:cubicBezTo>
                      <a:pt x="472529" y="583699"/>
                      <a:pt x="465604" y="595241"/>
                      <a:pt x="454313" y="598064"/>
                    </a:cubicBezTo>
                    <a:lnTo>
                      <a:pt x="396581" y="612484"/>
                    </a:lnTo>
                    <a:cubicBezTo>
                      <a:pt x="385279" y="615301"/>
                      <a:pt x="373739" y="608373"/>
                      <a:pt x="370921" y="597084"/>
                    </a:cubicBezTo>
                    <a:lnTo>
                      <a:pt x="355971" y="537240"/>
                    </a:lnTo>
                    <a:cubicBezTo>
                      <a:pt x="353152" y="525950"/>
                      <a:pt x="360077" y="514397"/>
                      <a:pt x="371368" y="511591"/>
                    </a:cubicBezTo>
                    <a:close/>
                    <a:moveTo>
                      <a:pt x="163192" y="443041"/>
                    </a:moveTo>
                    <a:cubicBezTo>
                      <a:pt x="174490" y="440212"/>
                      <a:pt x="186026" y="447151"/>
                      <a:pt x="188856" y="458441"/>
                    </a:cubicBezTo>
                    <a:lnTo>
                      <a:pt x="203796" y="518273"/>
                    </a:lnTo>
                    <a:cubicBezTo>
                      <a:pt x="206626" y="529563"/>
                      <a:pt x="199689" y="541116"/>
                      <a:pt x="188397" y="543933"/>
                    </a:cubicBezTo>
                    <a:lnTo>
                      <a:pt x="130664" y="558359"/>
                    </a:lnTo>
                    <a:cubicBezTo>
                      <a:pt x="119372" y="561176"/>
                      <a:pt x="107825" y="554249"/>
                      <a:pt x="105006" y="542947"/>
                    </a:cubicBezTo>
                    <a:lnTo>
                      <a:pt x="90055" y="483115"/>
                    </a:lnTo>
                    <a:cubicBezTo>
                      <a:pt x="87236" y="471825"/>
                      <a:pt x="94162" y="460272"/>
                      <a:pt x="105454" y="457455"/>
                    </a:cubicBezTo>
                    <a:close/>
                    <a:moveTo>
                      <a:pt x="280860" y="412449"/>
                    </a:moveTo>
                    <a:cubicBezTo>
                      <a:pt x="292147" y="409620"/>
                      <a:pt x="303699" y="416559"/>
                      <a:pt x="306518" y="427849"/>
                    </a:cubicBezTo>
                    <a:lnTo>
                      <a:pt x="321469" y="487692"/>
                    </a:lnTo>
                    <a:cubicBezTo>
                      <a:pt x="324288" y="498982"/>
                      <a:pt x="317351" y="510524"/>
                      <a:pt x="306059" y="513347"/>
                    </a:cubicBezTo>
                    <a:lnTo>
                      <a:pt x="248326" y="527767"/>
                    </a:lnTo>
                    <a:cubicBezTo>
                      <a:pt x="237034" y="530584"/>
                      <a:pt x="225487" y="523657"/>
                      <a:pt x="222668" y="512367"/>
                    </a:cubicBezTo>
                    <a:cubicBezTo>
                      <a:pt x="222668" y="512367"/>
                      <a:pt x="207717" y="452523"/>
                      <a:pt x="207717" y="452523"/>
                    </a:cubicBezTo>
                    <a:cubicBezTo>
                      <a:pt x="204898" y="441233"/>
                      <a:pt x="211835" y="429691"/>
                      <a:pt x="223127" y="426875"/>
                    </a:cubicBezTo>
                    <a:close/>
                    <a:moveTo>
                      <a:pt x="398514" y="381851"/>
                    </a:moveTo>
                    <a:cubicBezTo>
                      <a:pt x="409805" y="379034"/>
                      <a:pt x="421351" y="385961"/>
                      <a:pt x="424170" y="397250"/>
                    </a:cubicBezTo>
                    <a:lnTo>
                      <a:pt x="439121" y="457094"/>
                    </a:lnTo>
                    <a:cubicBezTo>
                      <a:pt x="441940" y="468389"/>
                      <a:pt x="435003" y="479924"/>
                      <a:pt x="423712" y="482752"/>
                    </a:cubicBezTo>
                    <a:lnTo>
                      <a:pt x="365981" y="497172"/>
                    </a:lnTo>
                    <a:cubicBezTo>
                      <a:pt x="354695" y="499989"/>
                      <a:pt x="343143" y="493061"/>
                      <a:pt x="340324" y="481772"/>
                    </a:cubicBezTo>
                    <a:lnTo>
                      <a:pt x="325384" y="421939"/>
                    </a:lnTo>
                    <a:cubicBezTo>
                      <a:pt x="322555" y="410645"/>
                      <a:pt x="329491" y="399098"/>
                      <a:pt x="340783" y="396276"/>
                    </a:cubicBezTo>
                    <a:cubicBezTo>
                      <a:pt x="340783" y="396276"/>
                      <a:pt x="398514" y="381851"/>
                      <a:pt x="398514" y="381851"/>
                    </a:cubicBezTo>
                    <a:close/>
                    <a:moveTo>
                      <a:pt x="132600" y="327726"/>
                    </a:moveTo>
                    <a:cubicBezTo>
                      <a:pt x="143893" y="324909"/>
                      <a:pt x="155439" y="331836"/>
                      <a:pt x="158258" y="343125"/>
                    </a:cubicBezTo>
                    <a:lnTo>
                      <a:pt x="173209" y="402970"/>
                    </a:lnTo>
                    <a:cubicBezTo>
                      <a:pt x="176028" y="414259"/>
                      <a:pt x="169092" y="425800"/>
                      <a:pt x="157799" y="428628"/>
                    </a:cubicBezTo>
                    <a:lnTo>
                      <a:pt x="100067" y="443053"/>
                    </a:lnTo>
                    <a:cubicBezTo>
                      <a:pt x="88780" y="445864"/>
                      <a:pt x="77233" y="438937"/>
                      <a:pt x="74409" y="427648"/>
                    </a:cubicBezTo>
                    <a:lnTo>
                      <a:pt x="59469" y="367814"/>
                    </a:lnTo>
                    <a:cubicBezTo>
                      <a:pt x="56639" y="356509"/>
                      <a:pt x="63575" y="344973"/>
                      <a:pt x="74868" y="342151"/>
                    </a:cubicBezTo>
                    <a:close/>
                    <a:moveTo>
                      <a:pt x="252606" y="297134"/>
                    </a:moveTo>
                    <a:cubicBezTo>
                      <a:pt x="263897" y="294317"/>
                      <a:pt x="275448" y="301245"/>
                      <a:pt x="278266" y="312535"/>
                    </a:cubicBezTo>
                    <a:lnTo>
                      <a:pt x="293216" y="372378"/>
                    </a:lnTo>
                    <a:cubicBezTo>
                      <a:pt x="296034" y="383668"/>
                      <a:pt x="289110" y="395222"/>
                      <a:pt x="277819" y="398038"/>
                    </a:cubicBezTo>
                    <a:cubicBezTo>
                      <a:pt x="277819" y="398038"/>
                      <a:pt x="220077" y="412465"/>
                      <a:pt x="220077" y="412465"/>
                    </a:cubicBezTo>
                    <a:cubicBezTo>
                      <a:pt x="208786" y="415281"/>
                      <a:pt x="197246" y="408354"/>
                      <a:pt x="194427" y="397053"/>
                    </a:cubicBezTo>
                    <a:lnTo>
                      <a:pt x="179478" y="337220"/>
                    </a:lnTo>
                    <a:cubicBezTo>
                      <a:pt x="176659" y="325930"/>
                      <a:pt x="183584" y="314377"/>
                      <a:pt x="194875" y="311560"/>
                    </a:cubicBezTo>
                    <a:close/>
                    <a:moveTo>
                      <a:pt x="370280" y="266542"/>
                    </a:moveTo>
                    <a:cubicBezTo>
                      <a:pt x="381572" y="263725"/>
                      <a:pt x="393118" y="270658"/>
                      <a:pt x="395937" y="281942"/>
                    </a:cubicBezTo>
                    <a:cubicBezTo>
                      <a:pt x="395937" y="281942"/>
                      <a:pt x="410877" y="341786"/>
                      <a:pt x="410877" y="341786"/>
                    </a:cubicBezTo>
                    <a:cubicBezTo>
                      <a:pt x="413706" y="353076"/>
                      <a:pt x="406770" y="364629"/>
                      <a:pt x="395478" y="367446"/>
                    </a:cubicBezTo>
                    <a:lnTo>
                      <a:pt x="337742" y="381872"/>
                    </a:lnTo>
                    <a:cubicBezTo>
                      <a:pt x="326450" y="384688"/>
                      <a:pt x="314910" y="377761"/>
                      <a:pt x="312091" y="366471"/>
                    </a:cubicBezTo>
                    <a:lnTo>
                      <a:pt x="297140" y="306628"/>
                    </a:lnTo>
                    <a:cubicBezTo>
                      <a:pt x="294321" y="295338"/>
                      <a:pt x="301247" y="283785"/>
                      <a:pt x="312538" y="280968"/>
                    </a:cubicBezTo>
                    <a:close/>
                    <a:moveTo>
                      <a:pt x="490298" y="238303"/>
                    </a:moveTo>
                    <a:cubicBezTo>
                      <a:pt x="501591" y="235492"/>
                      <a:pt x="513137" y="242408"/>
                      <a:pt x="515956" y="253708"/>
                    </a:cubicBezTo>
                    <a:lnTo>
                      <a:pt x="530908" y="313542"/>
                    </a:lnTo>
                    <a:cubicBezTo>
                      <a:pt x="533726" y="324836"/>
                      <a:pt x="526790" y="336383"/>
                      <a:pt x="515497" y="339206"/>
                    </a:cubicBezTo>
                    <a:lnTo>
                      <a:pt x="457770" y="353631"/>
                    </a:lnTo>
                    <a:cubicBezTo>
                      <a:pt x="446478" y="356447"/>
                      <a:pt x="434926" y="349520"/>
                      <a:pt x="432107" y="338226"/>
                    </a:cubicBezTo>
                    <a:lnTo>
                      <a:pt x="417155" y="278386"/>
                    </a:lnTo>
                    <a:cubicBezTo>
                      <a:pt x="414336" y="267097"/>
                      <a:pt x="421273" y="255556"/>
                      <a:pt x="432565" y="252728"/>
                    </a:cubicBezTo>
                    <a:close/>
                    <a:moveTo>
                      <a:pt x="104367" y="212418"/>
                    </a:moveTo>
                    <a:cubicBezTo>
                      <a:pt x="115659" y="209601"/>
                      <a:pt x="127206" y="216529"/>
                      <a:pt x="130025" y="227819"/>
                    </a:cubicBezTo>
                    <a:lnTo>
                      <a:pt x="144965" y="287662"/>
                    </a:lnTo>
                    <a:cubicBezTo>
                      <a:pt x="147795" y="298952"/>
                      <a:pt x="140858" y="310506"/>
                      <a:pt x="129566" y="313322"/>
                    </a:cubicBezTo>
                    <a:lnTo>
                      <a:pt x="71833" y="327749"/>
                    </a:lnTo>
                    <a:cubicBezTo>
                      <a:pt x="60541" y="330565"/>
                      <a:pt x="48994" y="323638"/>
                      <a:pt x="46175" y="312348"/>
                    </a:cubicBezTo>
                    <a:lnTo>
                      <a:pt x="31224" y="252504"/>
                    </a:lnTo>
                    <a:cubicBezTo>
                      <a:pt x="28405" y="241214"/>
                      <a:pt x="35342" y="229661"/>
                      <a:pt x="46623" y="226844"/>
                    </a:cubicBezTo>
                    <a:close/>
                    <a:moveTo>
                      <a:pt x="222023" y="181826"/>
                    </a:moveTo>
                    <a:cubicBezTo>
                      <a:pt x="233310" y="179009"/>
                      <a:pt x="244857" y="185942"/>
                      <a:pt x="247681" y="197226"/>
                    </a:cubicBezTo>
                    <a:lnTo>
                      <a:pt x="262632" y="257069"/>
                    </a:lnTo>
                    <a:cubicBezTo>
                      <a:pt x="265451" y="268359"/>
                      <a:pt x="258514" y="279912"/>
                      <a:pt x="247222" y="282729"/>
                    </a:cubicBezTo>
                    <a:lnTo>
                      <a:pt x="189490" y="297155"/>
                    </a:lnTo>
                    <a:cubicBezTo>
                      <a:pt x="178197" y="299971"/>
                      <a:pt x="166651" y="293044"/>
                      <a:pt x="163832" y="281754"/>
                    </a:cubicBezTo>
                    <a:cubicBezTo>
                      <a:pt x="163832" y="281754"/>
                      <a:pt x="148892" y="221912"/>
                      <a:pt x="148892" y="221912"/>
                    </a:cubicBezTo>
                    <a:cubicBezTo>
                      <a:pt x="146062" y="210622"/>
                      <a:pt x="152987" y="199080"/>
                      <a:pt x="164280" y="196252"/>
                    </a:cubicBezTo>
                    <a:close/>
                    <a:moveTo>
                      <a:pt x="342030" y="153587"/>
                    </a:moveTo>
                    <a:cubicBezTo>
                      <a:pt x="353322" y="150770"/>
                      <a:pt x="364873" y="157697"/>
                      <a:pt x="367691" y="168986"/>
                    </a:cubicBezTo>
                    <a:lnTo>
                      <a:pt x="382641" y="228820"/>
                    </a:lnTo>
                    <a:cubicBezTo>
                      <a:pt x="385460" y="240115"/>
                      <a:pt x="378535" y="251661"/>
                      <a:pt x="367244" y="254484"/>
                    </a:cubicBezTo>
                    <a:lnTo>
                      <a:pt x="309500" y="268909"/>
                    </a:lnTo>
                    <a:cubicBezTo>
                      <a:pt x="298209" y="271725"/>
                      <a:pt x="286669" y="264798"/>
                      <a:pt x="283840" y="253504"/>
                    </a:cubicBezTo>
                    <a:cubicBezTo>
                      <a:pt x="283840" y="253504"/>
                      <a:pt x="268901" y="193664"/>
                      <a:pt x="268901" y="193664"/>
                    </a:cubicBezTo>
                    <a:cubicBezTo>
                      <a:pt x="266082" y="182375"/>
                      <a:pt x="273007" y="170834"/>
                      <a:pt x="284298" y="168001"/>
                    </a:cubicBezTo>
                    <a:close/>
                    <a:moveTo>
                      <a:pt x="459703" y="122995"/>
                    </a:moveTo>
                    <a:cubicBezTo>
                      <a:pt x="470983" y="120184"/>
                      <a:pt x="482534" y="127111"/>
                      <a:pt x="485352" y="138401"/>
                    </a:cubicBezTo>
                    <a:lnTo>
                      <a:pt x="500302" y="198245"/>
                    </a:lnTo>
                    <a:cubicBezTo>
                      <a:pt x="503121" y="209535"/>
                      <a:pt x="496196" y="221077"/>
                      <a:pt x="484905" y="223905"/>
                    </a:cubicBezTo>
                    <a:lnTo>
                      <a:pt x="427173" y="238320"/>
                    </a:lnTo>
                    <a:cubicBezTo>
                      <a:pt x="415871" y="241148"/>
                      <a:pt x="404331" y="234209"/>
                      <a:pt x="401513" y="222919"/>
                    </a:cubicBezTo>
                    <a:cubicBezTo>
                      <a:pt x="401513" y="222919"/>
                      <a:pt x="386563" y="163081"/>
                      <a:pt x="386563" y="163081"/>
                    </a:cubicBezTo>
                    <a:cubicBezTo>
                      <a:pt x="383745" y="151786"/>
                      <a:pt x="390669" y="140244"/>
                      <a:pt x="401960" y="137415"/>
                    </a:cubicBezTo>
                    <a:close/>
                    <a:moveTo>
                      <a:pt x="427557" y="677"/>
                    </a:moveTo>
                    <a:cubicBezTo>
                      <a:pt x="439775" y="-2366"/>
                      <a:pt x="452280" y="5137"/>
                      <a:pt x="455346" y="17360"/>
                    </a:cubicBezTo>
                    <a:lnTo>
                      <a:pt x="470960" y="79861"/>
                    </a:lnTo>
                    <a:cubicBezTo>
                      <a:pt x="474004" y="92073"/>
                      <a:pt x="466505" y="104576"/>
                      <a:pt x="454287" y="107629"/>
                    </a:cubicBezTo>
                    <a:lnTo>
                      <a:pt x="44068" y="210101"/>
                    </a:lnTo>
                    <a:cubicBezTo>
                      <a:pt x="31849" y="213154"/>
                      <a:pt x="19344" y="205651"/>
                      <a:pt x="16278" y="193428"/>
                    </a:cubicBezTo>
                    <a:lnTo>
                      <a:pt x="686" y="130927"/>
                    </a:lnTo>
                    <a:cubicBezTo>
                      <a:pt x="-2380" y="118714"/>
                      <a:pt x="5119" y="106202"/>
                      <a:pt x="17359" y="103159"/>
                    </a:cubicBezTo>
                    <a:close/>
                  </a:path>
                </a:pathLst>
              </a:custGeom>
              <a:solidFill>
                <a:srgbClr val="6491C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72" name="Shape 46">
                <a:extLst>
                  <a:ext uri="{FF2B5EF4-FFF2-40B4-BE49-F238E27FC236}">
                    <a16:creationId xmlns:a16="http://schemas.microsoft.com/office/drawing/2014/main" id="{A3A9D2A0-1323-4157-9026-54B53525720D}"/>
                  </a:ext>
                </a:extLst>
              </p:cNvPr>
              <p:cNvSpPr/>
              <p:nvPr/>
            </p:nvSpPr>
            <p:spPr>
              <a:xfrm>
                <a:off x="2705988" y="6164644"/>
                <a:ext cx="115002" cy="1165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6" h="20817" extrusionOk="0">
                    <a:moveTo>
                      <a:pt x="2902" y="2687"/>
                    </a:moveTo>
                    <a:lnTo>
                      <a:pt x="13347" y="113"/>
                    </a:lnTo>
                    <a:cubicBezTo>
                      <a:pt x="15390" y="-392"/>
                      <a:pt x="17477" y="847"/>
                      <a:pt x="17989" y="2863"/>
                    </a:cubicBezTo>
                    <a:lnTo>
                      <a:pt x="20692" y="13549"/>
                    </a:lnTo>
                    <a:cubicBezTo>
                      <a:pt x="21204" y="15565"/>
                      <a:pt x="19949" y="17626"/>
                      <a:pt x="17906" y="18130"/>
                    </a:cubicBezTo>
                    <a:lnTo>
                      <a:pt x="7461" y="20705"/>
                    </a:lnTo>
                    <a:cubicBezTo>
                      <a:pt x="5418" y="21208"/>
                      <a:pt x="3329" y="19971"/>
                      <a:pt x="2819" y="17955"/>
                    </a:cubicBezTo>
                    <a:lnTo>
                      <a:pt x="114" y="7269"/>
                    </a:lnTo>
                    <a:cubicBezTo>
                      <a:pt x="-396" y="5253"/>
                      <a:pt x="857" y="3190"/>
                      <a:pt x="2902" y="2687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73" name="Freeform 60">
                <a:extLst>
                  <a:ext uri="{FF2B5EF4-FFF2-40B4-BE49-F238E27FC236}">
                    <a16:creationId xmlns:a16="http://schemas.microsoft.com/office/drawing/2014/main" id="{1BB540C0-0E63-44EB-8E36-8C2975AB78B3}"/>
                  </a:ext>
                </a:extLst>
              </p:cNvPr>
              <p:cNvSpPr/>
              <p:nvPr/>
            </p:nvSpPr>
            <p:spPr>
              <a:xfrm>
                <a:off x="2300450" y="5858516"/>
                <a:ext cx="480537" cy="477948"/>
              </a:xfrm>
              <a:custGeom>
                <a:avLst/>
                <a:gdLst>
                  <a:gd name="connsiteX0" fmla="*/ 102082 w 480537"/>
                  <a:gd name="connsiteY0" fmla="*/ 440122 h 477948"/>
                  <a:gd name="connsiteX1" fmla="*/ 98261 w 480537"/>
                  <a:gd name="connsiteY1" fmla="*/ 443562 h 477948"/>
                  <a:gd name="connsiteX2" fmla="*/ 98632 w 480537"/>
                  <a:gd name="connsiteY2" fmla="*/ 451385 h 477948"/>
                  <a:gd name="connsiteX3" fmla="*/ 101403 w 480537"/>
                  <a:gd name="connsiteY3" fmla="*/ 462478 h 477948"/>
                  <a:gd name="connsiteX4" fmla="*/ 104795 w 480537"/>
                  <a:gd name="connsiteY4" fmla="*/ 469605 h 477948"/>
                  <a:gd name="connsiteX5" fmla="*/ 105932 w 480537"/>
                  <a:gd name="connsiteY5" fmla="*/ 470444 h 477948"/>
                  <a:gd name="connsiteX6" fmla="*/ 109810 w 480537"/>
                  <a:gd name="connsiteY6" fmla="*/ 470837 h 477948"/>
                  <a:gd name="connsiteX7" fmla="*/ 113593 w 480537"/>
                  <a:gd name="connsiteY7" fmla="*/ 467416 h 477948"/>
                  <a:gd name="connsiteX8" fmla="*/ 113210 w 480537"/>
                  <a:gd name="connsiteY8" fmla="*/ 459524 h 477948"/>
                  <a:gd name="connsiteX9" fmla="*/ 110441 w 480537"/>
                  <a:gd name="connsiteY9" fmla="*/ 448433 h 477948"/>
                  <a:gd name="connsiteX10" fmla="*/ 107059 w 480537"/>
                  <a:gd name="connsiteY10" fmla="*/ 441383 h 477948"/>
                  <a:gd name="connsiteX11" fmla="*/ 105932 w 480537"/>
                  <a:gd name="connsiteY11" fmla="*/ 440553 h 477948"/>
                  <a:gd name="connsiteX12" fmla="*/ 102082 w 480537"/>
                  <a:gd name="connsiteY12" fmla="*/ 440122 h 477948"/>
                  <a:gd name="connsiteX13" fmla="*/ 105932 w 480537"/>
                  <a:gd name="connsiteY13" fmla="*/ 433062 h 477948"/>
                  <a:gd name="connsiteX14" fmla="*/ 112064 w 480537"/>
                  <a:gd name="connsiteY14" fmla="*/ 435316 h 477948"/>
                  <a:gd name="connsiteX15" fmla="*/ 119181 w 480537"/>
                  <a:gd name="connsiteY15" fmla="*/ 447183 h 477948"/>
                  <a:gd name="connsiteX16" fmla="*/ 121522 w 480537"/>
                  <a:gd name="connsiteY16" fmla="*/ 456582 h 477948"/>
                  <a:gd name="connsiteX17" fmla="*/ 120853 w 480537"/>
                  <a:gd name="connsiteY17" fmla="*/ 470396 h 477948"/>
                  <a:gd name="connsiteX18" fmla="*/ 111453 w 480537"/>
                  <a:gd name="connsiteY18" fmla="*/ 477399 h 477948"/>
                  <a:gd name="connsiteX19" fmla="*/ 105932 w 480537"/>
                  <a:gd name="connsiteY19" fmla="*/ 477887 h 477948"/>
                  <a:gd name="connsiteX20" fmla="*/ 99778 w 480537"/>
                  <a:gd name="connsiteY20" fmla="*/ 475660 h 477948"/>
                  <a:gd name="connsiteX21" fmla="*/ 92671 w 480537"/>
                  <a:gd name="connsiteY21" fmla="*/ 463787 h 477948"/>
                  <a:gd name="connsiteX22" fmla="*/ 90321 w 480537"/>
                  <a:gd name="connsiteY22" fmla="*/ 454396 h 477948"/>
                  <a:gd name="connsiteX23" fmla="*/ 91009 w 480537"/>
                  <a:gd name="connsiteY23" fmla="*/ 440572 h 477948"/>
                  <a:gd name="connsiteX24" fmla="*/ 100438 w 480537"/>
                  <a:gd name="connsiteY24" fmla="*/ 433541 h 477948"/>
                  <a:gd name="connsiteX25" fmla="*/ 105932 w 480537"/>
                  <a:gd name="connsiteY25" fmla="*/ 433062 h 477948"/>
                  <a:gd name="connsiteX26" fmla="*/ 224372 w 480537"/>
                  <a:gd name="connsiteY26" fmla="*/ 414465 h 477948"/>
                  <a:gd name="connsiteX27" fmla="*/ 229961 w 480537"/>
                  <a:gd name="connsiteY27" fmla="*/ 415038 h 477948"/>
                  <a:gd name="connsiteX28" fmla="*/ 233066 w 480537"/>
                  <a:gd name="connsiteY28" fmla="*/ 419384 h 477948"/>
                  <a:gd name="connsiteX29" fmla="*/ 233725 w 480537"/>
                  <a:gd name="connsiteY29" fmla="*/ 422022 h 477948"/>
                  <a:gd name="connsiteX30" fmla="*/ 233028 w 480537"/>
                  <a:gd name="connsiteY30" fmla="*/ 427266 h 477948"/>
                  <a:gd name="connsiteX31" fmla="*/ 228404 w 480537"/>
                  <a:gd name="connsiteY31" fmla="*/ 430352 h 477948"/>
                  <a:gd name="connsiteX32" fmla="*/ 222853 w 480537"/>
                  <a:gd name="connsiteY32" fmla="*/ 429798 h 477948"/>
                  <a:gd name="connsiteX33" fmla="*/ 219758 w 480537"/>
                  <a:gd name="connsiteY33" fmla="*/ 425518 h 477948"/>
                  <a:gd name="connsiteX34" fmla="*/ 219098 w 480537"/>
                  <a:gd name="connsiteY34" fmla="*/ 422882 h 477948"/>
                  <a:gd name="connsiteX35" fmla="*/ 219806 w 480537"/>
                  <a:gd name="connsiteY35" fmla="*/ 417608 h 477948"/>
                  <a:gd name="connsiteX36" fmla="*/ 224372 w 480537"/>
                  <a:gd name="connsiteY36" fmla="*/ 414465 h 477948"/>
                  <a:gd name="connsiteX37" fmla="*/ 345255 w 480537"/>
                  <a:gd name="connsiteY37" fmla="*/ 378871 h 477948"/>
                  <a:gd name="connsiteX38" fmla="*/ 348140 w 480537"/>
                  <a:gd name="connsiteY38" fmla="*/ 390411 h 477948"/>
                  <a:gd name="connsiteX39" fmla="*/ 358686 w 480537"/>
                  <a:gd name="connsiteY39" fmla="*/ 387774 h 477948"/>
                  <a:gd name="connsiteX40" fmla="*/ 360530 w 480537"/>
                  <a:gd name="connsiteY40" fmla="*/ 395159 h 477948"/>
                  <a:gd name="connsiteX41" fmla="*/ 349984 w 480537"/>
                  <a:gd name="connsiteY41" fmla="*/ 397795 h 477948"/>
                  <a:gd name="connsiteX42" fmla="*/ 353013 w 480537"/>
                  <a:gd name="connsiteY42" fmla="*/ 409920 h 477948"/>
                  <a:gd name="connsiteX43" fmla="*/ 344930 w 480537"/>
                  <a:gd name="connsiteY43" fmla="*/ 411934 h 477948"/>
                  <a:gd name="connsiteX44" fmla="*/ 341901 w 480537"/>
                  <a:gd name="connsiteY44" fmla="*/ 399811 h 477948"/>
                  <a:gd name="connsiteX45" fmla="*/ 331298 w 480537"/>
                  <a:gd name="connsiteY45" fmla="*/ 402458 h 477948"/>
                  <a:gd name="connsiteX46" fmla="*/ 329453 w 480537"/>
                  <a:gd name="connsiteY46" fmla="*/ 395083 h 477948"/>
                  <a:gd name="connsiteX47" fmla="*/ 340057 w 480537"/>
                  <a:gd name="connsiteY47" fmla="*/ 392436 h 477948"/>
                  <a:gd name="connsiteX48" fmla="*/ 337172 w 480537"/>
                  <a:gd name="connsiteY48" fmla="*/ 380896 h 477948"/>
                  <a:gd name="connsiteX49" fmla="*/ 478866 w 480537"/>
                  <a:gd name="connsiteY49" fmla="*/ 367958 h 477948"/>
                  <a:gd name="connsiteX50" fmla="*/ 480537 w 480537"/>
                  <a:gd name="connsiteY50" fmla="*/ 374665 h 477948"/>
                  <a:gd name="connsiteX51" fmla="*/ 465003 w 480537"/>
                  <a:gd name="connsiteY51" fmla="*/ 378553 h 477948"/>
                  <a:gd name="connsiteX52" fmla="*/ 454295 w 480537"/>
                  <a:gd name="connsiteY52" fmla="*/ 381228 h 477948"/>
                  <a:gd name="connsiteX53" fmla="*/ 452622 w 480537"/>
                  <a:gd name="connsiteY53" fmla="*/ 374512 h 477948"/>
                  <a:gd name="connsiteX54" fmla="*/ 465003 w 480537"/>
                  <a:gd name="connsiteY54" fmla="*/ 371426 h 477948"/>
                  <a:gd name="connsiteX55" fmla="*/ 475712 w 480537"/>
                  <a:gd name="connsiteY55" fmla="*/ 355338 h 477948"/>
                  <a:gd name="connsiteX56" fmla="*/ 477384 w 480537"/>
                  <a:gd name="connsiteY56" fmla="*/ 362044 h 477948"/>
                  <a:gd name="connsiteX57" fmla="*/ 465003 w 480537"/>
                  <a:gd name="connsiteY57" fmla="*/ 365131 h 477948"/>
                  <a:gd name="connsiteX58" fmla="*/ 451140 w 480537"/>
                  <a:gd name="connsiteY58" fmla="*/ 368598 h 477948"/>
                  <a:gd name="connsiteX59" fmla="*/ 449469 w 480537"/>
                  <a:gd name="connsiteY59" fmla="*/ 361891 h 477948"/>
                  <a:gd name="connsiteX60" fmla="*/ 465003 w 480537"/>
                  <a:gd name="connsiteY60" fmla="*/ 358012 h 477948"/>
                  <a:gd name="connsiteX61" fmla="*/ 78027 w 480537"/>
                  <a:gd name="connsiteY61" fmla="*/ 317687 h 477948"/>
                  <a:gd name="connsiteX62" fmla="*/ 88679 w 480537"/>
                  <a:gd name="connsiteY62" fmla="*/ 360334 h 477948"/>
                  <a:gd name="connsiteX63" fmla="*/ 80120 w 480537"/>
                  <a:gd name="connsiteY63" fmla="*/ 362474 h 477948"/>
                  <a:gd name="connsiteX64" fmla="*/ 71358 w 480537"/>
                  <a:gd name="connsiteY64" fmla="*/ 327383 h 477948"/>
                  <a:gd name="connsiteX65" fmla="*/ 62694 w 480537"/>
                  <a:gd name="connsiteY65" fmla="*/ 329543 h 477948"/>
                  <a:gd name="connsiteX66" fmla="*/ 61184 w 480537"/>
                  <a:gd name="connsiteY66" fmla="*/ 323514 h 477948"/>
                  <a:gd name="connsiteX67" fmla="*/ 190365 w 480537"/>
                  <a:gd name="connsiteY67" fmla="*/ 287756 h 477948"/>
                  <a:gd name="connsiteX68" fmla="*/ 201580 w 480537"/>
                  <a:gd name="connsiteY68" fmla="*/ 288594 h 477948"/>
                  <a:gd name="connsiteX69" fmla="*/ 207627 w 480537"/>
                  <a:gd name="connsiteY69" fmla="*/ 296793 h 477948"/>
                  <a:gd name="connsiteX70" fmla="*/ 207284 w 480537"/>
                  <a:gd name="connsiteY70" fmla="*/ 304445 h 477948"/>
                  <a:gd name="connsiteX71" fmla="*/ 202412 w 480537"/>
                  <a:gd name="connsiteY71" fmla="*/ 314770 h 477948"/>
                  <a:gd name="connsiteX72" fmla="*/ 196890 w 480537"/>
                  <a:gd name="connsiteY72" fmla="*/ 324956 h 477948"/>
                  <a:gd name="connsiteX73" fmla="*/ 196985 w 480537"/>
                  <a:gd name="connsiteY73" fmla="*/ 325089 h 477948"/>
                  <a:gd name="connsiteX74" fmla="*/ 214916 w 480537"/>
                  <a:gd name="connsiteY74" fmla="*/ 320609 h 477948"/>
                  <a:gd name="connsiteX75" fmla="*/ 216550 w 480537"/>
                  <a:gd name="connsiteY75" fmla="*/ 327162 h 477948"/>
                  <a:gd name="connsiteX76" fmla="*/ 187442 w 480537"/>
                  <a:gd name="connsiteY76" fmla="*/ 334442 h 477948"/>
                  <a:gd name="connsiteX77" fmla="*/ 186037 w 480537"/>
                  <a:gd name="connsiteY77" fmla="*/ 328843 h 477948"/>
                  <a:gd name="connsiteX78" fmla="*/ 196145 w 480537"/>
                  <a:gd name="connsiteY78" fmla="*/ 310616 h 477948"/>
                  <a:gd name="connsiteX79" fmla="*/ 198943 w 480537"/>
                  <a:gd name="connsiteY79" fmla="*/ 303755 h 477948"/>
                  <a:gd name="connsiteX80" fmla="*/ 199117 w 480537"/>
                  <a:gd name="connsiteY80" fmla="*/ 299067 h 477948"/>
                  <a:gd name="connsiteX81" fmla="*/ 196556 w 480537"/>
                  <a:gd name="connsiteY81" fmla="*/ 295014 h 477948"/>
                  <a:gd name="connsiteX82" fmla="*/ 192017 w 480537"/>
                  <a:gd name="connsiteY82" fmla="*/ 294337 h 477948"/>
                  <a:gd name="connsiteX83" fmla="*/ 188025 w 480537"/>
                  <a:gd name="connsiteY83" fmla="*/ 297470 h 477948"/>
                  <a:gd name="connsiteX84" fmla="*/ 187824 w 480537"/>
                  <a:gd name="connsiteY84" fmla="*/ 303193 h 477948"/>
                  <a:gd name="connsiteX85" fmla="*/ 179504 w 480537"/>
                  <a:gd name="connsiteY85" fmla="*/ 305275 h 477948"/>
                  <a:gd name="connsiteX86" fmla="*/ 179408 w 480537"/>
                  <a:gd name="connsiteY86" fmla="*/ 305114 h 477948"/>
                  <a:gd name="connsiteX87" fmla="*/ 180754 w 480537"/>
                  <a:gd name="connsiteY87" fmla="*/ 294404 h 477948"/>
                  <a:gd name="connsiteX88" fmla="*/ 190365 w 480537"/>
                  <a:gd name="connsiteY88" fmla="*/ 287756 h 477948"/>
                  <a:gd name="connsiteX89" fmla="*/ 310218 w 480537"/>
                  <a:gd name="connsiteY89" fmla="*/ 257222 h 477948"/>
                  <a:gd name="connsiteX90" fmla="*/ 321577 w 480537"/>
                  <a:gd name="connsiteY90" fmla="*/ 257739 h 477948"/>
                  <a:gd name="connsiteX91" fmla="*/ 327768 w 480537"/>
                  <a:gd name="connsiteY91" fmla="*/ 265781 h 477948"/>
                  <a:gd name="connsiteX92" fmla="*/ 327329 w 480537"/>
                  <a:gd name="connsiteY92" fmla="*/ 271515 h 477948"/>
                  <a:gd name="connsiteX93" fmla="*/ 323468 w 480537"/>
                  <a:gd name="connsiteY93" fmla="*/ 276625 h 477948"/>
                  <a:gd name="connsiteX94" fmla="*/ 329841 w 480537"/>
                  <a:gd name="connsiteY94" fmla="*/ 279149 h 477948"/>
                  <a:gd name="connsiteX95" fmla="*/ 333213 w 480537"/>
                  <a:gd name="connsiteY95" fmla="*/ 284735 h 477948"/>
                  <a:gd name="connsiteX96" fmla="*/ 331254 w 480537"/>
                  <a:gd name="connsiteY96" fmla="*/ 295025 h 477948"/>
                  <a:gd name="connsiteX97" fmla="*/ 321186 w 480537"/>
                  <a:gd name="connsiteY97" fmla="*/ 301091 h 477948"/>
                  <a:gd name="connsiteX98" fmla="*/ 310190 w 480537"/>
                  <a:gd name="connsiteY98" fmla="*/ 300499 h 477948"/>
                  <a:gd name="connsiteX99" fmla="*/ 303856 w 480537"/>
                  <a:gd name="connsiteY99" fmla="*/ 292646 h 477948"/>
                  <a:gd name="connsiteX100" fmla="*/ 303865 w 480537"/>
                  <a:gd name="connsiteY100" fmla="*/ 292446 h 477948"/>
                  <a:gd name="connsiteX101" fmla="*/ 312148 w 480537"/>
                  <a:gd name="connsiteY101" fmla="*/ 290373 h 477948"/>
                  <a:gd name="connsiteX102" fmla="*/ 314928 w 480537"/>
                  <a:gd name="connsiteY102" fmla="*/ 293993 h 477948"/>
                  <a:gd name="connsiteX103" fmla="*/ 319771 w 480537"/>
                  <a:gd name="connsiteY103" fmla="*/ 294480 h 477948"/>
                  <a:gd name="connsiteX104" fmla="*/ 324042 w 480537"/>
                  <a:gd name="connsiteY104" fmla="*/ 291671 h 477948"/>
                  <a:gd name="connsiteX105" fmla="*/ 324645 w 480537"/>
                  <a:gd name="connsiteY105" fmla="*/ 286800 h 477948"/>
                  <a:gd name="connsiteX106" fmla="*/ 321720 w 480537"/>
                  <a:gd name="connsiteY106" fmla="*/ 282281 h 477948"/>
                  <a:gd name="connsiteX107" fmla="*/ 316371 w 480537"/>
                  <a:gd name="connsiteY107" fmla="*/ 281947 h 477948"/>
                  <a:gd name="connsiteX108" fmla="*/ 311565 w 480537"/>
                  <a:gd name="connsiteY108" fmla="*/ 283150 h 477948"/>
                  <a:gd name="connsiteX109" fmla="*/ 309961 w 480537"/>
                  <a:gd name="connsiteY109" fmla="*/ 276731 h 477948"/>
                  <a:gd name="connsiteX110" fmla="*/ 314766 w 480537"/>
                  <a:gd name="connsiteY110" fmla="*/ 275526 h 477948"/>
                  <a:gd name="connsiteX111" fmla="*/ 318873 w 480537"/>
                  <a:gd name="connsiteY111" fmla="*/ 272804 h 477948"/>
                  <a:gd name="connsiteX112" fmla="*/ 319226 w 480537"/>
                  <a:gd name="connsiteY112" fmla="*/ 267999 h 477948"/>
                  <a:gd name="connsiteX113" fmla="*/ 316735 w 480537"/>
                  <a:gd name="connsiteY113" fmla="*/ 264234 h 477948"/>
                  <a:gd name="connsiteX114" fmla="*/ 312100 w 480537"/>
                  <a:gd name="connsiteY114" fmla="*/ 263757 h 477948"/>
                  <a:gd name="connsiteX115" fmla="*/ 308413 w 480537"/>
                  <a:gd name="connsiteY115" fmla="*/ 266164 h 477948"/>
                  <a:gd name="connsiteX116" fmla="*/ 307695 w 480537"/>
                  <a:gd name="connsiteY116" fmla="*/ 270272 h 477948"/>
                  <a:gd name="connsiteX117" fmla="*/ 299404 w 480537"/>
                  <a:gd name="connsiteY117" fmla="*/ 272336 h 477948"/>
                  <a:gd name="connsiteX118" fmla="*/ 299299 w 480537"/>
                  <a:gd name="connsiteY118" fmla="*/ 272174 h 477948"/>
                  <a:gd name="connsiteX119" fmla="*/ 301076 w 480537"/>
                  <a:gd name="connsiteY119" fmla="*/ 262955 h 477948"/>
                  <a:gd name="connsiteX120" fmla="*/ 310218 w 480537"/>
                  <a:gd name="connsiteY120" fmla="*/ 257222 h 477948"/>
                  <a:gd name="connsiteX121" fmla="*/ 442444 w 480537"/>
                  <a:gd name="connsiteY121" fmla="*/ 247090 h 477948"/>
                  <a:gd name="connsiteX122" fmla="*/ 444088 w 480537"/>
                  <a:gd name="connsiteY122" fmla="*/ 253672 h 477948"/>
                  <a:gd name="connsiteX123" fmla="*/ 427580 w 480537"/>
                  <a:gd name="connsiteY123" fmla="*/ 257799 h 477948"/>
                  <a:gd name="connsiteX124" fmla="*/ 425936 w 480537"/>
                  <a:gd name="connsiteY124" fmla="*/ 251208 h 477948"/>
                  <a:gd name="connsiteX125" fmla="*/ 48683 w 480537"/>
                  <a:gd name="connsiteY125" fmla="*/ 213573 h 477948"/>
                  <a:gd name="connsiteX126" fmla="*/ 48301 w 480537"/>
                  <a:gd name="connsiteY126" fmla="*/ 214938 h 477948"/>
                  <a:gd name="connsiteX127" fmla="*/ 47804 w 480537"/>
                  <a:gd name="connsiteY127" fmla="*/ 216476 h 477948"/>
                  <a:gd name="connsiteX128" fmla="*/ 42894 w 480537"/>
                  <a:gd name="connsiteY128" fmla="*/ 231380 h 477948"/>
                  <a:gd name="connsiteX129" fmla="*/ 47804 w 480537"/>
                  <a:gd name="connsiteY129" fmla="*/ 230157 h 477948"/>
                  <a:gd name="connsiteX130" fmla="*/ 52705 w 480537"/>
                  <a:gd name="connsiteY130" fmla="*/ 228934 h 477948"/>
                  <a:gd name="connsiteX131" fmla="*/ 48874 w 480537"/>
                  <a:gd name="connsiteY131" fmla="*/ 213582 h 477948"/>
                  <a:gd name="connsiteX132" fmla="*/ 54540 w 480537"/>
                  <a:gd name="connsiteY132" fmla="*/ 200025 h 477948"/>
                  <a:gd name="connsiteX133" fmla="*/ 61236 w 480537"/>
                  <a:gd name="connsiteY133" fmla="*/ 226804 h 477948"/>
                  <a:gd name="connsiteX134" fmla="*/ 66061 w 480537"/>
                  <a:gd name="connsiteY134" fmla="*/ 225591 h 477948"/>
                  <a:gd name="connsiteX135" fmla="*/ 67713 w 480537"/>
                  <a:gd name="connsiteY135" fmla="*/ 232212 h 477948"/>
                  <a:gd name="connsiteX136" fmla="*/ 62879 w 480537"/>
                  <a:gd name="connsiteY136" fmla="*/ 233425 h 477948"/>
                  <a:gd name="connsiteX137" fmla="*/ 65201 w 480537"/>
                  <a:gd name="connsiteY137" fmla="*/ 242672 h 477948"/>
                  <a:gd name="connsiteX138" fmla="*/ 56670 w 480537"/>
                  <a:gd name="connsiteY138" fmla="*/ 244812 h 477948"/>
                  <a:gd name="connsiteX139" fmla="*/ 54357 w 480537"/>
                  <a:gd name="connsiteY139" fmla="*/ 235546 h 477948"/>
                  <a:gd name="connsiteX140" fmla="*/ 47804 w 480537"/>
                  <a:gd name="connsiteY140" fmla="*/ 237188 h 477948"/>
                  <a:gd name="connsiteX141" fmla="*/ 36962 w 480537"/>
                  <a:gd name="connsiteY141" fmla="*/ 239892 h 477948"/>
                  <a:gd name="connsiteX142" fmla="*/ 35299 w 480537"/>
                  <a:gd name="connsiteY142" fmla="*/ 234858 h 477948"/>
                  <a:gd name="connsiteX143" fmla="*/ 45940 w 480537"/>
                  <a:gd name="connsiteY143" fmla="*/ 202184 h 477948"/>
                  <a:gd name="connsiteX144" fmla="*/ 47804 w 480537"/>
                  <a:gd name="connsiteY144" fmla="*/ 201717 h 477948"/>
                  <a:gd name="connsiteX145" fmla="*/ 176738 w 480537"/>
                  <a:gd name="connsiteY145" fmla="*/ 169433 h 477948"/>
                  <a:gd name="connsiteX146" fmla="*/ 178459 w 480537"/>
                  <a:gd name="connsiteY146" fmla="*/ 176293 h 477948"/>
                  <a:gd name="connsiteX147" fmla="*/ 161683 w 480537"/>
                  <a:gd name="connsiteY147" fmla="*/ 180477 h 477948"/>
                  <a:gd name="connsiteX148" fmla="*/ 162963 w 480537"/>
                  <a:gd name="connsiteY148" fmla="*/ 190605 h 477948"/>
                  <a:gd name="connsiteX149" fmla="*/ 165446 w 480537"/>
                  <a:gd name="connsiteY149" fmla="*/ 188445 h 477948"/>
                  <a:gd name="connsiteX150" fmla="*/ 168982 w 480537"/>
                  <a:gd name="connsiteY150" fmla="*/ 186935 h 477948"/>
                  <a:gd name="connsiteX151" fmla="*/ 179432 w 480537"/>
                  <a:gd name="connsiteY151" fmla="*/ 188273 h 477948"/>
                  <a:gd name="connsiteX152" fmla="*/ 185481 w 480537"/>
                  <a:gd name="connsiteY152" fmla="*/ 198027 h 477948"/>
                  <a:gd name="connsiteX153" fmla="*/ 184324 w 480537"/>
                  <a:gd name="connsiteY153" fmla="*/ 209177 h 477948"/>
                  <a:gd name="connsiteX154" fmla="*/ 174656 w 480537"/>
                  <a:gd name="connsiteY154" fmla="*/ 215922 h 477948"/>
                  <a:gd name="connsiteX155" fmla="*/ 163794 w 480537"/>
                  <a:gd name="connsiteY155" fmla="*/ 215224 h 477948"/>
                  <a:gd name="connsiteX156" fmla="*/ 157536 w 480537"/>
                  <a:gd name="connsiteY156" fmla="*/ 207408 h 477948"/>
                  <a:gd name="connsiteX157" fmla="*/ 157565 w 480537"/>
                  <a:gd name="connsiteY157" fmla="*/ 207236 h 477948"/>
                  <a:gd name="connsiteX158" fmla="*/ 165687 w 480537"/>
                  <a:gd name="connsiteY158" fmla="*/ 204782 h 477948"/>
                  <a:gd name="connsiteX159" fmla="*/ 168418 w 480537"/>
                  <a:gd name="connsiteY159" fmla="*/ 208814 h 477948"/>
                  <a:gd name="connsiteX160" fmla="*/ 173024 w 480537"/>
                  <a:gd name="connsiteY160" fmla="*/ 209359 h 477948"/>
                  <a:gd name="connsiteX161" fmla="*/ 176901 w 480537"/>
                  <a:gd name="connsiteY161" fmla="*/ 206129 h 477948"/>
                  <a:gd name="connsiteX162" fmla="*/ 176931 w 480537"/>
                  <a:gd name="connsiteY162" fmla="*/ 200225 h 477948"/>
                  <a:gd name="connsiteX163" fmla="*/ 173931 w 480537"/>
                  <a:gd name="connsiteY163" fmla="*/ 194683 h 477948"/>
                  <a:gd name="connsiteX164" fmla="*/ 168867 w 480537"/>
                  <a:gd name="connsiteY164" fmla="*/ 193584 h 477948"/>
                  <a:gd name="connsiteX165" fmla="*/ 165333 w 480537"/>
                  <a:gd name="connsiteY165" fmla="*/ 195439 h 477948"/>
                  <a:gd name="connsiteX166" fmla="*/ 164081 w 480537"/>
                  <a:gd name="connsiteY166" fmla="*/ 198361 h 477948"/>
                  <a:gd name="connsiteX167" fmla="*/ 156429 w 480537"/>
                  <a:gd name="connsiteY167" fmla="*/ 199737 h 477948"/>
                  <a:gd name="connsiteX168" fmla="*/ 152961 w 480537"/>
                  <a:gd name="connsiteY168" fmla="*/ 175366 h 477948"/>
                  <a:gd name="connsiteX169" fmla="*/ 288468 w 480537"/>
                  <a:gd name="connsiteY169" fmla="*/ 163280 h 477948"/>
                  <a:gd name="connsiteX170" fmla="*/ 287274 w 480537"/>
                  <a:gd name="connsiteY170" fmla="*/ 163462 h 477948"/>
                  <a:gd name="connsiteX171" fmla="*/ 283414 w 480537"/>
                  <a:gd name="connsiteY171" fmla="*/ 165229 h 477948"/>
                  <a:gd name="connsiteX172" fmla="*/ 281369 w 480537"/>
                  <a:gd name="connsiteY172" fmla="*/ 167952 h 477948"/>
                  <a:gd name="connsiteX173" fmla="*/ 282077 w 480537"/>
                  <a:gd name="connsiteY173" fmla="*/ 170798 h 477948"/>
                  <a:gd name="connsiteX174" fmla="*/ 285849 w 480537"/>
                  <a:gd name="connsiteY174" fmla="*/ 178135 h 477948"/>
                  <a:gd name="connsiteX175" fmla="*/ 288468 w 480537"/>
                  <a:gd name="connsiteY175" fmla="*/ 179634 h 477948"/>
                  <a:gd name="connsiteX176" fmla="*/ 291400 w 480537"/>
                  <a:gd name="connsiteY176" fmla="*/ 179645 h 477948"/>
                  <a:gd name="connsiteX177" fmla="*/ 295041 w 480537"/>
                  <a:gd name="connsiteY177" fmla="*/ 176167 h 477948"/>
                  <a:gd name="connsiteX178" fmla="*/ 295165 w 480537"/>
                  <a:gd name="connsiteY178" fmla="*/ 169920 h 477948"/>
                  <a:gd name="connsiteX179" fmla="*/ 292126 w 480537"/>
                  <a:gd name="connsiteY179" fmla="*/ 164590 h 477948"/>
                  <a:gd name="connsiteX180" fmla="*/ 288468 w 480537"/>
                  <a:gd name="connsiteY180" fmla="*/ 163280 h 477948"/>
                  <a:gd name="connsiteX181" fmla="*/ 288468 w 480537"/>
                  <a:gd name="connsiteY181" fmla="*/ 141203 h 477948"/>
                  <a:gd name="connsiteX182" fmla="*/ 288516 w 480537"/>
                  <a:gd name="connsiteY182" fmla="*/ 141203 h 477948"/>
                  <a:gd name="connsiteX183" fmla="*/ 292929 w 480537"/>
                  <a:gd name="connsiteY183" fmla="*/ 141509 h 477948"/>
                  <a:gd name="connsiteX184" fmla="*/ 292968 w 480537"/>
                  <a:gd name="connsiteY184" fmla="*/ 148168 h 477948"/>
                  <a:gd name="connsiteX185" fmla="*/ 289279 w 480537"/>
                  <a:gd name="connsiteY185" fmla="*/ 148013 h 477948"/>
                  <a:gd name="connsiteX186" fmla="*/ 288468 w 480537"/>
                  <a:gd name="connsiteY186" fmla="*/ 148062 h 477948"/>
                  <a:gd name="connsiteX187" fmla="*/ 285696 w 480537"/>
                  <a:gd name="connsiteY187" fmla="*/ 148548 h 477948"/>
                  <a:gd name="connsiteX188" fmla="*/ 280166 w 480537"/>
                  <a:gd name="connsiteY188" fmla="*/ 153029 h 477948"/>
                  <a:gd name="connsiteX189" fmla="*/ 280004 w 480537"/>
                  <a:gd name="connsiteY189" fmla="*/ 161646 h 477948"/>
                  <a:gd name="connsiteX190" fmla="*/ 280128 w 480537"/>
                  <a:gd name="connsiteY190" fmla="*/ 161760 h 477948"/>
                  <a:gd name="connsiteX191" fmla="*/ 283174 w 480537"/>
                  <a:gd name="connsiteY191" fmla="*/ 158514 h 477948"/>
                  <a:gd name="connsiteX192" fmla="*/ 287905 w 480537"/>
                  <a:gd name="connsiteY192" fmla="*/ 156429 h 477948"/>
                  <a:gd name="connsiteX193" fmla="*/ 288468 w 480537"/>
                  <a:gd name="connsiteY193" fmla="*/ 156296 h 477948"/>
                  <a:gd name="connsiteX194" fmla="*/ 297867 w 480537"/>
                  <a:gd name="connsiteY194" fmla="*/ 158254 h 477948"/>
                  <a:gd name="connsiteX195" fmla="*/ 303695 w 480537"/>
                  <a:gd name="connsiteY195" fmla="*/ 167789 h 477948"/>
                  <a:gd name="connsiteX196" fmla="*/ 302349 w 480537"/>
                  <a:gd name="connsiteY196" fmla="*/ 179425 h 477948"/>
                  <a:gd name="connsiteX197" fmla="*/ 293044 w 480537"/>
                  <a:gd name="connsiteY197" fmla="*/ 186198 h 477948"/>
                  <a:gd name="connsiteX198" fmla="*/ 288468 w 480537"/>
                  <a:gd name="connsiteY198" fmla="*/ 186741 h 477948"/>
                  <a:gd name="connsiteX199" fmla="*/ 280892 w 480537"/>
                  <a:gd name="connsiteY199" fmla="*/ 184363 h 477948"/>
                  <a:gd name="connsiteX200" fmla="*/ 273469 w 480537"/>
                  <a:gd name="connsiteY200" fmla="*/ 172727 h 477948"/>
                  <a:gd name="connsiteX201" fmla="*/ 271387 w 480537"/>
                  <a:gd name="connsiteY201" fmla="*/ 164416 h 477948"/>
                  <a:gd name="connsiteX202" fmla="*/ 272885 w 480537"/>
                  <a:gd name="connsiteY202" fmla="*/ 149876 h 477948"/>
                  <a:gd name="connsiteX203" fmla="*/ 283958 w 480537"/>
                  <a:gd name="connsiteY203" fmla="*/ 141853 h 477948"/>
                  <a:gd name="connsiteX204" fmla="*/ 288468 w 480537"/>
                  <a:gd name="connsiteY204" fmla="*/ 141203 h 477948"/>
                  <a:gd name="connsiteX205" fmla="*/ 417336 w 480537"/>
                  <a:gd name="connsiteY205" fmla="*/ 120015 h 477948"/>
                  <a:gd name="connsiteX206" fmla="*/ 411700 w 480537"/>
                  <a:gd name="connsiteY206" fmla="*/ 138062 h 477948"/>
                  <a:gd name="connsiteX207" fmla="*/ 425570 w 480537"/>
                  <a:gd name="connsiteY207" fmla="*/ 151618 h 477948"/>
                  <a:gd name="connsiteX208" fmla="*/ 415950 w 480537"/>
                  <a:gd name="connsiteY208" fmla="*/ 154026 h 477948"/>
                  <a:gd name="connsiteX209" fmla="*/ 408135 w 480537"/>
                  <a:gd name="connsiteY209" fmla="*/ 144807 h 477948"/>
                  <a:gd name="connsiteX210" fmla="*/ 405565 w 480537"/>
                  <a:gd name="connsiteY210" fmla="*/ 156623 h 477948"/>
                  <a:gd name="connsiteX211" fmla="*/ 395917 w 480537"/>
                  <a:gd name="connsiteY211" fmla="*/ 159031 h 477948"/>
                  <a:gd name="connsiteX212" fmla="*/ 401773 w 480537"/>
                  <a:gd name="connsiteY212" fmla="*/ 140546 h 477948"/>
                  <a:gd name="connsiteX213" fmla="*/ 388284 w 480537"/>
                  <a:gd name="connsiteY213" fmla="*/ 127277 h 477948"/>
                  <a:gd name="connsiteX214" fmla="*/ 397894 w 480537"/>
                  <a:gd name="connsiteY214" fmla="*/ 124869 h 477948"/>
                  <a:gd name="connsiteX215" fmla="*/ 405165 w 480537"/>
                  <a:gd name="connsiteY215" fmla="*/ 133763 h 477948"/>
                  <a:gd name="connsiteX216" fmla="*/ 405337 w 480537"/>
                  <a:gd name="connsiteY216" fmla="*/ 133714 h 477948"/>
                  <a:gd name="connsiteX217" fmla="*/ 407676 w 480537"/>
                  <a:gd name="connsiteY217" fmla="*/ 122423 h 477948"/>
                  <a:gd name="connsiteX218" fmla="*/ 30122 w 480537"/>
                  <a:gd name="connsiteY218" fmla="*/ 84716 h 477948"/>
                  <a:gd name="connsiteX219" fmla="*/ 31774 w 480537"/>
                  <a:gd name="connsiteY219" fmla="*/ 91297 h 477948"/>
                  <a:gd name="connsiteX220" fmla="*/ 26156 w 480537"/>
                  <a:gd name="connsiteY220" fmla="*/ 108609 h 477948"/>
                  <a:gd name="connsiteX221" fmla="*/ 26758 w 480537"/>
                  <a:gd name="connsiteY221" fmla="*/ 126253 h 477948"/>
                  <a:gd name="connsiteX222" fmla="*/ 27436 w 480537"/>
                  <a:gd name="connsiteY222" fmla="*/ 130695 h 477948"/>
                  <a:gd name="connsiteX223" fmla="*/ 18876 w 480537"/>
                  <a:gd name="connsiteY223" fmla="*/ 132836 h 477948"/>
                  <a:gd name="connsiteX224" fmla="*/ 18208 w 480537"/>
                  <a:gd name="connsiteY224" fmla="*/ 128394 h 477948"/>
                  <a:gd name="connsiteX225" fmla="*/ 18170 w 480537"/>
                  <a:gd name="connsiteY225" fmla="*/ 110062 h 477948"/>
                  <a:gd name="connsiteX226" fmla="*/ 23550 w 480537"/>
                  <a:gd name="connsiteY226" fmla="*/ 93362 h 477948"/>
                  <a:gd name="connsiteX227" fmla="*/ 1643 w 480537"/>
                  <a:gd name="connsiteY227" fmla="*/ 98825 h 477948"/>
                  <a:gd name="connsiteX228" fmla="*/ 0 w 480537"/>
                  <a:gd name="connsiteY228" fmla="*/ 92244 h 477948"/>
                  <a:gd name="connsiteX229" fmla="*/ 141166 w 480537"/>
                  <a:gd name="connsiteY229" fmla="*/ 81547 h 477948"/>
                  <a:gd name="connsiteX230" fmla="*/ 139550 w 480537"/>
                  <a:gd name="connsiteY230" fmla="*/ 81777 h 477948"/>
                  <a:gd name="connsiteX231" fmla="*/ 135671 w 480537"/>
                  <a:gd name="connsiteY231" fmla="*/ 84586 h 477948"/>
                  <a:gd name="connsiteX232" fmla="*/ 135184 w 480537"/>
                  <a:gd name="connsiteY232" fmla="*/ 89592 h 477948"/>
                  <a:gd name="connsiteX233" fmla="*/ 137975 w 480537"/>
                  <a:gd name="connsiteY233" fmla="*/ 93795 h 477948"/>
                  <a:gd name="connsiteX234" fmla="*/ 141166 w 480537"/>
                  <a:gd name="connsiteY234" fmla="*/ 94637 h 477948"/>
                  <a:gd name="connsiteX235" fmla="*/ 142770 w 480537"/>
                  <a:gd name="connsiteY235" fmla="*/ 94398 h 477948"/>
                  <a:gd name="connsiteX236" fmla="*/ 146639 w 480537"/>
                  <a:gd name="connsiteY236" fmla="*/ 91617 h 477948"/>
                  <a:gd name="connsiteX237" fmla="*/ 147136 w 480537"/>
                  <a:gd name="connsiteY237" fmla="*/ 86601 h 477948"/>
                  <a:gd name="connsiteX238" fmla="*/ 144318 w 480537"/>
                  <a:gd name="connsiteY238" fmla="*/ 82427 h 477948"/>
                  <a:gd name="connsiteX239" fmla="*/ 141166 w 480537"/>
                  <a:gd name="connsiteY239" fmla="*/ 81547 h 477948"/>
                  <a:gd name="connsiteX240" fmla="*/ 135032 w 480537"/>
                  <a:gd name="connsiteY240" fmla="*/ 63683 h 477948"/>
                  <a:gd name="connsiteX241" fmla="*/ 131765 w 480537"/>
                  <a:gd name="connsiteY241" fmla="*/ 66128 h 477948"/>
                  <a:gd name="connsiteX242" fmla="*/ 131477 w 480537"/>
                  <a:gd name="connsiteY242" fmla="*/ 70638 h 477948"/>
                  <a:gd name="connsiteX243" fmla="*/ 133866 w 480537"/>
                  <a:gd name="connsiteY243" fmla="*/ 74527 h 477948"/>
                  <a:gd name="connsiteX244" fmla="*/ 137965 w 480537"/>
                  <a:gd name="connsiteY244" fmla="*/ 75177 h 477948"/>
                  <a:gd name="connsiteX245" fmla="*/ 141166 w 480537"/>
                  <a:gd name="connsiteY245" fmla="*/ 72796 h 477948"/>
                  <a:gd name="connsiteX246" fmla="*/ 141213 w 480537"/>
                  <a:gd name="connsiteY246" fmla="*/ 72693 h 477948"/>
                  <a:gd name="connsiteX247" fmla="*/ 141499 w 480537"/>
                  <a:gd name="connsiteY247" fmla="*/ 68135 h 477948"/>
                  <a:gd name="connsiteX248" fmla="*/ 141166 w 480537"/>
                  <a:gd name="connsiteY248" fmla="*/ 67065 h 477948"/>
                  <a:gd name="connsiteX249" fmla="*/ 139092 w 480537"/>
                  <a:gd name="connsiteY249" fmla="*/ 64333 h 477948"/>
                  <a:gd name="connsiteX250" fmla="*/ 135032 w 480537"/>
                  <a:gd name="connsiteY250" fmla="*/ 63683 h 477948"/>
                  <a:gd name="connsiteX251" fmla="*/ 141166 w 480537"/>
                  <a:gd name="connsiteY251" fmla="*/ 56795 h 477948"/>
                  <a:gd name="connsiteX252" fmla="*/ 143974 w 480537"/>
                  <a:gd name="connsiteY252" fmla="*/ 57760 h 477948"/>
                  <a:gd name="connsiteX253" fmla="*/ 149926 w 480537"/>
                  <a:gd name="connsiteY253" fmla="*/ 65622 h 477948"/>
                  <a:gd name="connsiteX254" fmla="*/ 149647 w 480537"/>
                  <a:gd name="connsiteY254" fmla="*/ 71689 h 477948"/>
                  <a:gd name="connsiteX255" fmla="*/ 145961 w 480537"/>
                  <a:gd name="connsiteY255" fmla="*/ 76694 h 477948"/>
                  <a:gd name="connsiteX256" fmla="*/ 152342 w 480537"/>
                  <a:gd name="connsiteY256" fmla="*/ 79456 h 477948"/>
                  <a:gd name="connsiteX257" fmla="*/ 155839 w 480537"/>
                  <a:gd name="connsiteY257" fmla="*/ 85063 h 477948"/>
                  <a:gd name="connsiteX258" fmla="*/ 154090 w 480537"/>
                  <a:gd name="connsiteY258" fmla="*/ 95162 h 477948"/>
                  <a:gd name="connsiteX259" fmla="*/ 144404 w 480537"/>
                  <a:gd name="connsiteY259" fmla="*/ 100961 h 477948"/>
                  <a:gd name="connsiteX260" fmla="*/ 141166 w 480537"/>
                  <a:gd name="connsiteY260" fmla="*/ 101543 h 477948"/>
                  <a:gd name="connsiteX261" fmla="*/ 133045 w 480537"/>
                  <a:gd name="connsiteY261" fmla="*/ 100416 h 477948"/>
                  <a:gd name="connsiteX262" fmla="*/ 126759 w 480537"/>
                  <a:gd name="connsiteY262" fmla="*/ 92324 h 477948"/>
                  <a:gd name="connsiteX263" fmla="*/ 127170 w 480537"/>
                  <a:gd name="connsiteY263" fmla="*/ 85732 h 477948"/>
                  <a:gd name="connsiteX264" fmla="*/ 131516 w 480537"/>
                  <a:gd name="connsiteY264" fmla="*/ 80268 h 477948"/>
                  <a:gd name="connsiteX265" fmla="*/ 125909 w 480537"/>
                  <a:gd name="connsiteY265" fmla="*/ 77612 h 477948"/>
                  <a:gd name="connsiteX266" fmla="*/ 122823 w 480537"/>
                  <a:gd name="connsiteY266" fmla="*/ 72396 h 477948"/>
                  <a:gd name="connsiteX267" fmla="*/ 124351 w 480537"/>
                  <a:gd name="connsiteY267" fmla="*/ 62662 h 477948"/>
                  <a:gd name="connsiteX268" fmla="*/ 133388 w 480537"/>
                  <a:gd name="connsiteY268" fmla="*/ 57091 h 477948"/>
                  <a:gd name="connsiteX269" fmla="*/ 141166 w 480537"/>
                  <a:gd name="connsiteY269" fmla="*/ 56795 h 477948"/>
                  <a:gd name="connsiteX270" fmla="*/ 257877 w 480537"/>
                  <a:gd name="connsiteY270" fmla="*/ 35319 h 477948"/>
                  <a:gd name="connsiteX271" fmla="*/ 255231 w 480537"/>
                  <a:gd name="connsiteY271" fmla="*/ 35347 h 477948"/>
                  <a:gd name="connsiteX272" fmla="*/ 251620 w 480537"/>
                  <a:gd name="connsiteY272" fmla="*/ 38797 h 477948"/>
                  <a:gd name="connsiteX273" fmla="*/ 251467 w 480537"/>
                  <a:gd name="connsiteY273" fmla="*/ 45053 h 477948"/>
                  <a:gd name="connsiteX274" fmla="*/ 254410 w 480537"/>
                  <a:gd name="connsiteY274" fmla="*/ 50566 h 477948"/>
                  <a:gd name="connsiteX275" fmla="*/ 257877 w 480537"/>
                  <a:gd name="connsiteY275" fmla="*/ 51932 h 477948"/>
                  <a:gd name="connsiteX276" fmla="*/ 259167 w 480537"/>
                  <a:gd name="connsiteY276" fmla="*/ 51759 h 477948"/>
                  <a:gd name="connsiteX277" fmla="*/ 262653 w 480537"/>
                  <a:gd name="connsiteY277" fmla="*/ 50041 h 477948"/>
                  <a:gd name="connsiteX278" fmla="*/ 264679 w 480537"/>
                  <a:gd name="connsiteY278" fmla="*/ 47299 h 477948"/>
                  <a:gd name="connsiteX279" fmla="*/ 263705 w 480537"/>
                  <a:gd name="connsiteY279" fmla="*/ 43373 h 477948"/>
                  <a:gd name="connsiteX280" fmla="*/ 260283 w 480537"/>
                  <a:gd name="connsiteY280" fmla="*/ 36656 h 477948"/>
                  <a:gd name="connsiteX281" fmla="*/ 257877 w 480537"/>
                  <a:gd name="connsiteY281" fmla="*/ 35319 h 477948"/>
                  <a:gd name="connsiteX282" fmla="*/ 257877 w 480537"/>
                  <a:gd name="connsiteY282" fmla="*/ 28240 h 477948"/>
                  <a:gd name="connsiteX283" fmla="*/ 265272 w 480537"/>
                  <a:gd name="connsiteY283" fmla="*/ 30608 h 477948"/>
                  <a:gd name="connsiteX284" fmla="*/ 272503 w 480537"/>
                  <a:gd name="connsiteY284" fmla="*/ 42226 h 477948"/>
                  <a:gd name="connsiteX285" fmla="*/ 275025 w 480537"/>
                  <a:gd name="connsiteY285" fmla="*/ 52306 h 477948"/>
                  <a:gd name="connsiteX286" fmla="*/ 273516 w 480537"/>
                  <a:gd name="connsiteY286" fmla="*/ 65661 h 477948"/>
                  <a:gd name="connsiteX287" fmla="*/ 263008 w 480537"/>
                  <a:gd name="connsiteY287" fmla="*/ 73016 h 477948"/>
                  <a:gd name="connsiteX288" fmla="*/ 258327 w 480537"/>
                  <a:gd name="connsiteY288" fmla="*/ 73714 h 477948"/>
                  <a:gd name="connsiteX289" fmla="*/ 257877 w 480537"/>
                  <a:gd name="connsiteY289" fmla="*/ 73733 h 477948"/>
                  <a:gd name="connsiteX290" fmla="*/ 253607 w 480537"/>
                  <a:gd name="connsiteY290" fmla="*/ 73465 h 477948"/>
                  <a:gd name="connsiteX291" fmla="*/ 253063 w 480537"/>
                  <a:gd name="connsiteY291" fmla="*/ 67036 h 477948"/>
                  <a:gd name="connsiteX292" fmla="*/ 257094 w 480537"/>
                  <a:gd name="connsiteY292" fmla="*/ 67160 h 477948"/>
                  <a:gd name="connsiteX293" fmla="*/ 257877 w 480537"/>
                  <a:gd name="connsiteY293" fmla="*/ 67103 h 477948"/>
                  <a:gd name="connsiteX294" fmla="*/ 261374 w 480537"/>
                  <a:gd name="connsiteY294" fmla="*/ 66454 h 477948"/>
                  <a:gd name="connsiteX295" fmla="*/ 266245 w 480537"/>
                  <a:gd name="connsiteY295" fmla="*/ 62576 h 477948"/>
                  <a:gd name="connsiteX296" fmla="*/ 266580 w 480537"/>
                  <a:gd name="connsiteY296" fmla="*/ 54885 h 477948"/>
                  <a:gd name="connsiteX297" fmla="*/ 266055 w 480537"/>
                  <a:gd name="connsiteY297" fmla="*/ 52772 h 477948"/>
                  <a:gd name="connsiteX298" fmla="*/ 263333 w 480537"/>
                  <a:gd name="connsiteY298" fmla="*/ 56376 h 477948"/>
                  <a:gd name="connsiteX299" fmla="*/ 259299 w 480537"/>
                  <a:gd name="connsiteY299" fmla="*/ 58381 h 477948"/>
                  <a:gd name="connsiteX300" fmla="*/ 257877 w 480537"/>
                  <a:gd name="connsiteY300" fmla="*/ 58676 h 477948"/>
                  <a:gd name="connsiteX301" fmla="*/ 248984 w 480537"/>
                  <a:gd name="connsiteY301" fmla="*/ 56842 h 477948"/>
                  <a:gd name="connsiteX302" fmla="*/ 242936 w 480537"/>
                  <a:gd name="connsiteY302" fmla="*/ 47183 h 477948"/>
                  <a:gd name="connsiteX303" fmla="*/ 244331 w 480537"/>
                  <a:gd name="connsiteY303" fmla="*/ 35557 h 477948"/>
                  <a:gd name="connsiteX304" fmla="*/ 253550 w 480537"/>
                  <a:gd name="connsiteY304" fmla="*/ 28757 h 477948"/>
                  <a:gd name="connsiteX305" fmla="*/ 257877 w 480537"/>
                  <a:gd name="connsiteY305" fmla="*/ 28240 h 477948"/>
                  <a:gd name="connsiteX306" fmla="*/ 391632 w 480537"/>
                  <a:gd name="connsiteY306" fmla="*/ 23958 h 477948"/>
                  <a:gd name="connsiteX307" fmla="*/ 390315 w 480537"/>
                  <a:gd name="connsiteY307" fmla="*/ 24071 h 477948"/>
                  <a:gd name="connsiteX308" fmla="*/ 387935 w 480537"/>
                  <a:gd name="connsiteY308" fmla="*/ 25936 h 477948"/>
                  <a:gd name="connsiteX309" fmla="*/ 387725 w 480537"/>
                  <a:gd name="connsiteY309" fmla="*/ 29021 h 477948"/>
                  <a:gd name="connsiteX310" fmla="*/ 388291 w 480537"/>
                  <a:gd name="connsiteY310" fmla="*/ 31266 h 477948"/>
                  <a:gd name="connsiteX311" fmla="*/ 390008 w 480537"/>
                  <a:gd name="connsiteY311" fmla="*/ 33864 h 477948"/>
                  <a:gd name="connsiteX312" fmla="*/ 391632 w 480537"/>
                  <a:gd name="connsiteY312" fmla="*/ 34495 h 477948"/>
                  <a:gd name="connsiteX313" fmla="*/ 392951 w 480537"/>
                  <a:gd name="connsiteY313" fmla="*/ 34390 h 477948"/>
                  <a:gd name="connsiteX314" fmla="*/ 395406 w 480537"/>
                  <a:gd name="connsiteY314" fmla="*/ 32614 h 477948"/>
                  <a:gd name="connsiteX315" fmla="*/ 395482 w 480537"/>
                  <a:gd name="connsiteY315" fmla="*/ 29471 h 477948"/>
                  <a:gd name="connsiteX316" fmla="*/ 394919 w 480537"/>
                  <a:gd name="connsiteY316" fmla="*/ 27216 h 477948"/>
                  <a:gd name="connsiteX317" fmla="*/ 393286 w 480537"/>
                  <a:gd name="connsiteY317" fmla="*/ 24607 h 477948"/>
                  <a:gd name="connsiteX318" fmla="*/ 391632 w 480537"/>
                  <a:gd name="connsiteY318" fmla="*/ 23958 h 477948"/>
                  <a:gd name="connsiteX319" fmla="*/ 391632 w 480537"/>
                  <a:gd name="connsiteY319" fmla="*/ 18941 h 477948"/>
                  <a:gd name="connsiteX320" fmla="*/ 396591 w 480537"/>
                  <a:gd name="connsiteY320" fmla="*/ 20117 h 477948"/>
                  <a:gd name="connsiteX321" fmla="*/ 400612 w 480537"/>
                  <a:gd name="connsiteY321" fmla="*/ 25802 h 477948"/>
                  <a:gd name="connsiteX322" fmla="*/ 401177 w 480537"/>
                  <a:gd name="connsiteY322" fmla="*/ 28047 h 477948"/>
                  <a:gd name="connsiteX323" fmla="*/ 400317 w 480537"/>
                  <a:gd name="connsiteY323" fmla="*/ 34952 h 477948"/>
                  <a:gd name="connsiteX324" fmla="*/ 394135 w 480537"/>
                  <a:gd name="connsiteY324" fmla="*/ 39139 h 477948"/>
                  <a:gd name="connsiteX325" fmla="*/ 391632 w 480537"/>
                  <a:gd name="connsiteY325" fmla="*/ 39530 h 477948"/>
                  <a:gd name="connsiteX326" fmla="*/ 386647 w 480537"/>
                  <a:gd name="connsiteY326" fmla="*/ 38354 h 477948"/>
                  <a:gd name="connsiteX327" fmla="*/ 384200 w 480537"/>
                  <a:gd name="connsiteY327" fmla="*/ 36158 h 477948"/>
                  <a:gd name="connsiteX328" fmla="*/ 382604 w 480537"/>
                  <a:gd name="connsiteY328" fmla="*/ 32690 h 477948"/>
                  <a:gd name="connsiteX329" fmla="*/ 382041 w 480537"/>
                  <a:gd name="connsiteY329" fmla="*/ 30435 h 477948"/>
                  <a:gd name="connsiteX330" fmla="*/ 382929 w 480537"/>
                  <a:gd name="connsiteY330" fmla="*/ 23556 h 477948"/>
                  <a:gd name="connsiteX331" fmla="*/ 384200 w 480537"/>
                  <a:gd name="connsiteY331" fmla="*/ 21913 h 477948"/>
                  <a:gd name="connsiteX332" fmla="*/ 389131 w 480537"/>
                  <a:gd name="connsiteY332" fmla="*/ 19334 h 477948"/>
                  <a:gd name="connsiteX333" fmla="*/ 391632 w 480537"/>
                  <a:gd name="connsiteY333" fmla="*/ 18941 h 477948"/>
                  <a:gd name="connsiteX334" fmla="*/ 365209 w 480537"/>
                  <a:gd name="connsiteY334" fmla="*/ 5033 h 477948"/>
                  <a:gd name="connsiteX335" fmla="*/ 363899 w 480537"/>
                  <a:gd name="connsiteY335" fmla="*/ 5158 h 477948"/>
                  <a:gd name="connsiteX336" fmla="*/ 361550 w 480537"/>
                  <a:gd name="connsiteY336" fmla="*/ 7011 h 477948"/>
                  <a:gd name="connsiteX337" fmla="*/ 361348 w 480537"/>
                  <a:gd name="connsiteY337" fmla="*/ 10116 h 477948"/>
                  <a:gd name="connsiteX338" fmla="*/ 361913 w 480537"/>
                  <a:gd name="connsiteY338" fmla="*/ 12360 h 477948"/>
                  <a:gd name="connsiteX339" fmla="*/ 363555 w 480537"/>
                  <a:gd name="connsiteY339" fmla="*/ 14978 h 477948"/>
                  <a:gd name="connsiteX340" fmla="*/ 365209 w 480537"/>
                  <a:gd name="connsiteY340" fmla="*/ 15598 h 477948"/>
                  <a:gd name="connsiteX341" fmla="*/ 366545 w 480537"/>
                  <a:gd name="connsiteY341" fmla="*/ 15464 h 477948"/>
                  <a:gd name="connsiteX342" fmla="*/ 368867 w 480537"/>
                  <a:gd name="connsiteY342" fmla="*/ 13659 h 477948"/>
                  <a:gd name="connsiteX343" fmla="*/ 369077 w 480537"/>
                  <a:gd name="connsiteY343" fmla="*/ 10574 h 477948"/>
                  <a:gd name="connsiteX344" fmla="*/ 368514 w 480537"/>
                  <a:gd name="connsiteY344" fmla="*/ 8328 h 477948"/>
                  <a:gd name="connsiteX345" fmla="*/ 366870 w 480537"/>
                  <a:gd name="connsiteY345" fmla="*/ 5682 h 477948"/>
                  <a:gd name="connsiteX346" fmla="*/ 365209 w 480537"/>
                  <a:gd name="connsiteY346" fmla="*/ 5033 h 477948"/>
                  <a:gd name="connsiteX347" fmla="*/ 381985 w 480537"/>
                  <a:gd name="connsiteY347" fmla="*/ 418 h 477948"/>
                  <a:gd name="connsiteX348" fmla="*/ 384200 w 480537"/>
                  <a:gd name="connsiteY348" fmla="*/ 964 h 477948"/>
                  <a:gd name="connsiteX349" fmla="*/ 386695 w 480537"/>
                  <a:gd name="connsiteY349" fmla="*/ 1574 h 477948"/>
                  <a:gd name="connsiteX350" fmla="*/ 384200 w 480537"/>
                  <a:gd name="connsiteY350" fmla="*/ 9245 h 477948"/>
                  <a:gd name="connsiteX351" fmla="*/ 374198 w 480537"/>
                  <a:gd name="connsiteY351" fmla="*/ 40103 h 477948"/>
                  <a:gd name="connsiteX352" fmla="*/ 372288 w 480537"/>
                  <a:gd name="connsiteY352" fmla="*/ 39643 h 477948"/>
                  <a:gd name="connsiteX353" fmla="*/ 369488 w 480537"/>
                  <a:gd name="connsiteY353" fmla="*/ 38947 h 477948"/>
                  <a:gd name="connsiteX354" fmla="*/ 372288 w 480537"/>
                  <a:gd name="connsiteY354" fmla="*/ 30301 h 477948"/>
                  <a:gd name="connsiteX355" fmla="*/ 365209 w 480537"/>
                  <a:gd name="connsiteY355" fmla="*/ 16 h 477948"/>
                  <a:gd name="connsiteX356" fmla="*/ 370194 w 480537"/>
                  <a:gd name="connsiteY356" fmla="*/ 1192 h 477948"/>
                  <a:gd name="connsiteX357" fmla="*/ 372288 w 480537"/>
                  <a:gd name="connsiteY357" fmla="*/ 2997 h 477948"/>
                  <a:gd name="connsiteX358" fmla="*/ 374209 w 480537"/>
                  <a:gd name="connsiteY358" fmla="*/ 6905 h 477948"/>
                  <a:gd name="connsiteX359" fmla="*/ 374761 w 480537"/>
                  <a:gd name="connsiteY359" fmla="*/ 9151 h 477948"/>
                  <a:gd name="connsiteX360" fmla="*/ 373901 w 480537"/>
                  <a:gd name="connsiteY360" fmla="*/ 16028 h 477948"/>
                  <a:gd name="connsiteX361" fmla="*/ 372288 w 480537"/>
                  <a:gd name="connsiteY361" fmla="*/ 17978 h 477948"/>
                  <a:gd name="connsiteX362" fmla="*/ 367730 w 480537"/>
                  <a:gd name="connsiteY362" fmla="*/ 20212 h 477948"/>
                  <a:gd name="connsiteX363" fmla="*/ 365209 w 480537"/>
                  <a:gd name="connsiteY363" fmla="*/ 20605 h 477948"/>
                  <a:gd name="connsiteX364" fmla="*/ 360250 w 480537"/>
                  <a:gd name="connsiteY364" fmla="*/ 19440 h 477948"/>
                  <a:gd name="connsiteX365" fmla="*/ 356218 w 480537"/>
                  <a:gd name="connsiteY365" fmla="*/ 13784 h 477948"/>
                  <a:gd name="connsiteX366" fmla="*/ 355655 w 480537"/>
                  <a:gd name="connsiteY366" fmla="*/ 11540 h 477948"/>
                  <a:gd name="connsiteX367" fmla="*/ 356534 w 480537"/>
                  <a:gd name="connsiteY367" fmla="*/ 4622 h 477948"/>
                  <a:gd name="connsiteX368" fmla="*/ 362715 w 480537"/>
                  <a:gd name="connsiteY368" fmla="*/ 409 h 477948"/>
                  <a:gd name="connsiteX369" fmla="*/ 365209 w 480537"/>
                  <a:gd name="connsiteY369" fmla="*/ 16 h 477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</a:cxnLst>
                <a:rect l="l" t="t" r="r" b="b"/>
                <a:pathLst>
                  <a:path w="480537" h="477948">
                    <a:moveTo>
                      <a:pt x="102082" y="440122"/>
                    </a:moveTo>
                    <a:cubicBezTo>
                      <a:pt x="100142" y="440610"/>
                      <a:pt x="98872" y="441755"/>
                      <a:pt x="98261" y="443562"/>
                    </a:cubicBezTo>
                    <a:cubicBezTo>
                      <a:pt x="97667" y="445376"/>
                      <a:pt x="97782" y="447986"/>
                      <a:pt x="98632" y="451385"/>
                    </a:cubicBezTo>
                    <a:lnTo>
                      <a:pt x="101403" y="462478"/>
                    </a:lnTo>
                    <a:cubicBezTo>
                      <a:pt x="102263" y="465915"/>
                      <a:pt x="103390" y="468295"/>
                      <a:pt x="104795" y="469605"/>
                    </a:cubicBezTo>
                    <a:cubicBezTo>
                      <a:pt x="105149" y="469948"/>
                      <a:pt x="105530" y="470226"/>
                      <a:pt x="105932" y="470444"/>
                    </a:cubicBezTo>
                    <a:cubicBezTo>
                      <a:pt x="107068" y="471075"/>
                      <a:pt x="108358" y="471201"/>
                      <a:pt x="109810" y="470837"/>
                    </a:cubicBezTo>
                    <a:cubicBezTo>
                      <a:pt x="111721" y="470358"/>
                      <a:pt x="112992" y="469223"/>
                      <a:pt x="113593" y="467416"/>
                    </a:cubicBezTo>
                    <a:cubicBezTo>
                      <a:pt x="114196" y="465591"/>
                      <a:pt x="114072" y="462965"/>
                      <a:pt x="113210" y="459524"/>
                    </a:cubicBezTo>
                    <a:lnTo>
                      <a:pt x="110441" y="448433"/>
                    </a:lnTo>
                    <a:cubicBezTo>
                      <a:pt x="109600" y="445052"/>
                      <a:pt x="108463" y="442692"/>
                      <a:pt x="107059" y="441383"/>
                    </a:cubicBezTo>
                    <a:cubicBezTo>
                      <a:pt x="106695" y="441049"/>
                      <a:pt x="106324" y="440762"/>
                      <a:pt x="105932" y="440553"/>
                    </a:cubicBezTo>
                    <a:cubicBezTo>
                      <a:pt x="104785" y="439911"/>
                      <a:pt x="103496" y="439769"/>
                      <a:pt x="102082" y="440122"/>
                    </a:cubicBezTo>
                    <a:close/>
                    <a:moveTo>
                      <a:pt x="105932" y="433062"/>
                    </a:moveTo>
                    <a:cubicBezTo>
                      <a:pt x="108137" y="433271"/>
                      <a:pt x="110183" y="434028"/>
                      <a:pt x="112064" y="435316"/>
                    </a:cubicBezTo>
                    <a:cubicBezTo>
                      <a:pt x="115408" y="437601"/>
                      <a:pt x="117778" y="441555"/>
                      <a:pt x="119181" y="447183"/>
                    </a:cubicBezTo>
                    <a:cubicBezTo>
                      <a:pt x="119181" y="447183"/>
                      <a:pt x="121522" y="456582"/>
                      <a:pt x="121522" y="456582"/>
                    </a:cubicBezTo>
                    <a:cubicBezTo>
                      <a:pt x="122936" y="462229"/>
                      <a:pt x="122717" y="466825"/>
                      <a:pt x="120853" y="470396"/>
                    </a:cubicBezTo>
                    <a:cubicBezTo>
                      <a:pt x="119000" y="473971"/>
                      <a:pt x="115867" y="476291"/>
                      <a:pt x="111453" y="477399"/>
                    </a:cubicBezTo>
                    <a:cubicBezTo>
                      <a:pt x="109504" y="477887"/>
                      <a:pt x="107660" y="478050"/>
                      <a:pt x="105932" y="477887"/>
                    </a:cubicBezTo>
                    <a:cubicBezTo>
                      <a:pt x="103696" y="477678"/>
                      <a:pt x="101651" y="476931"/>
                      <a:pt x="99778" y="475660"/>
                    </a:cubicBezTo>
                    <a:cubicBezTo>
                      <a:pt x="96455" y="473387"/>
                      <a:pt x="94085" y="469442"/>
                      <a:pt x="92671" y="463787"/>
                    </a:cubicBezTo>
                    <a:lnTo>
                      <a:pt x="90321" y="454396"/>
                    </a:lnTo>
                    <a:cubicBezTo>
                      <a:pt x="88927" y="448759"/>
                      <a:pt x="89155" y="444153"/>
                      <a:pt x="91009" y="440572"/>
                    </a:cubicBezTo>
                    <a:cubicBezTo>
                      <a:pt x="92852" y="436988"/>
                      <a:pt x="95997" y="434647"/>
                      <a:pt x="100438" y="433541"/>
                    </a:cubicBezTo>
                    <a:cubicBezTo>
                      <a:pt x="102368" y="433054"/>
                      <a:pt x="104203" y="432891"/>
                      <a:pt x="105932" y="433062"/>
                    </a:cubicBezTo>
                    <a:close/>
                    <a:moveTo>
                      <a:pt x="224372" y="414465"/>
                    </a:moveTo>
                    <a:cubicBezTo>
                      <a:pt x="226522" y="413930"/>
                      <a:pt x="228385" y="414121"/>
                      <a:pt x="229961" y="415038"/>
                    </a:cubicBezTo>
                    <a:cubicBezTo>
                      <a:pt x="231537" y="415965"/>
                      <a:pt x="232578" y="417417"/>
                      <a:pt x="233066" y="419384"/>
                    </a:cubicBezTo>
                    <a:lnTo>
                      <a:pt x="233725" y="422022"/>
                    </a:lnTo>
                    <a:cubicBezTo>
                      <a:pt x="234212" y="423990"/>
                      <a:pt x="233983" y="425747"/>
                      <a:pt x="233028" y="427266"/>
                    </a:cubicBezTo>
                    <a:cubicBezTo>
                      <a:pt x="232072" y="428785"/>
                      <a:pt x="230534" y="429826"/>
                      <a:pt x="228404" y="430352"/>
                    </a:cubicBezTo>
                    <a:cubicBezTo>
                      <a:pt x="226273" y="430887"/>
                      <a:pt x="224420" y="430696"/>
                      <a:pt x="222853" y="429798"/>
                    </a:cubicBezTo>
                    <a:cubicBezTo>
                      <a:pt x="221277" y="428900"/>
                      <a:pt x="220245" y="427467"/>
                      <a:pt x="219758" y="425518"/>
                    </a:cubicBezTo>
                    <a:cubicBezTo>
                      <a:pt x="219758" y="425518"/>
                      <a:pt x="219098" y="422882"/>
                      <a:pt x="219098" y="422882"/>
                    </a:cubicBezTo>
                    <a:cubicBezTo>
                      <a:pt x="218611" y="420923"/>
                      <a:pt x="218841" y="419165"/>
                      <a:pt x="219806" y="417608"/>
                    </a:cubicBezTo>
                    <a:cubicBezTo>
                      <a:pt x="220762" y="416032"/>
                      <a:pt x="222280" y="414990"/>
                      <a:pt x="224372" y="414465"/>
                    </a:cubicBezTo>
                    <a:close/>
                    <a:moveTo>
                      <a:pt x="345255" y="378871"/>
                    </a:moveTo>
                    <a:cubicBezTo>
                      <a:pt x="345255" y="378871"/>
                      <a:pt x="348140" y="390411"/>
                      <a:pt x="348140" y="390411"/>
                    </a:cubicBezTo>
                    <a:lnTo>
                      <a:pt x="358686" y="387774"/>
                    </a:lnTo>
                    <a:lnTo>
                      <a:pt x="360530" y="395159"/>
                    </a:lnTo>
                    <a:lnTo>
                      <a:pt x="349984" y="397795"/>
                    </a:lnTo>
                    <a:lnTo>
                      <a:pt x="353013" y="409920"/>
                    </a:lnTo>
                    <a:lnTo>
                      <a:pt x="344930" y="411934"/>
                    </a:lnTo>
                    <a:lnTo>
                      <a:pt x="341901" y="399811"/>
                    </a:lnTo>
                    <a:lnTo>
                      <a:pt x="331298" y="402458"/>
                    </a:lnTo>
                    <a:lnTo>
                      <a:pt x="329453" y="395083"/>
                    </a:lnTo>
                    <a:lnTo>
                      <a:pt x="340057" y="392436"/>
                    </a:lnTo>
                    <a:lnTo>
                      <a:pt x="337172" y="380896"/>
                    </a:lnTo>
                    <a:close/>
                    <a:moveTo>
                      <a:pt x="478866" y="367958"/>
                    </a:moveTo>
                    <a:lnTo>
                      <a:pt x="480537" y="374665"/>
                    </a:lnTo>
                    <a:cubicBezTo>
                      <a:pt x="480537" y="374665"/>
                      <a:pt x="465003" y="378553"/>
                      <a:pt x="465003" y="378553"/>
                    </a:cubicBezTo>
                    <a:lnTo>
                      <a:pt x="454295" y="381228"/>
                    </a:lnTo>
                    <a:lnTo>
                      <a:pt x="452622" y="374512"/>
                    </a:lnTo>
                    <a:cubicBezTo>
                      <a:pt x="452622" y="374512"/>
                      <a:pt x="465003" y="371426"/>
                      <a:pt x="465003" y="371426"/>
                    </a:cubicBezTo>
                    <a:close/>
                    <a:moveTo>
                      <a:pt x="475712" y="355338"/>
                    </a:moveTo>
                    <a:lnTo>
                      <a:pt x="477384" y="362044"/>
                    </a:lnTo>
                    <a:lnTo>
                      <a:pt x="465003" y="365131"/>
                    </a:lnTo>
                    <a:lnTo>
                      <a:pt x="451140" y="368598"/>
                    </a:lnTo>
                    <a:lnTo>
                      <a:pt x="449469" y="361891"/>
                    </a:lnTo>
                    <a:lnTo>
                      <a:pt x="465003" y="358012"/>
                    </a:lnTo>
                    <a:close/>
                    <a:moveTo>
                      <a:pt x="78027" y="317687"/>
                    </a:moveTo>
                    <a:cubicBezTo>
                      <a:pt x="78027" y="317687"/>
                      <a:pt x="88679" y="360334"/>
                      <a:pt x="88679" y="360334"/>
                    </a:cubicBezTo>
                    <a:lnTo>
                      <a:pt x="80120" y="362474"/>
                    </a:lnTo>
                    <a:lnTo>
                      <a:pt x="71358" y="327383"/>
                    </a:lnTo>
                    <a:lnTo>
                      <a:pt x="62694" y="329543"/>
                    </a:lnTo>
                    <a:lnTo>
                      <a:pt x="61184" y="323514"/>
                    </a:lnTo>
                    <a:close/>
                    <a:moveTo>
                      <a:pt x="190365" y="287756"/>
                    </a:moveTo>
                    <a:cubicBezTo>
                      <a:pt x="194769" y="286656"/>
                      <a:pt x="198505" y="286924"/>
                      <a:pt x="201580" y="288594"/>
                    </a:cubicBezTo>
                    <a:cubicBezTo>
                      <a:pt x="204667" y="290249"/>
                      <a:pt x="206672" y="292981"/>
                      <a:pt x="207627" y="296793"/>
                    </a:cubicBezTo>
                    <a:cubicBezTo>
                      <a:pt x="208268" y="299373"/>
                      <a:pt x="208153" y="301921"/>
                      <a:pt x="207284" y="304445"/>
                    </a:cubicBezTo>
                    <a:cubicBezTo>
                      <a:pt x="206414" y="306985"/>
                      <a:pt x="204782" y="310425"/>
                      <a:pt x="202412" y="314770"/>
                    </a:cubicBezTo>
                    <a:lnTo>
                      <a:pt x="196890" y="324956"/>
                    </a:lnTo>
                    <a:lnTo>
                      <a:pt x="196985" y="325089"/>
                    </a:lnTo>
                    <a:lnTo>
                      <a:pt x="214916" y="320609"/>
                    </a:lnTo>
                    <a:cubicBezTo>
                      <a:pt x="214916" y="320609"/>
                      <a:pt x="216550" y="327162"/>
                      <a:pt x="216550" y="327162"/>
                    </a:cubicBezTo>
                    <a:lnTo>
                      <a:pt x="187442" y="334442"/>
                    </a:lnTo>
                    <a:lnTo>
                      <a:pt x="186037" y="328843"/>
                    </a:lnTo>
                    <a:lnTo>
                      <a:pt x="196145" y="310616"/>
                    </a:lnTo>
                    <a:cubicBezTo>
                      <a:pt x="197569" y="307826"/>
                      <a:pt x="198505" y="305552"/>
                      <a:pt x="198943" y="303755"/>
                    </a:cubicBezTo>
                    <a:cubicBezTo>
                      <a:pt x="199392" y="301979"/>
                      <a:pt x="199449" y="300412"/>
                      <a:pt x="199117" y="299067"/>
                    </a:cubicBezTo>
                    <a:cubicBezTo>
                      <a:pt x="198667" y="297280"/>
                      <a:pt x="197808" y="295932"/>
                      <a:pt x="196556" y="295014"/>
                    </a:cubicBezTo>
                    <a:cubicBezTo>
                      <a:pt x="195303" y="294127"/>
                      <a:pt x="193795" y="293897"/>
                      <a:pt x="192017" y="294337"/>
                    </a:cubicBezTo>
                    <a:cubicBezTo>
                      <a:pt x="190040" y="294833"/>
                      <a:pt x="188713" y="295875"/>
                      <a:pt x="188025" y="297470"/>
                    </a:cubicBezTo>
                    <a:cubicBezTo>
                      <a:pt x="187327" y="299056"/>
                      <a:pt x="187270" y="300977"/>
                      <a:pt x="187824" y="303193"/>
                    </a:cubicBezTo>
                    <a:lnTo>
                      <a:pt x="179504" y="305275"/>
                    </a:lnTo>
                    <a:lnTo>
                      <a:pt x="179408" y="305114"/>
                    </a:lnTo>
                    <a:cubicBezTo>
                      <a:pt x="178347" y="301293"/>
                      <a:pt x="178786" y="297720"/>
                      <a:pt x="180754" y="294404"/>
                    </a:cubicBezTo>
                    <a:cubicBezTo>
                      <a:pt x="182712" y="291081"/>
                      <a:pt x="185922" y="288864"/>
                      <a:pt x="190365" y="287756"/>
                    </a:cubicBezTo>
                    <a:close/>
                    <a:moveTo>
                      <a:pt x="310218" y="257222"/>
                    </a:moveTo>
                    <a:cubicBezTo>
                      <a:pt x="314631" y="256115"/>
                      <a:pt x="318415" y="256285"/>
                      <a:pt x="321577" y="257739"/>
                    </a:cubicBezTo>
                    <a:cubicBezTo>
                      <a:pt x="324729" y="259190"/>
                      <a:pt x="326793" y="261874"/>
                      <a:pt x="327768" y="265781"/>
                    </a:cubicBezTo>
                    <a:cubicBezTo>
                      <a:pt x="328226" y="267635"/>
                      <a:pt x="328082" y="269546"/>
                      <a:pt x="327329" y="271515"/>
                    </a:cubicBezTo>
                    <a:cubicBezTo>
                      <a:pt x="326574" y="273473"/>
                      <a:pt x="325293" y="275173"/>
                      <a:pt x="323468" y="276625"/>
                    </a:cubicBezTo>
                    <a:cubicBezTo>
                      <a:pt x="326038" y="276882"/>
                      <a:pt x="328168" y="277723"/>
                      <a:pt x="329841" y="279149"/>
                    </a:cubicBezTo>
                    <a:cubicBezTo>
                      <a:pt x="331513" y="280570"/>
                      <a:pt x="332639" y="282443"/>
                      <a:pt x="333213" y="284735"/>
                    </a:cubicBezTo>
                    <a:cubicBezTo>
                      <a:pt x="334187" y="288651"/>
                      <a:pt x="333537" y="292071"/>
                      <a:pt x="331254" y="295025"/>
                    </a:cubicBezTo>
                    <a:cubicBezTo>
                      <a:pt x="328971" y="297958"/>
                      <a:pt x="325618" y="299993"/>
                      <a:pt x="321186" y="301091"/>
                    </a:cubicBezTo>
                    <a:cubicBezTo>
                      <a:pt x="317211" y="302085"/>
                      <a:pt x="313553" y="301893"/>
                      <a:pt x="310190" y="300499"/>
                    </a:cubicBezTo>
                    <a:cubicBezTo>
                      <a:pt x="306827" y="299103"/>
                      <a:pt x="304706" y="296485"/>
                      <a:pt x="303856" y="292646"/>
                    </a:cubicBezTo>
                    <a:lnTo>
                      <a:pt x="303865" y="292446"/>
                    </a:lnTo>
                    <a:lnTo>
                      <a:pt x="312148" y="290373"/>
                    </a:lnTo>
                    <a:cubicBezTo>
                      <a:pt x="312569" y="292016"/>
                      <a:pt x="313495" y="293218"/>
                      <a:pt x="314928" y="293993"/>
                    </a:cubicBezTo>
                    <a:cubicBezTo>
                      <a:pt x="316371" y="294766"/>
                      <a:pt x="317976" y="294929"/>
                      <a:pt x="319771" y="294480"/>
                    </a:cubicBezTo>
                    <a:cubicBezTo>
                      <a:pt x="321740" y="293985"/>
                      <a:pt x="323173" y="293048"/>
                      <a:pt x="324042" y="291671"/>
                    </a:cubicBezTo>
                    <a:cubicBezTo>
                      <a:pt x="324912" y="290296"/>
                      <a:pt x="325112" y="288672"/>
                      <a:pt x="324645" y="286800"/>
                    </a:cubicBezTo>
                    <a:cubicBezTo>
                      <a:pt x="324079" y="284544"/>
                      <a:pt x="323115" y="283035"/>
                      <a:pt x="321720" y="282281"/>
                    </a:cubicBezTo>
                    <a:cubicBezTo>
                      <a:pt x="320335" y="281507"/>
                      <a:pt x="318558" y="281402"/>
                      <a:pt x="316371" y="281947"/>
                    </a:cubicBezTo>
                    <a:lnTo>
                      <a:pt x="311565" y="283150"/>
                    </a:lnTo>
                    <a:cubicBezTo>
                      <a:pt x="311565" y="283150"/>
                      <a:pt x="309961" y="276731"/>
                      <a:pt x="309961" y="276731"/>
                    </a:cubicBezTo>
                    <a:lnTo>
                      <a:pt x="314766" y="275526"/>
                    </a:lnTo>
                    <a:cubicBezTo>
                      <a:pt x="316801" y="275031"/>
                      <a:pt x="318166" y="274122"/>
                      <a:pt x="318873" y="272804"/>
                    </a:cubicBezTo>
                    <a:cubicBezTo>
                      <a:pt x="319590" y="271504"/>
                      <a:pt x="319704" y="269899"/>
                      <a:pt x="319226" y="267999"/>
                    </a:cubicBezTo>
                    <a:cubicBezTo>
                      <a:pt x="318797" y="266288"/>
                      <a:pt x="317976" y="265028"/>
                      <a:pt x="316735" y="264234"/>
                    </a:cubicBezTo>
                    <a:cubicBezTo>
                      <a:pt x="315502" y="263451"/>
                      <a:pt x="313964" y="263289"/>
                      <a:pt x="312100" y="263757"/>
                    </a:cubicBezTo>
                    <a:cubicBezTo>
                      <a:pt x="310504" y="264149"/>
                      <a:pt x="309263" y="264962"/>
                      <a:pt x="308413" y="266164"/>
                    </a:cubicBezTo>
                    <a:cubicBezTo>
                      <a:pt x="307542" y="267369"/>
                      <a:pt x="307314" y="268744"/>
                      <a:pt x="307695" y="270272"/>
                    </a:cubicBezTo>
                    <a:lnTo>
                      <a:pt x="299404" y="272336"/>
                    </a:lnTo>
                    <a:lnTo>
                      <a:pt x="299299" y="272174"/>
                    </a:lnTo>
                    <a:cubicBezTo>
                      <a:pt x="298353" y="268859"/>
                      <a:pt x="298936" y="265792"/>
                      <a:pt x="301076" y="262955"/>
                    </a:cubicBezTo>
                    <a:cubicBezTo>
                      <a:pt x="303206" y="260116"/>
                      <a:pt x="306253" y="258215"/>
                      <a:pt x="310218" y="257222"/>
                    </a:cubicBezTo>
                    <a:close/>
                    <a:moveTo>
                      <a:pt x="442444" y="247090"/>
                    </a:moveTo>
                    <a:cubicBezTo>
                      <a:pt x="442444" y="247090"/>
                      <a:pt x="444088" y="253672"/>
                      <a:pt x="444088" y="253672"/>
                    </a:cubicBezTo>
                    <a:lnTo>
                      <a:pt x="427580" y="257799"/>
                    </a:lnTo>
                    <a:lnTo>
                      <a:pt x="425936" y="251208"/>
                    </a:lnTo>
                    <a:close/>
                    <a:moveTo>
                      <a:pt x="48683" y="213573"/>
                    </a:moveTo>
                    <a:lnTo>
                      <a:pt x="48301" y="214938"/>
                    </a:lnTo>
                    <a:lnTo>
                      <a:pt x="47804" y="216476"/>
                    </a:lnTo>
                    <a:lnTo>
                      <a:pt x="42894" y="231380"/>
                    </a:lnTo>
                    <a:lnTo>
                      <a:pt x="47804" y="230157"/>
                    </a:lnTo>
                    <a:lnTo>
                      <a:pt x="52705" y="228934"/>
                    </a:lnTo>
                    <a:lnTo>
                      <a:pt x="48874" y="213582"/>
                    </a:lnTo>
                    <a:close/>
                    <a:moveTo>
                      <a:pt x="54540" y="200025"/>
                    </a:moveTo>
                    <a:cubicBezTo>
                      <a:pt x="54540" y="200025"/>
                      <a:pt x="61236" y="226804"/>
                      <a:pt x="61236" y="226804"/>
                    </a:cubicBezTo>
                    <a:lnTo>
                      <a:pt x="66061" y="225591"/>
                    </a:lnTo>
                    <a:lnTo>
                      <a:pt x="67713" y="232212"/>
                    </a:lnTo>
                    <a:lnTo>
                      <a:pt x="62879" y="233425"/>
                    </a:lnTo>
                    <a:lnTo>
                      <a:pt x="65201" y="242672"/>
                    </a:lnTo>
                    <a:lnTo>
                      <a:pt x="56670" y="244812"/>
                    </a:lnTo>
                    <a:lnTo>
                      <a:pt x="54357" y="235546"/>
                    </a:lnTo>
                    <a:lnTo>
                      <a:pt x="47804" y="237188"/>
                    </a:lnTo>
                    <a:lnTo>
                      <a:pt x="36962" y="239892"/>
                    </a:lnTo>
                    <a:lnTo>
                      <a:pt x="35299" y="234858"/>
                    </a:lnTo>
                    <a:lnTo>
                      <a:pt x="45940" y="202184"/>
                    </a:lnTo>
                    <a:lnTo>
                      <a:pt x="47804" y="201717"/>
                    </a:lnTo>
                    <a:close/>
                    <a:moveTo>
                      <a:pt x="176738" y="169433"/>
                    </a:moveTo>
                    <a:lnTo>
                      <a:pt x="178459" y="176293"/>
                    </a:lnTo>
                    <a:lnTo>
                      <a:pt x="161683" y="180477"/>
                    </a:lnTo>
                    <a:lnTo>
                      <a:pt x="162963" y="190605"/>
                    </a:lnTo>
                    <a:cubicBezTo>
                      <a:pt x="163593" y="189820"/>
                      <a:pt x="164415" y="189113"/>
                      <a:pt x="165446" y="188445"/>
                    </a:cubicBezTo>
                    <a:cubicBezTo>
                      <a:pt x="166460" y="187796"/>
                      <a:pt x="167635" y="187280"/>
                      <a:pt x="168982" y="186935"/>
                    </a:cubicBezTo>
                    <a:cubicBezTo>
                      <a:pt x="173070" y="185845"/>
                      <a:pt x="176558" y="186287"/>
                      <a:pt x="179432" y="188273"/>
                    </a:cubicBezTo>
                    <a:cubicBezTo>
                      <a:pt x="182338" y="190242"/>
                      <a:pt x="184344" y="193499"/>
                      <a:pt x="185481" y="198027"/>
                    </a:cubicBezTo>
                    <a:cubicBezTo>
                      <a:pt x="186502" y="202125"/>
                      <a:pt x="186110" y="205852"/>
                      <a:pt x="184324" y="209177"/>
                    </a:cubicBezTo>
                    <a:cubicBezTo>
                      <a:pt x="182527" y="212510"/>
                      <a:pt x="179308" y="214756"/>
                      <a:pt x="174656" y="215922"/>
                    </a:cubicBezTo>
                    <a:cubicBezTo>
                      <a:pt x="170749" y="216896"/>
                      <a:pt x="167118" y="216665"/>
                      <a:pt x="163794" y="215224"/>
                    </a:cubicBezTo>
                    <a:cubicBezTo>
                      <a:pt x="160460" y="213791"/>
                      <a:pt x="158387" y="211183"/>
                      <a:pt x="157536" y="207408"/>
                    </a:cubicBezTo>
                    <a:lnTo>
                      <a:pt x="157565" y="207236"/>
                    </a:lnTo>
                    <a:lnTo>
                      <a:pt x="165687" y="204782"/>
                    </a:lnTo>
                    <a:cubicBezTo>
                      <a:pt x="166163" y="206674"/>
                      <a:pt x="167072" y="208021"/>
                      <a:pt x="168418" y="208814"/>
                    </a:cubicBezTo>
                    <a:cubicBezTo>
                      <a:pt x="169755" y="209616"/>
                      <a:pt x="171294" y="209787"/>
                      <a:pt x="173024" y="209359"/>
                    </a:cubicBezTo>
                    <a:cubicBezTo>
                      <a:pt x="175019" y="208860"/>
                      <a:pt x="176319" y="207781"/>
                      <a:pt x="176901" y="206129"/>
                    </a:cubicBezTo>
                    <a:cubicBezTo>
                      <a:pt x="177494" y="204485"/>
                      <a:pt x="177504" y="202516"/>
                      <a:pt x="176931" y="200225"/>
                    </a:cubicBezTo>
                    <a:cubicBezTo>
                      <a:pt x="176319" y="197770"/>
                      <a:pt x="175325" y="195916"/>
                      <a:pt x="173931" y="194683"/>
                    </a:cubicBezTo>
                    <a:cubicBezTo>
                      <a:pt x="172544" y="193450"/>
                      <a:pt x="170854" y="193088"/>
                      <a:pt x="168867" y="193584"/>
                    </a:cubicBezTo>
                    <a:cubicBezTo>
                      <a:pt x="167233" y="193995"/>
                      <a:pt x="166039" y="194608"/>
                      <a:pt x="165333" y="195439"/>
                    </a:cubicBezTo>
                    <a:cubicBezTo>
                      <a:pt x="164606" y="196250"/>
                      <a:pt x="164196" y="197225"/>
                      <a:pt x="164081" y="198361"/>
                    </a:cubicBezTo>
                    <a:cubicBezTo>
                      <a:pt x="164081" y="198361"/>
                      <a:pt x="156429" y="199737"/>
                      <a:pt x="156429" y="199737"/>
                    </a:cubicBezTo>
                    <a:lnTo>
                      <a:pt x="152961" y="175366"/>
                    </a:lnTo>
                    <a:close/>
                    <a:moveTo>
                      <a:pt x="288468" y="163280"/>
                    </a:moveTo>
                    <a:cubicBezTo>
                      <a:pt x="288077" y="163299"/>
                      <a:pt x="287684" y="163356"/>
                      <a:pt x="287274" y="163462"/>
                    </a:cubicBezTo>
                    <a:cubicBezTo>
                      <a:pt x="285687" y="163852"/>
                      <a:pt x="284407" y="164435"/>
                      <a:pt x="283414" y="165229"/>
                    </a:cubicBezTo>
                    <a:cubicBezTo>
                      <a:pt x="282429" y="166021"/>
                      <a:pt x="281742" y="166919"/>
                      <a:pt x="281369" y="167952"/>
                    </a:cubicBezTo>
                    <a:lnTo>
                      <a:pt x="282077" y="170798"/>
                    </a:lnTo>
                    <a:cubicBezTo>
                      <a:pt x="282917" y="174180"/>
                      <a:pt x="284177" y="176625"/>
                      <a:pt x="285849" y="178135"/>
                    </a:cubicBezTo>
                    <a:cubicBezTo>
                      <a:pt x="286681" y="178881"/>
                      <a:pt x="287550" y="179387"/>
                      <a:pt x="288468" y="179634"/>
                    </a:cubicBezTo>
                    <a:cubicBezTo>
                      <a:pt x="289403" y="179892"/>
                      <a:pt x="290378" y="179892"/>
                      <a:pt x="291400" y="179645"/>
                    </a:cubicBezTo>
                    <a:cubicBezTo>
                      <a:pt x="293158" y="179204"/>
                      <a:pt x="294371" y="178040"/>
                      <a:pt x="295041" y="176167"/>
                    </a:cubicBezTo>
                    <a:cubicBezTo>
                      <a:pt x="295699" y="174296"/>
                      <a:pt x="295738" y="172211"/>
                      <a:pt x="295165" y="169920"/>
                    </a:cubicBezTo>
                    <a:cubicBezTo>
                      <a:pt x="294573" y="167569"/>
                      <a:pt x="293570" y="165774"/>
                      <a:pt x="292126" y="164590"/>
                    </a:cubicBezTo>
                    <a:cubicBezTo>
                      <a:pt x="291017" y="163652"/>
                      <a:pt x="289796" y="163221"/>
                      <a:pt x="288468" y="163280"/>
                    </a:cubicBezTo>
                    <a:close/>
                    <a:moveTo>
                      <a:pt x="288468" y="141203"/>
                    </a:moveTo>
                    <a:lnTo>
                      <a:pt x="288516" y="141203"/>
                    </a:lnTo>
                    <a:cubicBezTo>
                      <a:pt x="289949" y="141165"/>
                      <a:pt x="291420" y="141260"/>
                      <a:pt x="292929" y="141509"/>
                    </a:cubicBezTo>
                    <a:lnTo>
                      <a:pt x="292968" y="148168"/>
                    </a:lnTo>
                    <a:cubicBezTo>
                      <a:pt x="291573" y="148043"/>
                      <a:pt x="290330" y="147984"/>
                      <a:pt x="289279" y="148013"/>
                    </a:cubicBezTo>
                    <a:cubicBezTo>
                      <a:pt x="289012" y="148024"/>
                      <a:pt x="288745" y="148032"/>
                      <a:pt x="288468" y="148062"/>
                    </a:cubicBezTo>
                    <a:cubicBezTo>
                      <a:pt x="287618" y="148138"/>
                      <a:pt x="286699" y="148301"/>
                      <a:pt x="285696" y="148548"/>
                    </a:cubicBezTo>
                    <a:cubicBezTo>
                      <a:pt x="283099" y="149198"/>
                      <a:pt x="281264" y="150689"/>
                      <a:pt x="280166" y="153029"/>
                    </a:cubicBezTo>
                    <a:cubicBezTo>
                      <a:pt x="279086" y="155361"/>
                      <a:pt x="279019" y="158235"/>
                      <a:pt x="280004" y="161646"/>
                    </a:cubicBezTo>
                    <a:lnTo>
                      <a:pt x="280128" y="161760"/>
                    </a:lnTo>
                    <a:cubicBezTo>
                      <a:pt x="280834" y="160528"/>
                      <a:pt x="281856" y="159449"/>
                      <a:pt x="283174" y="158514"/>
                    </a:cubicBezTo>
                    <a:cubicBezTo>
                      <a:pt x="284502" y="157576"/>
                      <a:pt x="286079" y="156890"/>
                      <a:pt x="287905" y="156429"/>
                    </a:cubicBezTo>
                    <a:lnTo>
                      <a:pt x="288468" y="156296"/>
                    </a:lnTo>
                    <a:cubicBezTo>
                      <a:pt x="292039" y="155532"/>
                      <a:pt x="295174" y="156191"/>
                      <a:pt x="297867" y="158254"/>
                    </a:cubicBezTo>
                    <a:cubicBezTo>
                      <a:pt x="300706" y="160414"/>
                      <a:pt x="302644" y="163605"/>
                      <a:pt x="303695" y="167789"/>
                    </a:cubicBezTo>
                    <a:cubicBezTo>
                      <a:pt x="304765" y="172089"/>
                      <a:pt x="304326" y="175977"/>
                      <a:pt x="302349" y="179425"/>
                    </a:cubicBezTo>
                    <a:cubicBezTo>
                      <a:pt x="300381" y="182883"/>
                      <a:pt x="297286" y="185146"/>
                      <a:pt x="293044" y="186198"/>
                    </a:cubicBezTo>
                    <a:cubicBezTo>
                      <a:pt x="291458" y="186599"/>
                      <a:pt x="289939" y="186781"/>
                      <a:pt x="288468" y="186741"/>
                    </a:cubicBezTo>
                    <a:cubicBezTo>
                      <a:pt x="285745" y="186686"/>
                      <a:pt x="283223" y="185892"/>
                      <a:pt x="280892" y="184363"/>
                    </a:cubicBezTo>
                    <a:cubicBezTo>
                      <a:pt x="277300" y="182023"/>
                      <a:pt x="274816" y="178135"/>
                      <a:pt x="273469" y="172727"/>
                    </a:cubicBezTo>
                    <a:lnTo>
                      <a:pt x="271387" y="164416"/>
                    </a:lnTo>
                    <a:cubicBezTo>
                      <a:pt x="270001" y="158837"/>
                      <a:pt x="270498" y="153984"/>
                      <a:pt x="272885" y="149876"/>
                    </a:cubicBezTo>
                    <a:cubicBezTo>
                      <a:pt x="275293" y="145769"/>
                      <a:pt x="278982" y="143103"/>
                      <a:pt x="283958" y="141853"/>
                    </a:cubicBezTo>
                    <a:cubicBezTo>
                      <a:pt x="285545" y="141460"/>
                      <a:pt x="287043" y="141241"/>
                      <a:pt x="288468" y="141203"/>
                    </a:cubicBezTo>
                    <a:close/>
                    <a:moveTo>
                      <a:pt x="417336" y="120015"/>
                    </a:moveTo>
                    <a:lnTo>
                      <a:pt x="411700" y="138062"/>
                    </a:lnTo>
                    <a:lnTo>
                      <a:pt x="425570" y="151618"/>
                    </a:lnTo>
                    <a:lnTo>
                      <a:pt x="415950" y="154026"/>
                    </a:lnTo>
                    <a:lnTo>
                      <a:pt x="408135" y="144807"/>
                    </a:lnTo>
                    <a:lnTo>
                      <a:pt x="405565" y="156623"/>
                    </a:lnTo>
                    <a:lnTo>
                      <a:pt x="395917" y="159031"/>
                    </a:lnTo>
                    <a:lnTo>
                      <a:pt x="401773" y="140546"/>
                    </a:lnTo>
                    <a:lnTo>
                      <a:pt x="388284" y="127277"/>
                    </a:lnTo>
                    <a:lnTo>
                      <a:pt x="397894" y="124869"/>
                    </a:lnTo>
                    <a:cubicBezTo>
                      <a:pt x="397894" y="124869"/>
                      <a:pt x="405165" y="133763"/>
                      <a:pt x="405165" y="133763"/>
                    </a:cubicBezTo>
                    <a:lnTo>
                      <a:pt x="405337" y="133714"/>
                    </a:lnTo>
                    <a:lnTo>
                      <a:pt x="407676" y="122423"/>
                    </a:lnTo>
                    <a:close/>
                    <a:moveTo>
                      <a:pt x="30122" y="84716"/>
                    </a:moveTo>
                    <a:cubicBezTo>
                      <a:pt x="30122" y="84716"/>
                      <a:pt x="31774" y="91297"/>
                      <a:pt x="31774" y="91297"/>
                    </a:cubicBezTo>
                    <a:cubicBezTo>
                      <a:pt x="28536" y="97796"/>
                      <a:pt x="26673" y="103554"/>
                      <a:pt x="26156" y="108609"/>
                    </a:cubicBezTo>
                    <a:cubicBezTo>
                      <a:pt x="25641" y="113653"/>
                      <a:pt x="25850" y="119539"/>
                      <a:pt x="26758" y="126253"/>
                    </a:cubicBezTo>
                    <a:lnTo>
                      <a:pt x="27436" y="130695"/>
                    </a:lnTo>
                    <a:lnTo>
                      <a:pt x="18876" y="132836"/>
                    </a:lnTo>
                    <a:lnTo>
                      <a:pt x="18208" y="128394"/>
                    </a:lnTo>
                    <a:cubicBezTo>
                      <a:pt x="17301" y="121965"/>
                      <a:pt x="17290" y="115852"/>
                      <a:pt x="18170" y="110062"/>
                    </a:cubicBezTo>
                    <a:cubicBezTo>
                      <a:pt x="19059" y="104272"/>
                      <a:pt x="20836" y="98711"/>
                      <a:pt x="23550" y="93362"/>
                    </a:cubicBezTo>
                    <a:lnTo>
                      <a:pt x="1643" y="98825"/>
                    </a:lnTo>
                    <a:lnTo>
                      <a:pt x="0" y="92244"/>
                    </a:lnTo>
                    <a:close/>
                    <a:moveTo>
                      <a:pt x="141166" y="81547"/>
                    </a:moveTo>
                    <a:cubicBezTo>
                      <a:pt x="140650" y="81566"/>
                      <a:pt x="140105" y="81634"/>
                      <a:pt x="139550" y="81777"/>
                    </a:cubicBezTo>
                    <a:cubicBezTo>
                      <a:pt x="137755" y="82227"/>
                      <a:pt x="136465" y="83164"/>
                      <a:pt x="135671" y="84586"/>
                    </a:cubicBezTo>
                    <a:cubicBezTo>
                      <a:pt x="134859" y="86011"/>
                      <a:pt x="134707" y="87682"/>
                      <a:pt x="135184" y="89592"/>
                    </a:cubicBezTo>
                    <a:cubicBezTo>
                      <a:pt x="135681" y="91550"/>
                      <a:pt x="136617" y="92955"/>
                      <a:pt x="137975" y="93795"/>
                    </a:cubicBezTo>
                    <a:cubicBezTo>
                      <a:pt x="138929" y="94388"/>
                      <a:pt x="139990" y="94675"/>
                      <a:pt x="141166" y="94637"/>
                    </a:cubicBezTo>
                    <a:cubicBezTo>
                      <a:pt x="141682" y="94618"/>
                      <a:pt x="142215" y="94542"/>
                      <a:pt x="142770" y="94398"/>
                    </a:cubicBezTo>
                    <a:cubicBezTo>
                      <a:pt x="144538" y="93957"/>
                      <a:pt x="145837" y="93031"/>
                      <a:pt x="146639" y="91617"/>
                    </a:cubicBezTo>
                    <a:cubicBezTo>
                      <a:pt x="147461" y="90222"/>
                      <a:pt x="147622" y="88541"/>
                      <a:pt x="147136" y="86601"/>
                    </a:cubicBezTo>
                    <a:cubicBezTo>
                      <a:pt x="146658" y="84700"/>
                      <a:pt x="145722" y="83297"/>
                      <a:pt x="144318" y="82427"/>
                    </a:cubicBezTo>
                    <a:cubicBezTo>
                      <a:pt x="143352" y="81826"/>
                      <a:pt x="142303" y="81528"/>
                      <a:pt x="141166" y="81547"/>
                    </a:cubicBezTo>
                    <a:close/>
                    <a:moveTo>
                      <a:pt x="135032" y="63683"/>
                    </a:moveTo>
                    <a:cubicBezTo>
                      <a:pt x="133465" y="64075"/>
                      <a:pt x="132375" y="64888"/>
                      <a:pt x="131765" y="66128"/>
                    </a:cubicBezTo>
                    <a:cubicBezTo>
                      <a:pt x="131134" y="67371"/>
                      <a:pt x="131039" y="68880"/>
                      <a:pt x="131477" y="70638"/>
                    </a:cubicBezTo>
                    <a:cubicBezTo>
                      <a:pt x="131927" y="72415"/>
                      <a:pt x="132720" y="73714"/>
                      <a:pt x="133866" y="74527"/>
                    </a:cubicBezTo>
                    <a:cubicBezTo>
                      <a:pt x="135023" y="75356"/>
                      <a:pt x="136378" y="75567"/>
                      <a:pt x="137965" y="75177"/>
                    </a:cubicBezTo>
                    <a:cubicBezTo>
                      <a:pt x="139464" y="74803"/>
                      <a:pt x="140525" y="74020"/>
                      <a:pt x="141166" y="72796"/>
                    </a:cubicBezTo>
                    <a:lnTo>
                      <a:pt x="141213" y="72693"/>
                    </a:lnTo>
                    <a:cubicBezTo>
                      <a:pt x="141843" y="71440"/>
                      <a:pt x="141939" y="69912"/>
                      <a:pt x="141499" y="68135"/>
                    </a:cubicBezTo>
                    <a:cubicBezTo>
                      <a:pt x="141403" y="67753"/>
                      <a:pt x="141289" y="67399"/>
                      <a:pt x="141166" y="67065"/>
                    </a:cubicBezTo>
                    <a:cubicBezTo>
                      <a:pt x="140697" y="65882"/>
                      <a:pt x="140009" y="64964"/>
                      <a:pt x="139092" y="64333"/>
                    </a:cubicBezTo>
                    <a:cubicBezTo>
                      <a:pt x="137936" y="63512"/>
                      <a:pt x="136569" y="63301"/>
                      <a:pt x="135032" y="63683"/>
                    </a:cubicBezTo>
                    <a:close/>
                    <a:moveTo>
                      <a:pt x="141166" y="56795"/>
                    </a:moveTo>
                    <a:cubicBezTo>
                      <a:pt x="142149" y="57004"/>
                      <a:pt x="143084" y="57329"/>
                      <a:pt x="143974" y="57760"/>
                    </a:cubicBezTo>
                    <a:cubicBezTo>
                      <a:pt x="146993" y="59222"/>
                      <a:pt x="148970" y="61830"/>
                      <a:pt x="149926" y="65622"/>
                    </a:cubicBezTo>
                    <a:cubicBezTo>
                      <a:pt x="150451" y="67753"/>
                      <a:pt x="150366" y="69768"/>
                      <a:pt x="149647" y="71689"/>
                    </a:cubicBezTo>
                    <a:cubicBezTo>
                      <a:pt x="148932" y="73609"/>
                      <a:pt x="147718" y="75280"/>
                      <a:pt x="145961" y="76694"/>
                    </a:cubicBezTo>
                    <a:cubicBezTo>
                      <a:pt x="148473" y="77086"/>
                      <a:pt x="150603" y="77994"/>
                      <a:pt x="152342" y="79456"/>
                    </a:cubicBezTo>
                    <a:cubicBezTo>
                      <a:pt x="154100" y="80897"/>
                      <a:pt x="155266" y="82771"/>
                      <a:pt x="155839" y="85063"/>
                    </a:cubicBezTo>
                    <a:cubicBezTo>
                      <a:pt x="156822" y="89009"/>
                      <a:pt x="156240" y="92373"/>
                      <a:pt x="154090" y="95162"/>
                    </a:cubicBezTo>
                    <a:cubicBezTo>
                      <a:pt x="151951" y="97941"/>
                      <a:pt x="148711" y="99881"/>
                      <a:pt x="144404" y="100961"/>
                    </a:cubicBezTo>
                    <a:cubicBezTo>
                      <a:pt x="143284" y="101237"/>
                      <a:pt x="142206" y="101438"/>
                      <a:pt x="141166" y="101543"/>
                    </a:cubicBezTo>
                    <a:cubicBezTo>
                      <a:pt x="138146" y="101868"/>
                      <a:pt x="135443" y="101495"/>
                      <a:pt x="133045" y="100416"/>
                    </a:cubicBezTo>
                    <a:cubicBezTo>
                      <a:pt x="129834" y="98965"/>
                      <a:pt x="127743" y="96279"/>
                      <a:pt x="126759" y="92324"/>
                    </a:cubicBezTo>
                    <a:cubicBezTo>
                      <a:pt x="126185" y="90014"/>
                      <a:pt x="126319" y="87825"/>
                      <a:pt x="127170" y="85732"/>
                    </a:cubicBezTo>
                    <a:cubicBezTo>
                      <a:pt x="128029" y="83630"/>
                      <a:pt x="129481" y="81815"/>
                      <a:pt x="131516" y="80268"/>
                    </a:cubicBezTo>
                    <a:cubicBezTo>
                      <a:pt x="129300" y="79846"/>
                      <a:pt x="127437" y="78958"/>
                      <a:pt x="125909" y="77612"/>
                    </a:cubicBezTo>
                    <a:cubicBezTo>
                      <a:pt x="124390" y="76255"/>
                      <a:pt x="123358" y="74516"/>
                      <a:pt x="122823" y="72396"/>
                    </a:cubicBezTo>
                    <a:cubicBezTo>
                      <a:pt x="121886" y="68604"/>
                      <a:pt x="122392" y="65365"/>
                      <a:pt x="124351" y="62662"/>
                    </a:cubicBezTo>
                    <a:cubicBezTo>
                      <a:pt x="126310" y="59967"/>
                      <a:pt x="129318" y="58114"/>
                      <a:pt x="133388" y="57091"/>
                    </a:cubicBezTo>
                    <a:cubicBezTo>
                      <a:pt x="136236" y="56384"/>
                      <a:pt x="138824" y="56289"/>
                      <a:pt x="141166" y="56795"/>
                    </a:cubicBezTo>
                    <a:close/>
                    <a:moveTo>
                      <a:pt x="257877" y="35319"/>
                    </a:moveTo>
                    <a:cubicBezTo>
                      <a:pt x="257036" y="35100"/>
                      <a:pt x="256158" y="35108"/>
                      <a:pt x="255231" y="35347"/>
                    </a:cubicBezTo>
                    <a:cubicBezTo>
                      <a:pt x="253512" y="35768"/>
                      <a:pt x="252307" y="36913"/>
                      <a:pt x="251620" y="38797"/>
                    </a:cubicBezTo>
                    <a:cubicBezTo>
                      <a:pt x="250942" y="40659"/>
                      <a:pt x="250894" y="42751"/>
                      <a:pt x="251467" y="45053"/>
                    </a:cubicBezTo>
                    <a:cubicBezTo>
                      <a:pt x="252068" y="47481"/>
                      <a:pt x="253043" y="49315"/>
                      <a:pt x="254410" y="50566"/>
                    </a:cubicBezTo>
                    <a:cubicBezTo>
                      <a:pt x="255432" y="51502"/>
                      <a:pt x="256588" y="51960"/>
                      <a:pt x="257877" y="51932"/>
                    </a:cubicBezTo>
                    <a:cubicBezTo>
                      <a:pt x="258288" y="51932"/>
                      <a:pt x="258728" y="51865"/>
                      <a:pt x="259167" y="51759"/>
                    </a:cubicBezTo>
                    <a:cubicBezTo>
                      <a:pt x="260580" y="51407"/>
                      <a:pt x="261746" y="50844"/>
                      <a:pt x="262653" y="50041"/>
                    </a:cubicBezTo>
                    <a:cubicBezTo>
                      <a:pt x="263590" y="49248"/>
                      <a:pt x="264260" y="48341"/>
                      <a:pt x="264679" y="47299"/>
                    </a:cubicBezTo>
                    <a:lnTo>
                      <a:pt x="263705" y="43373"/>
                    </a:lnTo>
                    <a:cubicBezTo>
                      <a:pt x="262921" y="40250"/>
                      <a:pt x="261775" y="38012"/>
                      <a:pt x="260283" y="36656"/>
                    </a:cubicBezTo>
                    <a:cubicBezTo>
                      <a:pt x="259531" y="35977"/>
                      <a:pt x="258728" y="35538"/>
                      <a:pt x="257877" y="35319"/>
                    </a:cubicBezTo>
                    <a:close/>
                    <a:moveTo>
                      <a:pt x="257877" y="28240"/>
                    </a:moveTo>
                    <a:cubicBezTo>
                      <a:pt x="260532" y="28297"/>
                      <a:pt x="262998" y="29090"/>
                      <a:pt x="265272" y="30608"/>
                    </a:cubicBezTo>
                    <a:cubicBezTo>
                      <a:pt x="268740" y="32930"/>
                      <a:pt x="271146" y="36800"/>
                      <a:pt x="272503" y="42226"/>
                    </a:cubicBezTo>
                    <a:lnTo>
                      <a:pt x="275025" y="52306"/>
                    </a:lnTo>
                    <a:cubicBezTo>
                      <a:pt x="276325" y="57493"/>
                      <a:pt x="275808" y="61934"/>
                      <a:pt x="273516" y="65661"/>
                    </a:cubicBezTo>
                    <a:cubicBezTo>
                      <a:pt x="271223" y="69395"/>
                      <a:pt x="267727" y="71842"/>
                      <a:pt x="263008" y="73016"/>
                    </a:cubicBezTo>
                    <a:cubicBezTo>
                      <a:pt x="261537" y="73379"/>
                      <a:pt x="259969" y="73619"/>
                      <a:pt x="258327" y="73714"/>
                    </a:cubicBezTo>
                    <a:lnTo>
                      <a:pt x="257877" y="73733"/>
                    </a:lnTo>
                    <a:cubicBezTo>
                      <a:pt x="256397" y="73771"/>
                      <a:pt x="254963" y="73695"/>
                      <a:pt x="253607" y="73465"/>
                    </a:cubicBezTo>
                    <a:lnTo>
                      <a:pt x="253063" y="67036"/>
                    </a:lnTo>
                    <a:cubicBezTo>
                      <a:pt x="254457" y="67209"/>
                      <a:pt x="255794" y="67255"/>
                      <a:pt x="257094" y="67160"/>
                    </a:cubicBezTo>
                    <a:lnTo>
                      <a:pt x="257877" y="67103"/>
                    </a:lnTo>
                    <a:cubicBezTo>
                      <a:pt x="258957" y="66989"/>
                      <a:pt x="260122" y="66768"/>
                      <a:pt x="261374" y="66454"/>
                    </a:cubicBezTo>
                    <a:cubicBezTo>
                      <a:pt x="263620" y="65891"/>
                      <a:pt x="265244" y="64600"/>
                      <a:pt x="266245" y="62576"/>
                    </a:cubicBezTo>
                    <a:cubicBezTo>
                      <a:pt x="267240" y="60549"/>
                      <a:pt x="267354" y="57989"/>
                      <a:pt x="266580" y="54885"/>
                    </a:cubicBezTo>
                    <a:lnTo>
                      <a:pt x="266055" y="52772"/>
                    </a:lnTo>
                    <a:cubicBezTo>
                      <a:pt x="265395" y="54225"/>
                      <a:pt x="264488" y="55429"/>
                      <a:pt x="263333" y="56376"/>
                    </a:cubicBezTo>
                    <a:cubicBezTo>
                      <a:pt x="262167" y="57339"/>
                      <a:pt x="260819" y="57999"/>
                      <a:pt x="259299" y="58381"/>
                    </a:cubicBezTo>
                    <a:cubicBezTo>
                      <a:pt x="258813" y="58506"/>
                      <a:pt x="258346" y="58600"/>
                      <a:pt x="257877" y="58676"/>
                    </a:cubicBezTo>
                    <a:cubicBezTo>
                      <a:pt x="254505" y="59231"/>
                      <a:pt x="251534" y="58611"/>
                      <a:pt x="248984" y="56842"/>
                    </a:cubicBezTo>
                    <a:cubicBezTo>
                      <a:pt x="246051" y="54817"/>
                      <a:pt x="244035" y="51608"/>
                      <a:pt x="242936" y="47183"/>
                    </a:cubicBezTo>
                    <a:cubicBezTo>
                      <a:pt x="241875" y="42934"/>
                      <a:pt x="242343" y="39064"/>
                      <a:pt x="244331" y="35557"/>
                    </a:cubicBezTo>
                    <a:cubicBezTo>
                      <a:pt x="246317" y="32061"/>
                      <a:pt x="249394" y="29807"/>
                      <a:pt x="253550" y="28757"/>
                    </a:cubicBezTo>
                    <a:cubicBezTo>
                      <a:pt x="255049" y="28383"/>
                      <a:pt x="256483" y="28221"/>
                      <a:pt x="257877" y="28240"/>
                    </a:cubicBezTo>
                    <a:close/>
                    <a:moveTo>
                      <a:pt x="391632" y="23958"/>
                    </a:moveTo>
                    <a:cubicBezTo>
                      <a:pt x="391223" y="23930"/>
                      <a:pt x="390783" y="23967"/>
                      <a:pt x="390315" y="24071"/>
                    </a:cubicBezTo>
                    <a:cubicBezTo>
                      <a:pt x="389148" y="24378"/>
                      <a:pt x="388356" y="24990"/>
                      <a:pt x="387935" y="25936"/>
                    </a:cubicBezTo>
                    <a:cubicBezTo>
                      <a:pt x="387524" y="26881"/>
                      <a:pt x="387448" y="27914"/>
                      <a:pt x="387725" y="29021"/>
                    </a:cubicBezTo>
                    <a:lnTo>
                      <a:pt x="388291" y="31266"/>
                    </a:lnTo>
                    <a:cubicBezTo>
                      <a:pt x="388566" y="32374"/>
                      <a:pt x="389131" y="33242"/>
                      <a:pt x="390008" y="33864"/>
                    </a:cubicBezTo>
                    <a:cubicBezTo>
                      <a:pt x="390515" y="34217"/>
                      <a:pt x="391049" y="34428"/>
                      <a:pt x="391632" y="34495"/>
                    </a:cubicBezTo>
                    <a:cubicBezTo>
                      <a:pt x="392054" y="34543"/>
                      <a:pt x="392492" y="34504"/>
                      <a:pt x="392951" y="34390"/>
                    </a:cubicBezTo>
                    <a:cubicBezTo>
                      <a:pt x="394222" y="34074"/>
                      <a:pt x="395045" y="33473"/>
                      <a:pt x="395406" y="32614"/>
                    </a:cubicBezTo>
                    <a:cubicBezTo>
                      <a:pt x="395770" y="31743"/>
                      <a:pt x="395798" y="30703"/>
                      <a:pt x="395482" y="29471"/>
                    </a:cubicBezTo>
                    <a:lnTo>
                      <a:pt x="394919" y="27216"/>
                    </a:lnTo>
                    <a:cubicBezTo>
                      <a:pt x="394651" y="26116"/>
                      <a:pt x="394098" y="25238"/>
                      <a:pt x="393286" y="24607"/>
                    </a:cubicBezTo>
                    <a:cubicBezTo>
                      <a:pt x="392788" y="24226"/>
                      <a:pt x="392245" y="24015"/>
                      <a:pt x="391632" y="23958"/>
                    </a:cubicBezTo>
                    <a:close/>
                    <a:moveTo>
                      <a:pt x="391632" y="18941"/>
                    </a:moveTo>
                    <a:cubicBezTo>
                      <a:pt x="393505" y="18837"/>
                      <a:pt x="395157" y="19239"/>
                      <a:pt x="396591" y="20117"/>
                    </a:cubicBezTo>
                    <a:cubicBezTo>
                      <a:pt x="398644" y="21379"/>
                      <a:pt x="399982" y="23280"/>
                      <a:pt x="400612" y="25802"/>
                    </a:cubicBezTo>
                    <a:lnTo>
                      <a:pt x="401177" y="28047"/>
                    </a:lnTo>
                    <a:cubicBezTo>
                      <a:pt x="401807" y="30587"/>
                      <a:pt x="401530" y="32891"/>
                      <a:pt x="400317" y="34952"/>
                    </a:cubicBezTo>
                    <a:cubicBezTo>
                      <a:pt x="399113" y="37018"/>
                      <a:pt x="397050" y="38411"/>
                      <a:pt x="394135" y="39139"/>
                    </a:cubicBezTo>
                    <a:cubicBezTo>
                      <a:pt x="393267" y="39357"/>
                      <a:pt x="392427" y="39491"/>
                      <a:pt x="391632" y="39530"/>
                    </a:cubicBezTo>
                    <a:cubicBezTo>
                      <a:pt x="389761" y="39625"/>
                      <a:pt x="388098" y="39234"/>
                      <a:pt x="386647" y="38354"/>
                    </a:cubicBezTo>
                    <a:cubicBezTo>
                      <a:pt x="385681" y="37762"/>
                      <a:pt x="384861" y="37027"/>
                      <a:pt x="384200" y="36158"/>
                    </a:cubicBezTo>
                    <a:cubicBezTo>
                      <a:pt x="383475" y="35174"/>
                      <a:pt x="382940" y="34017"/>
                      <a:pt x="382604" y="32690"/>
                    </a:cubicBezTo>
                    <a:lnTo>
                      <a:pt x="382041" y="30435"/>
                    </a:lnTo>
                    <a:cubicBezTo>
                      <a:pt x="381411" y="27941"/>
                      <a:pt x="381708" y="25640"/>
                      <a:pt x="382929" y="23556"/>
                    </a:cubicBezTo>
                    <a:cubicBezTo>
                      <a:pt x="383282" y="22955"/>
                      <a:pt x="383713" y="22410"/>
                      <a:pt x="384200" y="21913"/>
                    </a:cubicBezTo>
                    <a:cubicBezTo>
                      <a:pt x="385424" y="20709"/>
                      <a:pt x="387067" y="19849"/>
                      <a:pt x="389131" y="19334"/>
                    </a:cubicBezTo>
                    <a:cubicBezTo>
                      <a:pt x="389999" y="19105"/>
                      <a:pt x="390831" y="18980"/>
                      <a:pt x="391632" y="18941"/>
                    </a:cubicBezTo>
                    <a:close/>
                    <a:moveTo>
                      <a:pt x="365209" y="5033"/>
                    </a:moveTo>
                    <a:cubicBezTo>
                      <a:pt x="364798" y="4994"/>
                      <a:pt x="364367" y="5042"/>
                      <a:pt x="363899" y="5158"/>
                    </a:cubicBezTo>
                    <a:cubicBezTo>
                      <a:pt x="362754" y="5444"/>
                      <a:pt x="361959" y="6064"/>
                      <a:pt x="361550" y="7011"/>
                    </a:cubicBezTo>
                    <a:cubicBezTo>
                      <a:pt x="361130" y="7947"/>
                      <a:pt x="361062" y="8987"/>
                      <a:pt x="361348" y="10116"/>
                    </a:cubicBezTo>
                    <a:lnTo>
                      <a:pt x="361913" y="12360"/>
                    </a:lnTo>
                    <a:cubicBezTo>
                      <a:pt x="362191" y="13497"/>
                      <a:pt x="362743" y="14366"/>
                      <a:pt x="363555" y="14978"/>
                    </a:cubicBezTo>
                    <a:cubicBezTo>
                      <a:pt x="364042" y="15341"/>
                      <a:pt x="364596" y="15551"/>
                      <a:pt x="365209" y="15598"/>
                    </a:cubicBezTo>
                    <a:cubicBezTo>
                      <a:pt x="365629" y="15628"/>
                      <a:pt x="366069" y="15588"/>
                      <a:pt x="366545" y="15464"/>
                    </a:cubicBezTo>
                    <a:cubicBezTo>
                      <a:pt x="367673" y="15188"/>
                      <a:pt x="368457" y="14576"/>
                      <a:pt x="368867" y="13659"/>
                    </a:cubicBezTo>
                    <a:cubicBezTo>
                      <a:pt x="369298" y="12723"/>
                      <a:pt x="369354" y="11711"/>
                      <a:pt x="369077" y="10574"/>
                    </a:cubicBezTo>
                    <a:lnTo>
                      <a:pt x="368514" y="8328"/>
                    </a:lnTo>
                    <a:cubicBezTo>
                      <a:pt x="368236" y="7191"/>
                      <a:pt x="367682" y="6313"/>
                      <a:pt x="366870" y="5682"/>
                    </a:cubicBezTo>
                    <a:cubicBezTo>
                      <a:pt x="366374" y="5301"/>
                      <a:pt x="365820" y="5081"/>
                      <a:pt x="365209" y="5033"/>
                    </a:cubicBezTo>
                    <a:close/>
                    <a:moveTo>
                      <a:pt x="381985" y="418"/>
                    </a:moveTo>
                    <a:lnTo>
                      <a:pt x="384200" y="964"/>
                    </a:lnTo>
                    <a:lnTo>
                      <a:pt x="386695" y="1574"/>
                    </a:lnTo>
                    <a:cubicBezTo>
                      <a:pt x="386695" y="1574"/>
                      <a:pt x="384200" y="9245"/>
                      <a:pt x="384200" y="9245"/>
                    </a:cubicBezTo>
                    <a:lnTo>
                      <a:pt x="374198" y="40103"/>
                    </a:lnTo>
                    <a:lnTo>
                      <a:pt x="372288" y="39643"/>
                    </a:lnTo>
                    <a:lnTo>
                      <a:pt x="369488" y="38947"/>
                    </a:lnTo>
                    <a:cubicBezTo>
                      <a:pt x="369488" y="38947"/>
                      <a:pt x="372288" y="30301"/>
                      <a:pt x="372288" y="30301"/>
                    </a:cubicBezTo>
                    <a:close/>
                    <a:moveTo>
                      <a:pt x="365209" y="16"/>
                    </a:moveTo>
                    <a:cubicBezTo>
                      <a:pt x="367100" y="-88"/>
                      <a:pt x="368763" y="303"/>
                      <a:pt x="370194" y="1192"/>
                    </a:cubicBezTo>
                    <a:cubicBezTo>
                      <a:pt x="371008" y="1699"/>
                      <a:pt x="371703" y="2292"/>
                      <a:pt x="372288" y="2997"/>
                    </a:cubicBezTo>
                    <a:cubicBezTo>
                      <a:pt x="373185" y="4067"/>
                      <a:pt x="373825" y="5368"/>
                      <a:pt x="374209" y="6905"/>
                    </a:cubicBezTo>
                    <a:lnTo>
                      <a:pt x="374761" y="9151"/>
                    </a:lnTo>
                    <a:cubicBezTo>
                      <a:pt x="375393" y="11672"/>
                      <a:pt x="375105" y="13964"/>
                      <a:pt x="373901" y="16028"/>
                    </a:cubicBezTo>
                    <a:cubicBezTo>
                      <a:pt x="373473" y="16764"/>
                      <a:pt x="372938" y="17414"/>
                      <a:pt x="372288" y="17978"/>
                    </a:cubicBezTo>
                    <a:cubicBezTo>
                      <a:pt x="371123" y="18999"/>
                      <a:pt x="369603" y="19745"/>
                      <a:pt x="367730" y="20212"/>
                    </a:cubicBezTo>
                    <a:cubicBezTo>
                      <a:pt x="366851" y="20432"/>
                      <a:pt x="366010" y="20556"/>
                      <a:pt x="365209" y="20605"/>
                    </a:cubicBezTo>
                    <a:cubicBezTo>
                      <a:pt x="363345" y="20700"/>
                      <a:pt x="361684" y="20318"/>
                      <a:pt x="360250" y="19440"/>
                    </a:cubicBezTo>
                    <a:cubicBezTo>
                      <a:pt x="358198" y="18188"/>
                      <a:pt x="356848" y="16307"/>
                      <a:pt x="356218" y="13784"/>
                    </a:cubicBezTo>
                    <a:cubicBezTo>
                      <a:pt x="356218" y="13784"/>
                      <a:pt x="355655" y="11540"/>
                      <a:pt x="355655" y="11540"/>
                    </a:cubicBezTo>
                    <a:cubicBezTo>
                      <a:pt x="355034" y="9017"/>
                      <a:pt x="355330" y="6715"/>
                      <a:pt x="356534" y="4622"/>
                    </a:cubicBezTo>
                    <a:cubicBezTo>
                      <a:pt x="357747" y="2540"/>
                      <a:pt x="359811" y="1135"/>
                      <a:pt x="362715" y="409"/>
                    </a:cubicBezTo>
                    <a:cubicBezTo>
                      <a:pt x="363585" y="190"/>
                      <a:pt x="364414" y="56"/>
                      <a:pt x="365209" y="16"/>
                    </a:cubicBezTo>
                    <a:close/>
                  </a:path>
                </a:pathLst>
              </a:custGeom>
              <a:solidFill>
                <a:srgbClr val="010101">
                  <a:alpha val="6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0E8A8B-625D-46B0-A62D-EC08C47F3479}"/>
                </a:ext>
              </a:extLst>
            </p:cNvPr>
            <p:cNvGrpSpPr/>
            <p:nvPr/>
          </p:nvGrpSpPr>
          <p:grpSpPr>
            <a:xfrm>
              <a:off x="16696952" y="6516212"/>
              <a:ext cx="1008112" cy="823389"/>
              <a:chOff x="1429850" y="3766265"/>
              <a:chExt cx="968315" cy="790885"/>
            </a:xfrm>
          </p:grpSpPr>
          <p:sp>
            <p:nvSpPr>
              <p:cNvPr id="64" name="Shape 14">
                <a:extLst>
                  <a:ext uri="{FF2B5EF4-FFF2-40B4-BE49-F238E27FC236}">
                    <a16:creationId xmlns:a16="http://schemas.microsoft.com/office/drawing/2014/main" id="{DDD0F968-BBAD-4639-B714-CF549585B34D}"/>
                  </a:ext>
                </a:extLst>
              </p:cNvPr>
              <p:cNvSpPr/>
              <p:nvPr/>
            </p:nvSpPr>
            <p:spPr>
              <a:xfrm>
                <a:off x="1429850" y="3766265"/>
                <a:ext cx="948729" cy="734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2" h="21397" extrusionOk="0">
                    <a:moveTo>
                      <a:pt x="0" y="5529"/>
                    </a:moveTo>
                    <a:lnTo>
                      <a:pt x="3881" y="20249"/>
                    </a:lnTo>
                    <a:cubicBezTo>
                      <a:pt x="4103" y="21123"/>
                      <a:pt x="4833" y="21600"/>
                      <a:pt x="5511" y="21314"/>
                    </a:cubicBezTo>
                    <a:lnTo>
                      <a:pt x="20552" y="14964"/>
                    </a:lnTo>
                    <a:cubicBezTo>
                      <a:pt x="21230" y="14678"/>
                      <a:pt x="21600" y="13737"/>
                      <a:pt x="21378" y="12863"/>
                    </a:cubicBezTo>
                    <a:lnTo>
                      <a:pt x="18111" y="0"/>
                    </a:lnTo>
                    <a:lnTo>
                      <a:pt x="8588" y="4020"/>
                    </a:lnTo>
                    <a:lnTo>
                      <a:pt x="6579" y="2874"/>
                    </a:lnTo>
                    <a:cubicBezTo>
                      <a:pt x="6579" y="2874"/>
                      <a:pt x="0" y="5529"/>
                      <a:pt x="0" y="5529"/>
                    </a:cubicBezTo>
                    <a:close/>
                  </a:path>
                </a:pathLst>
              </a:custGeom>
              <a:solidFill>
                <a:srgbClr val="6491C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65" name="Shape 15">
                <a:extLst>
                  <a:ext uri="{FF2B5EF4-FFF2-40B4-BE49-F238E27FC236}">
                    <a16:creationId xmlns:a16="http://schemas.microsoft.com/office/drawing/2014/main" id="{D3349F2D-5F53-48D1-9B7B-5E5FD6D87D46}"/>
                  </a:ext>
                </a:extLst>
              </p:cNvPr>
              <p:cNvSpPr/>
              <p:nvPr/>
            </p:nvSpPr>
            <p:spPr>
              <a:xfrm>
                <a:off x="1508615" y="3953332"/>
                <a:ext cx="97738" cy="68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58" y="0"/>
                    </a:moveTo>
                    <a:lnTo>
                      <a:pt x="0" y="8744"/>
                    </a:lnTo>
                    <a:lnTo>
                      <a:pt x="2942" y="21600"/>
                    </a:lnTo>
                    <a:lnTo>
                      <a:pt x="21600" y="12857"/>
                    </a:lnTo>
                    <a:cubicBezTo>
                      <a:pt x="21600" y="12857"/>
                      <a:pt x="18658" y="0"/>
                      <a:pt x="18658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66" name="Shape 16">
                <a:extLst>
                  <a:ext uri="{FF2B5EF4-FFF2-40B4-BE49-F238E27FC236}">
                    <a16:creationId xmlns:a16="http://schemas.microsoft.com/office/drawing/2014/main" id="{8DB117D0-6489-4751-8EC1-94F7E06D7BCD}"/>
                  </a:ext>
                </a:extLst>
              </p:cNvPr>
              <p:cNvSpPr/>
              <p:nvPr/>
            </p:nvSpPr>
            <p:spPr>
              <a:xfrm>
                <a:off x="1486462" y="3793340"/>
                <a:ext cx="744717" cy="2761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87" y="0"/>
                    </a:moveTo>
                    <a:lnTo>
                      <a:pt x="0" y="18793"/>
                    </a:lnTo>
                    <a:lnTo>
                      <a:pt x="313" y="21600"/>
                    </a:lnTo>
                    <a:lnTo>
                      <a:pt x="21600" y="2807"/>
                    </a:lnTo>
                    <a:cubicBezTo>
                      <a:pt x="21600" y="2807"/>
                      <a:pt x="21287" y="0"/>
                      <a:pt x="21287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67" name="Shape 17">
                <a:extLst>
                  <a:ext uri="{FF2B5EF4-FFF2-40B4-BE49-F238E27FC236}">
                    <a16:creationId xmlns:a16="http://schemas.microsoft.com/office/drawing/2014/main" id="{FF378934-374F-4DA9-9BEA-23846F2518BF}"/>
                  </a:ext>
                </a:extLst>
              </p:cNvPr>
              <p:cNvSpPr/>
              <p:nvPr/>
            </p:nvSpPr>
            <p:spPr>
              <a:xfrm>
                <a:off x="1476616" y="3822877"/>
                <a:ext cx="921549" cy="7342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1397" extrusionOk="0">
                    <a:moveTo>
                      <a:pt x="0" y="7386"/>
                    </a:moveTo>
                    <a:lnTo>
                      <a:pt x="3362" y="20249"/>
                    </a:lnTo>
                    <a:cubicBezTo>
                      <a:pt x="3591" y="21123"/>
                      <a:pt x="4342" y="21600"/>
                      <a:pt x="5040" y="21314"/>
                    </a:cubicBezTo>
                    <a:lnTo>
                      <a:pt x="20522" y="14964"/>
                    </a:lnTo>
                    <a:cubicBezTo>
                      <a:pt x="21220" y="14678"/>
                      <a:pt x="21600" y="13737"/>
                      <a:pt x="21371" y="12863"/>
                    </a:cubicBezTo>
                    <a:lnTo>
                      <a:pt x="18009" y="0"/>
                    </a:lnTo>
                    <a:cubicBezTo>
                      <a:pt x="18009" y="0"/>
                      <a:pt x="0" y="7386"/>
                      <a:pt x="0" y="7386"/>
                    </a:cubicBezTo>
                    <a:close/>
                  </a:path>
                </a:pathLst>
              </a:custGeom>
              <a:solidFill>
                <a:srgbClr val="6491C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2C057CA-8C63-4BCD-97B4-E15BBE32EE28}"/>
                </a:ext>
              </a:extLst>
            </p:cNvPr>
            <p:cNvGrpSpPr/>
            <p:nvPr/>
          </p:nvGrpSpPr>
          <p:grpSpPr>
            <a:xfrm>
              <a:off x="17129000" y="6660232"/>
              <a:ext cx="778879" cy="1036742"/>
              <a:chOff x="11021529" y="1378127"/>
              <a:chExt cx="1390506" cy="1850862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BEE2B25D-C9CF-4727-A352-411BF734F67D}"/>
                  </a:ext>
                </a:extLst>
              </p:cNvPr>
              <p:cNvGrpSpPr/>
              <p:nvPr/>
            </p:nvGrpSpPr>
            <p:grpSpPr>
              <a:xfrm rot="20882609">
                <a:off x="11021529" y="1378127"/>
                <a:ext cx="1390506" cy="1389302"/>
                <a:chOff x="1604726" y="1704855"/>
                <a:chExt cx="1860852" cy="1859240"/>
              </a:xfrm>
            </p:grpSpPr>
            <p:sp>
              <p:nvSpPr>
                <p:cNvPr id="58" name="Shape 6">
                  <a:extLst>
                    <a:ext uri="{FF2B5EF4-FFF2-40B4-BE49-F238E27FC236}">
                      <a16:creationId xmlns:a16="http://schemas.microsoft.com/office/drawing/2014/main" id="{AAC6440D-899C-41C2-8C68-F3251E8E862B}"/>
                    </a:ext>
                  </a:extLst>
                </p:cNvPr>
                <p:cNvSpPr/>
                <p:nvPr/>
              </p:nvSpPr>
              <p:spPr>
                <a:xfrm>
                  <a:off x="1604726" y="1704855"/>
                  <a:ext cx="1860852" cy="18592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554" y="13501"/>
                      </a:moveTo>
                      <a:cubicBezTo>
                        <a:pt x="17291" y="13501"/>
                        <a:pt x="17035" y="13527"/>
                        <a:pt x="16787" y="13575"/>
                      </a:cubicBezTo>
                      <a:cubicBezTo>
                        <a:pt x="16737" y="13511"/>
                        <a:pt x="16683" y="13450"/>
                        <a:pt x="16625" y="13391"/>
                      </a:cubicBezTo>
                      <a:lnTo>
                        <a:pt x="16302" y="13068"/>
                      </a:lnTo>
                      <a:cubicBezTo>
                        <a:pt x="16253" y="13007"/>
                        <a:pt x="16200" y="12948"/>
                        <a:pt x="16144" y="12891"/>
                      </a:cubicBezTo>
                      <a:lnTo>
                        <a:pt x="8220" y="4961"/>
                      </a:lnTo>
                      <a:cubicBezTo>
                        <a:pt x="8157" y="4898"/>
                        <a:pt x="8092" y="4841"/>
                        <a:pt x="8024" y="4789"/>
                      </a:cubicBezTo>
                      <a:cubicBezTo>
                        <a:pt x="8068" y="4548"/>
                        <a:pt x="8092" y="4302"/>
                        <a:pt x="8092" y="4050"/>
                      </a:cubicBezTo>
                      <a:cubicBezTo>
                        <a:pt x="8092" y="1813"/>
                        <a:pt x="6281" y="0"/>
                        <a:pt x="4046" y="0"/>
                      </a:cubicBezTo>
                      <a:cubicBezTo>
                        <a:pt x="3562" y="0"/>
                        <a:pt x="3098" y="86"/>
                        <a:pt x="2667" y="242"/>
                      </a:cubicBezTo>
                      <a:lnTo>
                        <a:pt x="5050" y="2627"/>
                      </a:lnTo>
                      <a:cubicBezTo>
                        <a:pt x="5380" y="2957"/>
                        <a:pt x="5380" y="3492"/>
                        <a:pt x="5050" y="3821"/>
                      </a:cubicBezTo>
                      <a:lnTo>
                        <a:pt x="3818" y="5055"/>
                      </a:lnTo>
                      <a:cubicBezTo>
                        <a:pt x="3489" y="5385"/>
                        <a:pt x="2954" y="5385"/>
                        <a:pt x="2625" y="5055"/>
                      </a:cubicBezTo>
                      <a:lnTo>
                        <a:pt x="241" y="2669"/>
                      </a:lnTo>
                      <a:cubicBezTo>
                        <a:pt x="86" y="3100"/>
                        <a:pt x="0" y="3565"/>
                        <a:pt x="0" y="4050"/>
                      </a:cubicBezTo>
                      <a:cubicBezTo>
                        <a:pt x="0" y="6286"/>
                        <a:pt x="1812" y="8099"/>
                        <a:pt x="4046" y="8099"/>
                      </a:cubicBezTo>
                      <a:cubicBezTo>
                        <a:pt x="4309" y="8099"/>
                        <a:pt x="4565" y="8073"/>
                        <a:pt x="4813" y="8025"/>
                      </a:cubicBezTo>
                      <a:cubicBezTo>
                        <a:pt x="4863" y="8089"/>
                        <a:pt x="4917" y="8150"/>
                        <a:pt x="4975" y="8209"/>
                      </a:cubicBezTo>
                      <a:lnTo>
                        <a:pt x="5298" y="8532"/>
                      </a:lnTo>
                      <a:cubicBezTo>
                        <a:pt x="5347" y="8593"/>
                        <a:pt x="5400" y="8652"/>
                        <a:pt x="5456" y="8709"/>
                      </a:cubicBezTo>
                      <a:lnTo>
                        <a:pt x="13380" y="16639"/>
                      </a:lnTo>
                      <a:cubicBezTo>
                        <a:pt x="13443" y="16702"/>
                        <a:pt x="13508" y="16759"/>
                        <a:pt x="13576" y="16811"/>
                      </a:cubicBezTo>
                      <a:cubicBezTo>
                        <a:pt x="13532" y="17052"/>
                        <a:pt x="13508" y="17298"/>
                        <a:pt x="13508" y="17550"/>
                      </a:cubicBezTo>
                      <a:cubicBezTo>
                        <a:pt x="13508" y="19787"/>
                        <a:pt x="15319" y="21600"/>
                        <a:pt x="17554" y="21600"/>
                      </a:cubicBezTo>
                      <a:cubicBezTo>
                        <a:pt x="18038" y="21600"/>
                        <a:pt x="18502" y="21514"/>
                        <a:pt x="18933" y="21358"/>
                      </a:cubicBezTo>
                      <a:lnTo>
                        <a:pt x="16549" y="18973"/>
                      </a:lnTo>
                      <a:cubicBezTo>
                        <a:pt x="16220" y="18643"/>
                        <a:pt x="16220" y="18108"/>
                        <a:pt x="16549" y="17779"/>
                      </a:cubicBezTo>
                      <a:lnTo>
                        <a:pt x="17782" y="16545"/>
                      </a:lnTo>
                      <a:cubicBezTo>
                        <a:pt x="18111" y="16215"/>
                        <a:pt x="18646" y="16215"/>
                        <a:pt x="18975" y="16545"/>
                      </a:cubicBezTo>
                      <a:lnTo>
                        <a:pt x="21359" y="18931"/>
                      </a:lnTo>
                      <a:cubicBezTo>
                        <a:pt x="21514" y="18500"/>
                        <a:pt x="21600" y="18035"/>
                        <a:pt x="21600" y="17550"/>
                      </a:cubicBezTo>
                      <a:cubicBezTo>
                        <a:pt x="21600" y="15314"/>
                        <a:pt x="19788" y="13501"/>
                        <a:pt x="17554" y="13501"/>
                      </a:cubicBezTo>
                      <a:close/>
                    </a:path>
                  </a:pathLst>
                </a:custGeom>
                <a:solidFill>
                  <a:srgbClr val="FFAF28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59" name="Shape 7">
                  <a:extLst>
                    <a:ext uri="{FF2B5EF4-FFF2-40B4-BE49-F238E27FC236}">
                      <a16:creationId xmlns:a16="http://schemas.microsoft.com/office/drawing/2014/main" id="{537536F0-98D5-4E0D-9063-87FCFE74EF98}"/>
                    </a:ext>
                  </a:extLst>
                </p:cNvPr>
                <p:cNvSpPr/>
                <p:nvPr/>
              </p:nvSpPr>
              <p:spPr>
                <a:xfrm>
                  <a:off x="1828265" y="1704855"/>
                  <a:ext cx="1631083" cy="16294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605" y="18878"/>
                      </a:moveTo>
                      <a:lnTo>
                        <a:pt x="21325" y="21600"/>
                      </a:lnTo>
                      <a:cubicBezTo>
                        <a:pt x="21502" y="21108"/>
                        <a:pt x="21600" y="20578"/>
                        <a:pt x="21600" y="20025"/>
                      </a:cubicBezTo>
                      <a:cubicBezTo>
                        <a:pt x="21600" y="17473"/>
                        <a:pt x="19533" y="15404"/>
                        <a:pt x="16984" y="15404"/>
                      </a:cubicBezTo>
                      <a:cubicBezTo>
                        <a:pt x="16684" y="15404"/>
                        <a:pt x="16392" y="15434"/>
                        <a:pt x="16109" y="15488"/>
                      </a:cubicBezTo>
                      <a:cubicBezTo>
                        <a:pt x="16051" y="15416"/>
                        <a:pt x="15991" y="15346"/>
                        <a:pt x="15924" y="15280"/>
                      </a:cubicBezTo>
                      <a:lnTo>
                        <a:pt x="15556" y="14911"/>
                      </a:lnTo>
                      <a:cubicBezTo>
                        <a:pt x="15500" y="14841"/>
                        <a:pt x="15440" y="14774"/>
                        <a:pt x="15375" y="14709"/>
                      </a:cubicBezTo>
                      <a:lnTo>
                        <a:pt x="6335" y="5660"/>
                      </a:lnTo>
                      <a:cubicBezTo>
                        <a:pt x="6264" y="5588"/>
                        <a:pt x="6189" y="5524"/>
                        <a:pt x="6111" y="5464"/>
                      </a:cubicBezTo>
                      <a:cubicBezTo>
                        <a:pt x="6162" y="5190"/>
                        <a:pt x="6189" y="4909"/>
                        <a:pt x="6189" y="4621"/>
                      </a:cubicBezTo>
                      <a:cubicBezTo>
                        <a:pt x="6189" y="2069"/>
                        <a:pt x="4123" y="0"/>
                        <a:pt x="1574" y="0"/>
                      </a:cubicBezTo>
                      <a:cubicBezTo>
                        <a:pt x="1021" y="0"/>
                        <a:pt x="491" y="98"/>
                        <a:pt x="0" y="276"/>
                      </a:cubicBezTo>
                      <a:lnTo>
                        <a:pt x="2719" y="2997"/>
                      </a:lnTo>
                      <a:cubicBezTo>
                        <a:pt x="3095" y="3374"/>
                        <a:pt x="3095" y="3984"/>
                        <a:pt x="2719" y="4360"/>
                      </a:cubicBezTo>
                      <a:lnTo>
                        <a:pt x="2050" y="5030"/>
                      </a:lnTo>
                      <a:lnTo>
                        <a:pt x="16662" y="19460"/>
                      </a:lnTo>
                      <a:lnTo>
                        <a:pt x="17244" y="18878"/>
                      </a:lnTo>
                      <a:cubicBezTo>
                        <a:pt x="17620" y="18501"/>
                        <a:pt x="18230" y="18501"/>
                        <a:pt x="18605" y="18878"/>
                      </a:cubicBezTo>
                      <a:close/>
                    </a:path>
                  </a:pathLst>
                </a:custGeom>
                <a:solidFill>
                  <a:srgbClr val="FFAF28"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60" name="Shape 8">
                  <a:extLst>
                    <a:ext uri="{FF2B5EF4-FFF2-40B4-BE49-F238E27FC236}">
                      <a16:creationId xmlns:a16="http://schemas.microsoft.com/office/drawing/2014/main" id="{AABEC8BE-4E93-4C86-A9FC-DEA330C94719}"/>
                    </a:ext>
                  </a:extLst>
                </p:cNvPr>
                <p:cNvSpPr/>
                <p:nvPr/>
              </p:nvSpPr>
              <p:spPr>
                <a:xfrm>
                  <a:off x="1728914" y="2772874"/>
                  <a:ext cx="662311" cy="663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181" y="8517"/>
                      </a:moveTo>
                      <a:lnTo>
                        <a:pt x="2386" y="16488"/>
                      </a:lnTo>
                      <a:lnTo>
                        <a:pt x="0" y="19987"/>
                      </a:lnTo>
                      <a:lnTo>
                        <a:pt x="1503" y="21600"/>
                      </a:lnTo>
                      <a:lnTo>
                        <a:pt x="4985" y="19252"/>
                      </a:lnTo>
                      <a:lnTo>
                        <a:pt x="13063" y="11392"/>
                      </a:lnTo>
                      <a:lnTo>
                        <a:pt x="21600" y="2875"/>
                      </a:lnTo>
                      <a:lnTo>
                        <a:pt x="18717" y="0"/>
                      </a:lnTo>
                      <a:cubicBezTo>
                        <a:pt x="18717" y="0"/>
                        <a:pt x="10181" y="8517"/>
                        <a:pt x="10181" y="8517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61" name="Shape 9">
                  <a:extLst>
                    <a:ext uri="{FF2B5EF4-FFF2-40B4-BE49-F238E27FC236}">
                      <a16:creationId xmlns:a16="http://schemas.microsoft.com/office/drawing/2014/main" id="{E48F9596-6AE3-4FB5-8AB6-B931FB4D4CAE}"/>
                    </a:ext>
                  </a:extLst>
                </p:cNvPr>
                <p:cNvSpPr/>
                <p:nvPr/>
              </p:nvSpPr>
              <p:spPr>
                <a:xfrm>
                  <a:off x="2573394" y="1804205"/>
                  <a:ext cx="800458" cy="8004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02" h="21102" extrusionOk="0">
                      <a:moveTo>
                        <a:pt x="3084" y="16494"/>
                      </a:moveTo>
                      <a:lnTo>
                        <a:pt x="4606" y="18017"/>
                      </a:lnTo>
                      <a:lnTo>
                        <a:pt x="5807" y="19219"/>
                      </a:lnTo>
                      <a:lnTo>
                        <a:pt x="7691" y="21102"/>
                      </a:lnTo>
                      <a:lnTo>
                        <a:pt x="19608" y="9183"/>
                      </a:lnTo>
                      <a:cubicBezTo>
                        <a:pt x="21600" y="7194"/>
                        <a:pt x="21600" y="3966"/>
                        <a:pt x="19608" y="1973"/>
                      </a:cubicBezTo>
                      <a:lnTo>
                        <a:pt x="19128" y="1493"/>
                      </a:lnTo>
                      <a:cubicBezTo>
                        <a:pt x="17137" y="-498"/>
                        <a:pt x="13908" y="-498"/>
                        <a:pt x="11918" y="1493"/>
                      </a:cubicBezTo>
                      <a:lnTo>
                        <a:pt x="0" y="13410"/>
                      </a:lnTo>
                      <a:lnTo>
                        <a:pt x="1883" y="15293"/>
                      </a:lnTo>
                      <a:cubicBezTo>
                        <a:pt x="1883" y="15293"/>
                        <a:pt x="3084" y="16494"/>
                        <a:pt x="3084" y="16494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62" name="Shape 10">
                  <a:extLst>
                    <a:ext uri="{FF2B5EF4-FFF2-40B4-BE49-F238E27FC236}">
                      <a16:creationId xmlns:a16="http://schemas.microsoft.com/office/drawing/2014/main" id="{96FF6821-D20D-45B8-9905-961638C73294}"/>
                    </a:ext>
                  </a:extLst>
                </p:cNvPr>
                <p:cNvSpPr/>
                <p:nvPr/>
              </p:nvSpPr>
              <p:spPr>
                <a:xfrm>
                  <a:off x="1753752" y="2822549"/>
                  <a:ext cx="640698" cy="6173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190" y="0"/>
                      </a:moveTo>
                      <a:lnTo>
                        <a:pt x="0" y="20678"/>
                      </a:lnTo>
                      <a:lnTo>
                        <a:pt x="825" y="21600"/>
                      </a:lnTo>
                      <a:lnTo>
                        <a:pt x="4425" y="19074"/>
                      </a:lnTo>
                      <a:lnTo>
                        <a:pt x="12775" y="10622"/>
                      </a:lnTo>
                      <a:lnTo>
                        <a:pt x="21600" y="1463"/>
                      </a:lnTo>
                      <a:cubicBezTo>
                        <a:pt x="21600" y="1463"/>
                        <a:pt x="20190" y="0"/>
                        <a:pt x="2019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63" name="Shape 11">
                  <a:extLst>
                    <a:ext uri="{FF2B5EF4-FFF2-40B4-BE49-F238E27FC236}">
                      <a16:creationId xmlns:a16="http://schemas.microsoft.com/office/drawing/2014/main" id="{171C58C1-FEA1-4A85-BB9D-4ADC09A7D9ED}"/>
                    </a:ext>
                  </a:extLst>
                </p:cNvPr>
                <p:cNvSpPr/>
                <p:nvPr/>
              </p:nvSpPr>
              <p:spPr>
                <a:xfrm>
                  <a:off x="2722420" y="1870439"/>
                  <a:ext cx="653797" cy="7300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94" h="21600" extrusionOk="0">
                      <a:moveTo>
                        <a:pt x="901" y="18138"/>
                      </a:moveTo>
                      <a:lnTo>
                        <a:pt x="2364" y="19487"/>
                      </a:lnTo>
                      <a:lnTo>
                        <a:pt x="4659" y="21600"/>
                      </a:lnTo>
                      <a:lnTo>
                        <a:pt x="19174" y="8223"/>
                      </a:lnTo>
                      <a:cubicBezTo>
                        <a:pt x="21600" y="5990"/>
                        <a:pt x="21600" y="2367"/>
                        <a:pt x="19174" y="131"/>
                      </a:cubicBezTo>
                      <a:lnTo>
                        <a:pt x="19033" y="0"/>
                      </a:lnTo>
                      <a:lnTo>
                        <a:pt x="0" y="17307"/>
                      </a:lnTo>
                      <a:cubicBezTo>
                        <a:pt x="0" y="17307"/>
                        <a:pt x="901" y="18138"/>
                        <a:pt x="901" y="18138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0CEE3DBA-1CAB-40FE-9D1B-E26F3541A0F3}"/>
                  </a:ext>
                </a:extLst>
              </p:cNvPr>
              <p:cNvGrpSpPr/>
              <p:nvPr/>
            </p:nvGrpSpPr>
            <p:grpSpPr>
              <a:xfrm>
                <a:off x="11469672" y="2318555"/>
                <a:ext cx="910434" cy="910434"/>
                <a:chOff x="4494173" y="4246574"/>
                <a:chExt cx="1353845" cy="1353845"/>
              </a:xfrm>
            </p:grpSpPr>
            <p:sp>
              <p:nvSpPr>
                <p:cNvPr id="55" name="Shape 13">
                  <a:extLst>
                    <a:ext uri="{FF2B5EF4-FFF2-40B4-BE49-F238E27FC236}">
                      <a16:creationId xmlns:a16="http://schemas.microsoft.com/office/drawing/2014/main" id="{EE24F49E-1EED-42EB-BAFD-6CFE3CE64EE4}"/>
                    </a:ext>
                  </a:extLst>
                </p:cNvPr>
                <p:cNvSpPr/>
                <p:nvPr/>
              </p:nvSpPr>
              <p:spPr>
                <a:xfrm>
                  <a:off x="4494173" y="4246574"/>
                  <a:ext cx="1353845" cy="13538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9529" y="17634"/>
                      </a:moveTo>
                      <a:cubicBezTo>
                        <a:pt x="5755" y="16932"/>
                        <a:pt x="3264" y="13303"/>
                        <a:pt x="3966" y="9529"/>
                      </a:cubicBezTo>
                      <a:cubicBezTo>
                        <a:pt x="4668" y="5755"/>
                        <a:pt x="8297" y="3264"/>
                        <a:pt x="12071" y="3966"/>
                      </a:cubicBezTo>
                      <a:cubicBezTo>
                        <a:pt x="15845" y="4668"/>
                        <a:pt x="18336" y="8297"/>
                        <a:pt x="17634" y="12071"/>
                      </a:cubicBezTo>
                      <a:cubicBezTo>
                        <a:pt x="16932" y="15845"/>
                        <a:pt x="13303" y="18336"/>
                        <a:pt x="9529" y="17634"/>
                      </a:cubicBezTo>
                      <a:moveTo>
                        <a:pt x="19571" y="12978"/>
                      </a:moveTo>
                      <a:lnTo>
                        <a:pt x="21443" y="12713"/>
                      </a:lnTo>
                      <a:lnTo>
                        <a:pt x="21600" y="11348"/>
                      </a:lnTo>
                      <a:lnTo>
                        <a:pt x="19837" y="10665"/>
                      </a:lnTo>
                      <a:cubicBezTo>
                        <a:pt x="19831" y="10284"/>
                        <a:pt x="19801" y="9899"/>
                        <a:pt x="19745" y="9513"/>
                      </a:cubicBezTo>
                      <a:lnTo>
                        <a:pt x="21402" y="8557"/>
                      </a:lnTo>
                      <a:lnTo>
                        <a:pt x="21032" y="7233"/>
                      </a:lnTo>
                      <a:lnTo>
                        <a:pt x="19120" y="7272"/>
                      </a:lnTo>
                      <a:cubicBezTo>
                        <a:pt x="18953" y="6876"/>
                        <a:pt x="18759" y="6498"/>
                        <a:pt x="18543" y="6138"/>
                      </a:cubicBezTo>
                      <a:lnTo>
                        <a:pt x="19679" y="4627"/>
                      </a:lnTo>
                      <a:lnTo>
                        <a:pt x="18824" y="3551"/>
                      </a:lnTo>
                      <a:lnTo>
                        <a:pt x="17094" y="4315"/>
                      </a:lnTo>
                      <a:cubicBezTo>
                        <a:pt x="16817" y="4047"/>
                        <a:pt x="16523" y="3797"/>
                        <a:pt x="16215" y="3567"/>
                      </a:cubicBezTo>
                      <a:lnTo>
                        <a:pt x="16699" y="1737"/>
                      </a:lnTo>
                      <a:lnTo>
                        <a:pt x="15502" y="1062"/>
                      </a:lnTo>
                      <a:lnTo>
                        <a:pt x="14187" y="2423"/>
                      </a:lnTo>
                      <a:cubicBezTo>
                        <a:pt x="13795" y="2264"/>
                        <a:pt x="13391" y="2132"/>
                        <a:pt x="12978" y="2029"/>
                      </a:cubicBezTo>
                      <a:lnTo>
                        <a:pt x="12713" y="157"/>
                      </a:lnTo>
                      <a:lnTo>
                        <a:pt x="11348" y="0"/>
                      </a:lnTo>
                      <a:lnTo>
                        <a:pt x="10666" y="1763"/>
                      </a:lnTo>
                      <a:cubicBezTo>
                        <a:pt x="10283" y="1769"/>
                        <a:pt x="9899" y="1799"/>
                        <a:pt x="9513" y="1855"/>
                      </a:cubicBezTo>
                      <a:lnTo>
                        <a:pt x="8557" y="199"/>
                      </a:lnTo>
                      <a:lnTo>
                        <a:pt x="7233" y="568"/>
                      </a:lnTo>
                      <a:lnTo>
                        <a:pt x="7272" y="2480"/>
                      </a:lnTo>
                      <a:cubicBezTo>
                        <a:pt x="6877" y="2648"/>
                        <a:pt x="6498" y="2841"/>
                        <a:pt x="6138" y="3057"/>
                      </a:cubicBezTo>
                      <a:lnTo>
                        <a:pt x="4627" y="1921"/>
                      </a:lnTo>
                      <a:lnTo>
                        <a:pt x="3550" y="2776"/>
                      </a:lnTo>
                      <a:lnTo>
                        <a:pt x="4316" y="4506"/>
                      </a:lnTo>
                      <a:cubicBezTo>
                        <a:pt x="4047" y="4784"/>
                        <a:pt x="3797" y="5077"/>
                        <a:pt x="3567" y="5385"/>
                      </a:cubicBezTo>
                      <a:lnTo>
                        <a:pt x="1737" y="4901"/>
                      </a:lnTo>
                      <a:lnTo>
                        <a:pt x="1062" y="6098"/>
                      </a:lnTo>
                      <a:lnTo>
                        <a:pt x="2423" y="7413"/>
                      </a:lnTo>
                      <a:cubicBezTo>
                        <a:pt x="2264" y="7805"/>
                        <a:pt x="2132" y="8209"/>
                        <a:pt x="2029" y="8622"/>
                      </a:cubicBezTo>
                      <a:lnTo>
                        <a:pt x="157" y="8887"/>
                      </a:lnTo>
                      <a:lnTo>
                        <a:pt x="0" y="10253"/>
                      </a:lnTo>
                      <a:lnTo>
                        <a:pt x="1763" y="10934"/>
                      </a:lnTo>
                      <a:cubicBezTo>
                        <a:pt x="1769" y="11316"/>
                        <a:pt x="1799" y="11701"/>
                        <a:pt x="1855" y="12087"/>
                      </a:cubicBezTo>
                      <a:lnTo>
                        <a:pt x="199" y="13043"/>
                      </a:lnTo>
                      <a:lnTo>
                        <a:pt x="568" y="14367"/>
                      </a:lnTo>
                      <a:lnTo>
                        <a:pt x="2480" y="14328"/>
                      </a:lnTo>
                      <a:cubicBezTo>
                        <a:pt x="2648" y="14723"/>
                        <a:pt x="2841" y="15102"/>
                        <a:pt x="3058" y="15462"/>
                      </a:cubicBezTo>
                      <a:lnTo>
                        <a:pt x="1922" y="16973"/>
                      </a:lnTo>
                      <a:lnTo>
                        <a:pt x="2776" y="18049"/>
                      </a:lnTo>
                      <a:lnTo>
                        <a:pt x="4506" y="17285"/>
                      </a:lnTo>
                      <a:cubicBezTo>
                        <a:pt x="4783" y="17553"/>
                        <a:pt x="5077" y="17803"/>
                        <a:pt x="5385" y="18033"/>
                      </a:cubicBezTo>
                      <a:lnTo>
                        <a:pt x="4901" y="19863"/>
                      </a:lnTo>
                      <a:lnTo>
                        <a:pt x="6098" y="20538"/>
                      </a:lnTo>
                      <a:lnTo>
                        <a:pt x="7413" y="19177"/>
                      </a:lnTo>
                      <a:cubicBezTo>
                        <a:pt x="7805" y="19336"/>
                        <a:pt x="8209" y="19468"/>
                        <a:pt x="8622" y="19571"/>
                      </a:cubicBezTo>
                      <a:lnTo>
                        <a:pt x="8887" y="21443"/>
                      </a:lnTo>
                      <a:lnTo>
                        <a:pt x="10253" y="21600"/>
                      </a:lnTo>
                      <a:lnTo>
                        <a:pt x="10935" y="19837"/>
                      </a:lnTo>
                      <a:cubicBezTo>
                        <a:pt x="11317" y="19831"/>
                        <a:pt x="11701" y="19801"/>
                        <a:pt x="12087" y="19745"/>
                      </a:cubicBezTo>
                      <a:lnTo>
                        <a:pt x="13043" y="21402"/>
                      </a:lnTo>
                      <a:lnTo>
                        <a:pt x="14367" y="21032"/>
                      </a:lnTo>
                      <a:lnTo>
                        <a:pt x="14328" y="19120"/>
                      </a:lnTo>
                      <a:cubicBezTo>
                        <a:pt x="14724" y="18953"/>
                        <a:pt x="15102" y="18759"/>
                        <a:pt x="15462" y="18542"/>
                      </a:cubicBezTo>
                      <a:lnTo>
                        <a:pt x="16973" y="19679"/>
                      </a:lnTo>
                      <a:lnTo>
                        <a:pt x="18049" y="18824"/>
                      </a:lnTo>
                      <a:lnTo>
                        <a:pt x="17285" y="17094"/>
                      </a:lnTo>
                      <a:cubicBezTo>
                        <a:pt x="17553" y="16817"/>
                        <a:pt x="17803" y="16523"/>
                        <a:pt x="18033" y="16215"/>
                      </a:cubicBezTo>
                      <a:lnTo>
                        <a:pt x="19863" y="16699"/>
                      </a:lnTo>
                      <a:lnTo>
                        <a:pt x="20538" y="15502"/>
                      </a:lnTo>
                      <a:lnTo>
                        <a:pt x="19177" y="14187"/>
                      </a:lnTo>
                      <a:cubicBezTo>
                        <a:pt x="19336" y="13794"/>
                        <a:pt x="19468" y="13391"/>
                        <a:pt x="19571" y="12978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FFFFFF">
                        <a:lumMod val="65000"/>
                      </a:srgbClr>
                    </a:gs>
                  </a:gsLst>
                  <a:lin ang="2126292"/>
                </a:gradFill>
                <a:ln w="3810">
                  <a:solidFill>
                    <a:srgbClr val="FFFFFF">
                      <a:lumMod val="7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56" name="Shape 14">
                  <a:extLst>
                    <a:ext uri="{FF2B5EF4-FFF2-40B4-BE49-F238E27FC236}">
                      <a16:creationId xmlns:a16="http://schemas.microsoft.com/office/drawing/2014/main" id="{D7D80BDA-B42C-43AF-83CF-13A916812466}"/>
                    </a:ext>
                  </a:extLst>
                </p:cNvPr>
                <p:cNvSpPr/>
                <p:nvPr/>
              </p:nvSpPr>
              <p:spPr>
                <a:xfrm>
                  <a:off x="4720887" y="4461834"/>
                  <a:ext cx="914443" cy="9144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768" y="16401"/>
                      </a:moveTo>
                      <a:cubicBezTo>
                        <a:pt x="5220" y="15741"/>
                        <a:pt x="2869" y="12316"/>
                        <a:pt x="3529" y="8768"/>
                      </a:cubicBezTo>
                      <a:cubicBezTo>
                        <a:pt x="4188" y="5219"/>
                        <a:pt x="7613" y="2869"/>
                        <a:pt x="11161" y="3529"/>
                      </a:cubicBezTo>
                      <a:cubicBezTo>
                        <a:pt x="14710" y="4189"/>
                        <a:pt x="17061" y="7613"/>
                        <a:pt x="16401" y="11161"/>
                      </a:cubicBezTo>
                      <a:cubicBezTo>
                        <a:pt x="15741" y="14709"/>
                        <a:pt x="12317" y="17061"/>
                        <a:pt x="8768" y="16401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1" y="11786"/>
                      </a:cubicBezTo>
                      <a:cubicBezTo>
                        <a:pt x="20765" y="6385"/>
                        <a:pt x="17187" y="1174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8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57" name="Shape 15">
                  <a:extLst>
                    <a:ext uri="{FF2B5EF4-FFF2-40B4-BE49-F238E27FC236}">
                      <a16:creationId xmlns:a16="http://schemas.microsoft.com/office/drawing/2014/main" id="{3EE3BAC1-E24C-4B72-8AFF-CF10167831A2}"/>
                    </a:ext>
                  </a:extLst>
                </p:cNvPr>
                <p:cNvSpPr/>
                <p:nvPr/>
              </p:nvSpPr>
              <p:spPr>
                <a:xfrm>
                  <a:off x="4861633" y="4610859"/>
                  <a:ext cx="629139" cy="6291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522" y="17725"/>
                      </a:moveTo>
                      <a:cubicBezTo>
                        <a:pt x="4244" y="16929"/>
                        <a:pt x="1409" y="12799"/>
                        <a:pt x="2203" y="8521"/>
                      </a:cubicBezTo>
                      <a:cubicBezTo>
                        <a:pt x="2999" y="4243"/>
                        <a:pt x="7130" y="1409"/>
                        <a:pt x="11408" y="2205"/>
                      </a:cubicBezTo>
                      <a:cubicBezTo>
                        <a:pt x="15687" y="3000"/>
                        <a:pt x="18521" y="7129"/>
                        <a:pt x="17725" y="11407"/>
                      </a:cubicBezTo>
                      <a:cubicBezTo>
                        <a:pt x="16930" y="15685"/>
                        <a:pt x="12801" y="18520"/>
                        <a:pt x="8522" y="17725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0" y="11786"/>
                      </a:cubicBezTo>
                      <a:cubicBezTo>
                        <a:pt x="20765" y="6385"/>
                        <a:pt x="17187" y="1173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85000"/>
                      </a:srgbClr>
                    </a:gs>
                    <a:gs pos="100000">
                      <a:srgbClr val="FFFFFF">
                        <a:lumMod val="50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50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</p:grp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28EB346-989F-483A-92B7-3C786EB932DE}"/>
                </a:ext>
              </a:extLst>
            </p:cNvPr>
            <p:cNvGrpSpPr/>
            <p:nvPr/>
          </p:nvGrpSpPr>
          <p:grpSpPr>
            <a:xfrm>
              <a:off x="17561048" y="6660231"/>
              <a:ext cx="1223082" cy="1008111"/>
              <a:chOff x="1524000" y="3086100"/>
              <a:chExt cx="4739709" cy="3906659"/>
            </a:xfrm>
          </p:grpSpPr>
          <p:sp>
            <p:nvSpPr>
              <p:cNvPr id="41" name="Shape 6">
                <a:extLst>
                  <a:ext uri="{FF2B5EF4-FFF2-40B4-BE49-F238E27FC236}">
                    <a16:creationId xmlns:a16="http://schemas.microsoft.com/office/drawing/2014/main" id="{EBFB2C80-E873-47E1-AFA0-23FDD031132E}"/>
                  </a:ext>
                </a:extLst>
              </p:cNvPr>
              <p:cNvSpPr/>
              <p:nvPr/>
            </p:nvSpPr>
            <p:spPr>
              <a:xfrm>
                <a:off x="4241799" y="4762499"/>
                <a:ext cx="1425677" cy="102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14" h="20979" extrusionOk="0">
                    <a:moveTo>
                      <a:pt x="17745" y="357"/>
                    </a:moveTo>
                    <a:cubicBezTo>
                      <a:pt x="16530" y="-207"/>
                      <a:pt x="15215" y="-99"/>
                      <a:pt x="14041" y="661"/>
                    </a:cubicBezTo>
                    <a:lnTo>
                      <a:pt x="6523" y="5522"/>
                    </a:lnTo>
                    <a:cubicBezTo>
                      <a:pt x="6278" y="5681"/>
                      <a:pt x="6170" y="6073"/>
                      <a:pt x="6284" y="6398"/>
                    </a:cubicBezTo>
                    <a:cubicBezTo>
                      <a:pt x="6397" y="6724"/>
                      <a:pt x="6688" y="6861"/>
                      <a:pt x="6933" y="6699"/>
                    </a:cubicBezTo>
                    <a:lnTo>
                      <a:pt x="14451" y="1839"/>
                    </a:lnTo>
                    <a:cubicBezTo>
                      <a:pt x="15388" y="1233"/>
                      <a:pt x="16438" y="1146"/>
                      <a:pt x="17406" y="1596"/>
                    </a:cubicBezTo>
                    <a:cubicBezTo>
                      <a:pt x="18374" y="2046"/>
                      <a:pt x="19145" y="2976"/>
                      <a:pt x="19577" y="4219"/>
                    </a:cubicBezTo>
                    <a:cubicBezTo>
                      <a:pt x="20009" y="5462"/>
                      <a:pt x="20051" y="6865"/>
                      <a:pt x="19694" y="8172"/>
                    </a:cubicBezTo>
                    <a:cubicBezTo>
                      <a:pt x="19337" y="9480"/>
                      <a:pt x="18625" y="10532"/>
                      <a:pt x="17687" y="11137"/>
                    </a:cubicBezTo>
                    <a:lnTo>
                      <a:pt x="5103" y="19276"/>
                    </a:lnTo>
                    <a:cubicBezTo>
                      <a:pt x="3649" y="20216"/>
                      <a:pt x="1917" y="19412"/>
                      <a:pt x="1245" y="17483"/>
                    </a:cubicBezTo>
                    <a:cubicBezTo>
                      <a:pt x="575" y="15552"/>
                      <a:pt x="1213" y="13216"/>
                      <a:pt x="2668" y="12275"/>
                    </a:cubicBezTo>
                    <a:lnTo>
                      <a:pt x="13786" y="5086"/>
                    </a:lnTo>
                    <a:cubicBezTo>
                      <a:pt x="14250" y="4786"/>
                      <a:pt x="14771" y="4742"/>
                      <a:pt x="15251" y="4967"/>
                    </a:cubicBezTo>
                    <a:cubicBezTo>
                      <a:pt x="15732" y="5190"/>
                      <a:pt x="16115" y="5653"/>
                      <a:pt x="16330" y="6269"/>
                    </a:cubicBezTo>
                    <a:cubicBezTo>
                      <a:pt x="16544" y="6884"/>
                      <a:pt x="16564" y="7580"/>
                      <a:pt x="16387" y="8229"/>
                    </a:cubicBezTo>
                    <a:cubicBezTo>
                      <a:pt x="16210" y="8877"/>
                      <a:pt x="15857" y="9399"/>
                      <a:pt x="15391" y="9700"/>
                    </a:cubicBezTo>
                    <a:lnTo>
                      <a:pt x="4916" y="16475"/>
                    </a:lnTo>
                    <a:cubicBezTo>
                      <a:pt x="4671" y="16633"/>
                      <a:pt x="4564" y="17025"/>
                      <a:pt x="4677" y="17350"/>
                    </a:cubicBezTo>
                    <a:cubicBezTo>
                      <a:pt x="4790" y="17676"/>
                      <a:pt x="5081" y="17810"/>
                      <a:pt x="5326" y="17652"/>
                    </a:cubicBezTo>
                    <a:lnTo>
                      <a:pt x="15801" y="10879"/>
                    </a:lnTo>
                    <a:cubicBezTo>
                      <a:pt x="16504" y="10424"/>
                      <a:pt x="17038" y="9635"/>
                      <a:pt x="17306" y="8655"/>
                    </a:cubicBezTo>
                    <a:cubicBezTo>
                      <a:pt x="17573" y="7677"/>
                      <a:pt x="17542" y="6625"/>
                      <a:pt x="17218" y="5694"/>
                    </a:cubicBezTo>
                    <a:cubicBezTo>
                      <a:pt x="16894" y="4762"/>
                      <a:pt x="16316" y="4065"/>
                      <a:pt x="15590" y="3727"/>
                    </a:cubicBezTo>
                    <a:cubicBezTo>
                      <a:pt x="14865" y="3390"/>
                      <a:pt x="14078" y="3454"/>
                      <a:pt x="13376" y="3908"/>
                    </a:cubicBezTo>
                    <a:lnTo>
                      <a:pt x="2259" y="11098"/>
                    </a:lnTo>
                    <a:cubicBezTo>
                      <a:pt x="313" y="12355"/>
                      <a:pt x="-540" y="15476"/>
                      <a:pt x="357" y="18057"/>
                    </a:cubicBezTo>
                    <a:cubicBezTo>
                      <a:pt x="1134" y="20288"/>
                      <a:pt x="2969" y="21393"/>
                      <a:pt x="4709" y="20837"/>
                    </a:cubicBezTo>
                    <a:cubicBezTo>
                      <a:pt x="4981" y="20751"/>
                      <a:pt x="5250" y="20624"/>
                      <a:pt x="5513" y="20453"/>
                    </a:cubicBezTo>
                    <a:lnTo>
                      <a:pt x="18098" y="12316"/>
                    </a:lnTo>
                    <a:cubicBezTo>
                      <a:pt x="19272" y="11556"/>
                      <a:pt x="20165" y="10237"/>
                      <a:pt x="20612" y="8599"/>
                    </a:cubicBezTo>
                    <a:cubicBezTo>
                      <a:pt x="21060" y="6961"/>
                      <a:pt x="21008" y="5201"/>
                      <a:pt x="20466" y="3646"/>
                    </a:cubicBezTo>
                    <a:cubicBezTo>
                      <a:pt x="19924" y="2088"/>
                      <a:pt x="18958" y="920"/>
                      <a:pt x="17745" y="357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42" name="Shape 7">
                <a:extLst>
                  <a:ext uri="{FF2B5EF4-FFF2-40B4-BE49-F238E27FC236}">
                    <a16:creationId xmlns:a16="http://schemas.microsoft.com/office/drawing/2014/main" id="{A5A346FF-841A-474C-B310-477D6FBC5F2D}"/>
                  </a:ext>
                </a:extLst>
              </p:cNvPr>
              <p:cNvSpPr/>
              <p:nvPr/>
            </p:nvSpPr>
            <p:spPr>
              <a:xfrm>
                <a:off x="1524000" y="3251200"/>
                <a:ext cx="4739709" cy="275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6" y="0"/>
                    </a:moveTo>
                    <a:lnTo>
                      <a:pt x="21600" y="5610"/>
                    </a:lnTo>
                    <a:lnTo>
                      <a:pt x="1504" y="21600"/>
                    </a:lnTo>
                    <a:lnTo>
                      <a:pt x="0" y="15990"/>
                    </a:lnTo>
                    <a:cubicBezTo>
                      <a:pt x="0" y="15990"/>
                      <a:pt x="20096" y="0"/>
                      <a:pt x="20096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43" name="Freeform 34">
                <a:extLst>
                  <a:ext uri="{FF2B5EF4-FFF2-40B4-BE49-F238E27FC236}">
                    <a16:creationId xmlns:a16="http://schemas.microsoft.com/office/drawing/2014/main" id="{351FD453-0340-4955-BEBF-9F2A2BC72825}"/>
                  </a:ext>
                </a:extLst>
              </p:cNvPr>
              <p:cNvSpPr/>
              <p:nvPr/>
            </p:nvSpPr>
            <p:spPr>
              <a:xfrm>
                <a:off x="1752599" y="3365500"/>
                <a:ext cx="4009916" cy="2110570"/>
              </a:xfrm>
              <a:custGeom>
                <a:avLst/>
                <a:gdLst>
                  <a:gd name="connsiteX0" fmla="*/ 3938629 w 4009916"/>
                  <a:gd name="connsiteY0" fmla="*/ 0 h 2110570"/>
                  <a:gd name="connsiteX1" fmla="*/ 4009916 w 4009916"/>
                  <a:gd name="connsiteY1" fmla="*/ 154225 h 2110570"/>
                  <a:gd name="connsiteX2" fmla="*/ 3875606 w 4009916"/>
                  <a:gd name="connsiteY2" fmla="*/ 216264 h 2110570"/>
                  <a:gd name="connsiteX3" fmla="*/ 3970094 w 4009916"/>
                  <a:gd name="connsiteY3" fmla="*/ 420827 h 2110570"/>
                  <a:gd name="connsiteX4" fmla="*/ 3886151 w 4009916"/>
                  <a:gd name="connsiteY4" fmla="*/ 459573 h 2110570"/>
                  <a:gd name="connsiteX5" fmla="*/ 3791673 w 4009916"/>
                  <a:gd name="connsiteY5" fmla="*/ 255033 h 2110570"/>
                  <a:gd name="connsiteX6" fmla="*/ 3596995 w 4009916"/>
                  <a:gd name="connsiteY6" fmla="*/ 344956 h 2110570"/>
                  <a:gd name="connsiteX7" fmla="*/ 3690697 w 4009916"/>
                  <a:gd name="connsiteY7" fmla="*/ 547797 h 2110570"/>
                  <a:gd name="connsiteX8" fmla="*/ 3606741 w 4009916"/>
                  <a:gd name="connsiteY8" fmla="*/ 586600 h 2110570"/>
                  <a:gd name="connsiteX9" fmla="*/ 3513048 w 4009916"/>
                  <a:gd name="connsiteY9" fmla="*/ 383731 h 2110570"/>
                  <a:gd name="connsiteX10" fmla="*/ 3328860 w 4009916"/>
                  <a:gd name="connsiteY10" fmla="*/ 468809 h 2110570"/>
                  <a:gd name="connsiteX11" fmla="*/ 3423998 w 4009916"/>
                  <a:gd name="connsiteY11" fmla="*/ 674805 h 2110570"/>
                  <a:gd name="connsiteX12" fmla="*/ 3340054 w 4009916"/>
                  <a:gd name="connsiteY12" fmla="*/ 713568 h 2110570"/>
                  <a:gd name="connsiteX13" fmla="*/ 3244904 w 4009916"/>
                  <a:gd name="connsiteY13" fmla="*/ 507589 h 2110570"/>
                  <a:gd name="connsiteX14" fmla="*/ 3050261 w 4009916"/>
                  <a:gd name="connsiteY14" fmla="*/ 597495 h 2110570"/>
                  <a:gd name="connsiteX15" fmla="*/ 3144598 w 4009916"/>
                  <a:gd name="connsiteY15" fmla="*/ 801798 h 2110570"/>
                  <a:gd name="connsiteX16" fmla="*/ 3060584 w 4009916"/>
                  <a:gd name="connsiteY16" fmla="*/ 840561 h 2110570"/>
                  <a:gd name="connsiteX17" fmla="*/ 2966263 w 4009916"/>
                  <a:gd name="connsiteY17" fmla="*/ 636294 h 2110570"/>
                  <a:gd name="connsiteX18" fmla="*/ 2771633 w 4009916"/>
                  <a:gd name="connsiteY18" fmla="*/ 726195 h 2110570"/>
                  <a:gd name="connsiteX19" fmla="*/ 2865234 w 4009916"/>
                  <a:gd name="connsiteY19" fmla="*/ 928772 h 2110570"/>
                  <a:gd name="connsiteX20" fmla="*/ 2781254 w 4009916"/>
                  <a:gd name="connsiteY20" fmla="*/ 967573 h 2110570"/>
                  <a:gd name="connsiteX21" fmla="*/ 2687661 w 4009916"/>
                  <a:gd name="connsiteY21" fmla="*/ 764982 h 2110570"/>
                  <a:gd name="connsiteX22" fmla="*/ 2503461 w 4009916"/>
                  <a:gd name="connsiteY22" fmla="*/ 850065 h 2110570"/>
                  <a:gd name="connsiteX23" fmla="*/ 2598464 w 4009916"/>
                  <a:gd name="connsiteY23" fmla="*/ 1055824 h 2110570"/>
                  <a:gd name="connsiteX24" fmla="*/ 2514520 w 4009916"/>
                  <a:gd name="connsiteY24" fmla="*/ 1094569 h 2110570"/>
                  <a:gd name="connsiteX25" fmla="*/ 2419511 w 4009916"/>
                  <a:gd name="connsiteY25" fmla="*/ 888842 h 2110570"/>
                  <a:gd name="connsiteX26" fmla="*/ 2224816 w 4009916"/>
                  <a:gd name="connsiteY26" fmla="*/ 978773 h 2110570"/>
                  <a:gd name="connsiteX27" fmla="*/ 2319070 w 4009916"/>
                  <a:gd name="connsiteY27" fmla="*/ 1182811 h 2110570"/>
                  <a:gd name="connsiteX28" fmla="*/ 2235146 w 4009916"/>
                  <a:gd name="connsiteY28" fmla="*/ 1221575 h 2110570"/>
                  <a:gd name="connsiteX29" fmla="*/ 2140890 w 4009916"/>
                  <a:gd name="connsiteY29" fmla="*/ 1017538 h 2110570"/>
                  <a:gd name="connsiteX30" fmla="*/ 1946192 w 4009916"/>
                  <a:gd name="connsiteY30" fmla="*/ 1107470 h 2110570"/>
                  <a:gd name="connsiteX31" fmla="*/ 2039640 w 4009916"/>
                  <a:gd name="connsiteY31" fmla="*/ 1309825 h 2110570"/>
                  <a:gd name="connsiteX32" fmla="*/ 1955738 w 4009916"/>
                  <a:gd name="connsiteY32" fmla="*/ 1348570 h 2110570"/>
                  <a:gd name="connsiteX33" fmla="*/ 1862279 w 4009916"/>
                  <a:gd name="connsiteY33" fmla="*/ 1146230 h 2110570"/>
                  <a:gd name="connsiteX34" fmla="*/ 1678061 w 4009916"/>
                  <a:gd name="connsiteY34" fmla="*/ 1231321 h 2110570"/>
                  <a:gd name="connsiteX35" fmla="*/ 1772981 w 4009916"/>
                  <a:gd name="connsiteY35" fmla="*/ 1436832 h 2110570"/>
                  <a:gd name="connsiteX36" fmla="*/ 1689019 w 4009916"/>
                  <a:gd name="connsiteY36" fmla="*/ 1475598 h 2110570"/>
                  <a:gd name="connsiteX37" fmla="*/ 1594117 w 4009916"/>
                  <a:gd name="connsiteY37" fmla="*/ 1270096 h 2110570"/>
                  <a:gd name="connsiteX38" fmla="*/ 1399440 w 4009916"/>
                  <a:gd name="connsiteY38" fmla="*/ 1360018 h 2110570"/>
                  <a:gd name="connsiteX39" fmla="*/ 1493565 w 4009916"/>
                  <a:gd name="connsiteY39" fmla="*/ 1563809 h 2110570"/>
                  <a:gd name="connsiteX40" fmla="*/ 1409643 w 4009916"/>
                  <a:gd name="connsiteY40" fmla="*/ 1602573 h 2110570"/>
                  <a:gd name="connsiteX41" fmla="*/ 1315524 w 4009916"/>
                  <a:gd name="connsiteY41" fmla="*/ 1398779 h 2110570"/>
                  <a:gd name="connsiteX42" fmla="*/ 1120815 w 4009916"/>
                  <a:gd name="connsiteY42" fmla="*/ 1488717 h 2110570"/>
                  <a:gd name="connsiteX43" fmla="*/ 1214167 w 4009916"/>
                  <a:gd name="connsiteY43" fmla="*/ 1690765 h 2110570"/>
                  <a:gd name="connsiteX44" fmla="*/ 1130245 w 4009916"/>
                  <a:gd name="connsiteY44" fmla="*/ 1729545 h 2110570"/>
                  <a:gd name="connsiteX45" fmla="*/ 1036905 w 4009916"/>
                  <a:gd name="connsiteY45" fmla="*/ 1527475 h 2110570"/>
                  <a:gd name="connsiteX46" fmla="*/ 852686 w 4009916"/>
                  <a:gd name="connsiteY46" fmla="*/ 1612567 h 2110570"/>
                  <a:gd name="connsiteX47" fmla="*/ 947478 w 4009916"/>
                  <a:gd name="connsiteY47" fmla="*/ 1817836 h 2110570"/>
                  <a:gd name="connsiteX48" fmla="*/ 863540 w 4009916"/>
                  <a:gd name="connsiteY48" fmla="*/ 1856541 h 2110570"/>
                  <a:gd name="connsiteX49" fmla="*/ 768762 w 4009916"/>
                  <a:gd name="connsiteY49" fmla="*/ 1651332 h 2110570"/>
                  <a:gd name="connsiteX50" fmla="*/ 574054 w 4009916"/>
                  <a:gd name="connsiteY50" fmla="*/ 1741269 h 2110570"/>
                  <a:gd name="connsiteX51" fmla="*/ 668073 w 4009916"/>
                  <a:gd name="connsiteY51" fmla="*/ 1944806 h 2110570"/>
                  <a:gd name="connsiteX52" fmla="*/ 584114 w 4009916"/>
                  <a:gd name="connsiteY52" fmla="*/ 1983630 h 2110570"/>
                  <a:gd name="connsiteX53" fmla="*/ 490095 w 4009916"/>
                  <a:gd name="connsiteY53" fmla="*/ 1780050 h 2110570"/>
                  <a:gd name="connsiteX54" fmla="*/ 295473 w 4009916"/>
                  <a:gd name="connsiteY54" fmla="*/ 1869947 h 2110570"/>
                  <a:gd name="connsiteX55" fmla="*/ 388723 w 4009916"/>
                  <a:gd name="connsiteY55" fmla="*/ 2071807 h 2110570"/>
                  <a:gd name="connsiteX56" fmla="*/ 304770 w 4009916"/>
                  <a:gd name="connsiteY56" fmla="*/ 2110570 h 2110570"/>
                  <a:gd name="connsiteX57" fmla="*/ 211525 w 4009916"/>
                  <a:gd name="connsiteY57" fmla="*/ 1908723 h 2110570"/>
                  <a:gd name="connsiteX58" fmla="*/ 71287 w 4009916"/>
                  <a:gd name="connsiteY58" fmla="*/ 1973499 h 2110570"/>
                  <a:gd name="connsiteX59" fmla="*/ 0 w 4009916"/>
                  <a:gd name="connsiteY59" fmla="*/ 1819183 h 2110570"/>
                  <a:gd name="connsiteX60" fmla="*/ 97360 w 4009916"/>
                  <a:gd name="connsiteY60" fmla="*/ 1774214 h 2110570"/>
                  <a:gd name="connsiteX61" fmla="*/ 140238 w 4009916"/>
                  <a:gd name="connsiteY61" fmla="*/ 1754409 h 2110570"/>
                  <a:gd name="connsiteX62" fmla="*/ 139700 w 4009916"/>
                  <a:gd name="connsiteY62" fmla="*/ 1753245 h 2110570"/>
                  <a:gd name="connsiteX63" fmla="*/ 223665 w 4009916"/>
                  <a:gd name="connsiteY63" fmla="*/ 1714500 h 2110570"/>
                  <a:gd name="connsiteX64" fmla="*/ 224189 w 4009916"/>
                  <a:gd name="connsiteY64" fmla="*/ 1715634 h 2110570"/>
                  <a:gd name="connsiteX65" fmla="*/ 258425 w 4009916"/>
                  <a:gd name="connsiteY65" fmla="*/ 1699821 h 2110570"/>
                  <a:gd name="connsiteX66" fmla="*/ 812355 w 4009916"/>
                  <a:gd name="connsiteY66" fmla="*/ 1443970 h 2110570"/>
                  <a:gd name="connsiteX67" fmla="*/ 965631 w 4009916"/>
                  <a:gd name="connsiteY67" fmla="*/ 1373175 h 2110570"/>
                  <a:gd name="connsiteX68" fmla="*/ 965200 w 4009916"/>
                  <a:gd name="connsiteY68" fmla="*/ 1372242 h 2110570"/>
                  <a:gd name="connsiteX69" fmla="*/ 1049100 w 4009916"/>
                  <a:gd name="connsiteY69" fmla="*/ 1333500 h 2110570"/>
                  <a:gd name="connsiteX70" fmla="*/ 1049527 w 4009916"/>
                  <a:gd name="connsiteY70" fmla="*/ 1334425 h 2110570"/>
                  <a:gd name="connsiteX71" fmla="*/ 1164818 w 4009916"/>
                  <a:gd name="connsiteY71" fmla="*/ 1281174 h 2110570"/>
                  <a:gd name="connsiteX72" fmla="*/ 1547818 w 4009916"/>
                  <a:gd name="connsiteY72" fmla="*/ 1104273 h 2110570"/>
                  <a:gd name="connsiteX73" fmla="*/ 1791015 w 4009916"/>
                  <a:gd name="connsiteY73" fmla="*/ 991945 h 2110570"/>
                  <a:gd name="connsiteX74" fmla="*/ 1790700 w 4009916"/>
                  <a:gd name="connsiteY74" fmla="*/ 991263 h 2110570"/>
                  <a:gd name="connsiteX75" fmla="*/ 1874625 w 4009916"/>
                  <a:gd name="connsiteY75" fmla="*/ 952500 h 2110570"/>
                  <a:gd name="connsiteX76" fmla="*/ 1874940 w 4009916"/>
                  <a:gd name="connsiteY76" fmla="*/ 953181 h 2110570"/>
                  <a:gd name="connsiteX77" fmla="*/ 2502764 w 4009916"/>
                  <a:gd name="connsiteY77" fmla="*/ 663200 h 2110570"/>
                  <a:gd name="connsiteX78" fmla="*/ 2616393 w 4009916"/>
                  <a:gd name="connsiteY78" fmla="*/ 610717 h 2110570"/>
                  <a:gd name="connsiteX79" fmla="*/ 2616200 w 4009916"/>
                  <a:gd name="connsiteY79" fmla="*/ 610300 h 2110570"/>
                  <a:gd name="connsiteX80" fmla="*/ 2700157 w 4009916"/>
                  <a:gd name="connsiteY80" fmla="*/ 571500 h 2110570"/>
                  <a:gd name="connsiteX81" fmla="*/ 2700358 w 4009916"/>
                  <a:gd name="connsiteY81" fmla="*/ 571935 h 2110570"/>
                  <a:gd name="connsiteX82" fmla="*/ 2902513 w 4009916"/>
                  <a:gd name="connsiteY82" fmla="*/ 478563 h 2110570"/>
                  <a:gd name="connsiteX83" fmla="*/ 3261554 w 4009916"/>
                  <a:gd name="connsiteY83" fmla="*/ 312728 h 2110570"/>
                  <a:gd name="connsiteX84" fmla="*/ 3441805 w 4009916"/>
                  <a:gd name="connsiteY84" fmla="*/ 229474 h 2110570"/>
                  <a:gd name="connsiteX85" fmla="*/ 3441700 w 4009916"/>
                  <a:gd name="connsiteY85" fmla="*/ 229248 h 2110570"/>
                  <a:gd name="connsiteX86" fmla="*/ 3525645 w 4009916"/>
                  <a:gd name="connsiteY86" fmla="*/ 190500 h 2110570"/>
                  <a:gd name="connsiteX87" fmla="*/ 3525740 w 4009916"/>
                  <a:gd name="connsiteY87" fmla="*/ 190706 h 2110570"/>
                  <a:gd name="connsiteX88" fmla="*/ 3674088 w 4009916"/>
                  <a:gd name="connsiteY88" fmla="*/ 122186 h 2110570"/>
                  <a:gd name="connsiteX89" fmla="*/ 3938629 w 4009916"/>
                  <a:gd name="connsiteY89" fmla="*/ 0 h 2110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4009916" h="2110570">
                    <a:moveTo>
                      <a:pt x="3938629" y="0"/>
                    </a:moveTo>
                    <a:lnTo>
                      <a:pt x="4009916" y="154225"/>
                    </a:lnTo>
                    <a:lnTo>
                      <a:pt x="3875606" y="216264"/>
                    </a:lnTo>
                    <a:lnTo>
                      <a:pt x="3970094" y="420827"/>
                    </a:lnTo>
                    <a:lnTo>
                      <a:pt x="3886151" y="459573"/>
                    </a:lnTo>
                    <a:lnTo>
                      <a:pt x="3791673" y="255033"/>
                    </a:lnTo>
                    <a:lnTo>
                      <a:pt x="3596995" y="344956"/>
                    </a:lnTo>
                    <a:lnTo>
                      <a:pt x="3690697" y="547797"/>
                    </a:lnTo>
                    <a:lnTo>
                      <a:pt x="3606741" y="586600"/>
                    </a:lnTo>
                    <a:lnTo>
                      <a:pt x="3513048" y="383731"/>
                    </a:lnTo>
                    <a:lnTo>
                      <a:pt x="3328860" y="468809"/>
                    </a:lnTo>
                    <a:lnTo>
                      <a:pt x="3423998" y="674805"/>
                    </a:lnTo>
                    <a:lnTo>
                      <a:pt x="3340054" y="713568"/>
                    </a:lnTo>
                    <a:lnTo>
                      <a:pt x="3244904" y="507589"/>
                    </a:lnTo>
                    <a:lnTo>
                      <a:pt x="3050261" y="597495"/>
                    </a:lnTo>
                    <a:lnTo>
                      <a:pt x="3144598" y="801798"/>
                    </a:lnTo>
                    <a:lnTo>
                      <a:pt x="3060584" y="840561"/>
                    </a:lnTo>
                    <a:lnTo>
                      <a:pt x="2966263" y="636294"/>
                    </a:lnTo>
                    <a:lnTo>
                      <a:pt x="2771633" y="726195"/>
                    </a:lnTo>
                    <a:lnTo>
                      <a:pt x="2865234" y="928772"/>
                    </a:lnTo>
                    <a:lnTo>
                      <a:pt x="2781254" y="967573"/>
                    </a:lnTo>
                    <a:lnTo>
                      <a:pt x="2687661" y="764982"/>
                    </a:lnTo>
                    <a:lnTo>
                      <a:pt x="2503461" y="850065"/>
                    </a:lnTo>
                    <a:lnTo>
                      <a:pt x="2598464" y="1055824"/>
                    </a:lnTo>
                    <a:lnTo>
                      <a:pt x="2514520" y="1094569"/>
                    </a:lnTo>
                    <a:lnTo>
                      <a:pt x="2419511" y="888842"/>
                    </a:lnTo>
                    <a:lnTo>
                      <a:pt x="2224816" y="978773"/>
                    </a:lnTo>
                    <a:lnTo>
                      <a:pt x="2319070" y="1182811"/>
                    </a:lnTo>
                    <a:lnTo>
                      <a:pt x="2235146" y="1221575"/>
                    </a:lnTo>
                    <a:lnTo>
                      <a:pt x="2140890" y="1017538"/>
                    </a:lnTo>
                    <a:lnTo>
                      <a:pt x="1946192" y="1107470"/>
                    </a:lnTo>
                    <a:lnTo>
                      <a:pt x="2039640" y="1309825"/>
                    </a:lnTo>
                    <a:lnTo>
                      <a:pt x="1955738" y="1348570"/>
                    </a:lnTo>
                    <a:lnTo>
                      <a:pt x="1862279" y="1146230"/>
                    </a:lnTo>
                    <a:lnTo>
                      <a:pt x="1678061" y="1231321"/>
                    </a:lnTo>
                    <a:lnTo>
                      <a:pt x="1772981" y="1436832"/>
                    </a:lnTo>
                    <a:lnTo>
                      <a:pt x="1689019" y="1475598"/>
                    </a:lnTo>
                    <a:lnTo>
                      <a:pt x="1594117" y="1270096"/>
                    </a:lnTo>
                    <a:lnTo>
                      <a:pt x="1399440" y="1360018"/>
                    </a:lnTo>
                    <a:lnTo>
                      <a:pt x="1493565" y="1563809"/>
                    </a:lnTo>
                    <a:lnTo>
                      <a:pt x="1409643" y="1602573"/>
                    </a:lnTo>
                    <a:lnTo>
                      <a:pt x="1315524" y="1398779"/>
                    </a:lnTo>
                    <a:lnTo>
                      <a:pt x="1120815" y="1488717"/>
                    </a:lnTo>
                    <a:lnTo>
                      <a:pt x="1214167" y="1690765"/>
                    </a:lnTo>
                    <a:lnTo>
                      <a:pt x="1130245" y="1729545"/>
                    </a:lnTo>
                    <a:lnTo>
                      <a:pt x="1036905" y="1527475"/>
                    </a:lnTo>
                    <a:lnTo>
                      <a:pt x="852686" y="1612567"/>
                    </a:lnTo>
                    <a:lnTo>
                      <a:pt x="947478" y="1817836"/>
                    </a:lnTo>
                    <a:lnTo>
                      <a:pt x="863540" y="1856541"/>
                    </a:lnTo>
                    <a:lnTo>
                      <a:pt x="768762" y="1651332"/>
                    </a:lnTo>
                    <a:lnTo>
                      <a:pt x="574054" y="1741269"/>
                    </a:lnTo>
                    <a:lnTo>
                      <a:pt x="668073" y="1944806"/>
                    </a:lnTo>
                    <a:lnTo>
                      <a:pt x="584114" y="1983630"/>
                    </a:lnTo>
                    <a:lnTo>
                      <a:pt x="490095" y="1780050"/>
                    </a:lnTo>
                    <a:lnTo>
                      <a:pt x="295473" y="1869947"/>
                    </a:lnTo>
                    <a:lnTo>
                      <a:pt x="388723" y="2071807"/>
                    </a:lnTo>
                    <a:lnTo>
                      <a:pt x="304770" y="2110570"/>
                    </a:lnTo>
                    <a:lnTo>
                      <a:pt x="211525" y="1908723"/>
                    </a:lnTo>
                    <a:lnTo>
                      <a:pt x="71287" y="1973499"/>
                    </a:lnTo>
                    <a:lnTo>
                      <a:pt x="0" y="1819183"/>
                    </a:lnTo>
                    <a:cubicBezTo>
                      <a:pt x="0" y="1819183"/>
                      <a:pt x="34617" y="1803194"/>
                      <a:pt x="97360" y="1774214"/>
                    </a:cubicBezTo>
                    <a:lnTo>
                      <a:pt x="140238" y="1754409"/>
                    </a:lnTo>
                    <a:lnTo>
                      <a:pt x="139700" y="1753245"/>
                    </a:lnTo>
                    <a:cubicBezTo>
                      <a:pt x="139700" y="1753245"/>
                      <a:pt x="223665" y="1714500"/>
                      <a:pt x="223665" y="1714500"/>
                    </a:cubicBezTo>
                    <a:lnTo>
                      <a:pt x="224189" y="1715634"/>
                    </a:lnTo>
                    <a:lnTo>
                      <a:pt x="258425" y="1699821"/>
                    </a:lnTo>
                    <a:cubicBezTo>
                      <a:pt x="399616" y="1634607"/>
                      <a:pt x="590857" y="1546276"/>
                      <a:pt x="812355" y="1443970"/>
                    </a:cubicBezTo>
                    <a:lnTo>
                      <a:pt x="965631" y="1373175"/>
                    </a:lnTo>
                    <a:lnTo>
                      <a:pt x="965200" y="1372242"/>
                    </a:lnTo>
                    <a:cubicBezTo>
                      <a:pt x="965200" y="1372242"/>
                      <a:pt x="1049100" y="1333500"/>
                      <a:pt x="1049100" y="1333500"/>
                    </a:cubicBezTo>
                    <a:lnTo>
                      <a:pt x="1049527" y="1334425"/>
                    </a:lnTo>
                    <a:lnTo>
                      <a:pt x="1164818" y="1281174"/>
                    </a:lnTo>
                    <a:cubicBezTo>
                      <a:pt x="1288220" y="1224176"/>
                      <a:pt x="1416712" y="1164829"/>
                      <a:pt x="1547818" y="1104273"/>
                    </a:cubicBezTo>
                    <a:lnTo>
                      <a:pt x="1791015" y="991945"/>
                    </a:lnTo>
                    <a:lnTo>
                      <a:pt x="1790700" y="991263"/>
                    </a:lnTo>
                    <a:cubicBezTo>
                      <a:pt x="1790700" y="991263"/>
                      <a:pt x="1874625" y="952500"/>
                      <a:pt x="1874625" y="952500"/>
                    </a:cubicBezTo>
                    <a:lnTo>
                      <a:pt x="1874940" y="953181"/>
                    </a:lnTo>
                    <a:lnTo>
                      <a:pt x="2502764" y="663200"/>
                    </a:lnTo>
                    <a:lnTo>
                      <a:pt x="2616393" y="610717"/>
                    </a:lnTo>
                    <a:lnTo>
                      <a:pt x="2616200" y="610300"/>
                    </a:lnTo>
                    <a:cubicBezTo>
                      <a:pt x="2616200" y="610300"/>
                      <a:pt x="2700157" y="571500"/>
                      <a:pt x="2700157" y="571500"/>
                    </a:cubicBezTo>
                    <a:lnTo>
                      <a:pt x="2700358" y="571935"/>
                    </a:lnTo>
                    <a:lnTo>
                      <a:pt x="2902513" y="478563"/>
                    </a:lnTo>
                    <a:cubicBezTo>
                      <a:pt x="3029979" y="419689"/>
                      <a:pt x="3150661" y="363948"/>
                      <a:pt x="3261554" y="312728"/>
                    </a:cubicBezTo>
                    <a:lnTo>
                      <a:pt x="3441805" y="229474"/>
                    </a:lnTo>
                    <a:lnTo>
                      <a:pt x="3441700" y="229248"/>
                    </a:lnTo>
                    <a:cubicBezTo>
                      <a:pt x="3441700" y="229248"/>
                      <a:pt x="3525645" y="190500"/>
                      <a:pt x="3525645" y="190500"/>
                    </a:cubicBezTo>
                    <a:lnTo>
                      <a:pt x="3525740" y="190706"/>
                    </a:lnTo>
                    <a:lnTo>
                      <a:pt x="3674088" y="122186"/>
                    </a:lnTo>
                    <a:cubicBezTo>
                      <a:pt x="3840052" y="45531"/>
                      <a:pt x="3938629" y="0"/>
                      <a:pt x="3938629" y="0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44" name="Shape 23">
                <a:extLst>
                  <a:ext uri="{FF2B5EF4-FFF2-40B4-BE49-F238E27FC236}">
                    <a16:creationId xmlns:a16="http://schemas.microsoft.com/office/drawing/2014/main" id="{2E41ADB6-41B0-4367-AF51-C4D93F472F3D}"/>
                  </a:ext>
                </a:extLst>
              </p:cNvPr>
              <p:cNvSpPr/>
              <p:nvPr/>
            </p:nvSpPr>
            <p:spPr>
              <a:xfrm>
                <a:off x="3238500" y="3086100"/>
                <a:ext cx="81609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2" h="21564" extrusionOk="0">
                    <a:moveTo>
                      <a:pt x="21432" y="19142"/>
                    </a:moveTo>
                    <a:lnTo>
                      <a:pt x="18089" y="21564"/>
                    </a:lnTo>
                    <a:lnTo>
                      <a:pt x="11847" y="19411"/>
                    </a:lnTo>
                    <a:lnTo>
                      <a:pt x="23" y="750"/>
                    </a:lnTo>
                    <a:cubicBezTo>
                      <a:pt x="-168" y="448"/>
                      <a:pt x="851" y="167"/>
                      <a:pt x="2288" y="127"/>
                    </a:cubicBezTo>
                    <a:lnTo>
                      <a:pt x="6645" y="4"/>
                    </a:lnTo>
                    <a:cubicBezTo>
                      <a:pt x="8084" y="-36"/>
                      <a:pt x="9416" y="179"/>
                      <a:pt x="9608" y="481"/>
                    </a:cubicBezTo>
                    <a:cubicBezTo>
                      <a:pt x="9608" y="481"/>
                      <a:pt x="21432" y="19142"/>
                      <a:pt x="21432" y="19142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45" name="Shape 24">
                <a:extLst>
                  <a:ext uri="{FF2B5EF4-FFF2-40B4-BE49-F238E27FC236}">
                    <a16:creationId xmlns:a16="http://schemas.microsoft.com/office/drawing/2014/main" id="{696576F3-9049-4581-B4D8-C0980C82F022}"/>
                  </a:ext>
                </a:extLst>
              </p:cNvPr>
              <p:cNvSpPr/>
              <p:nvPr/>
            </p:nvSpPr>
            <p:spPr>
              <a:xfrm>
                <a:off x="3403600" y="3086100"/>
                <a:ext cx="64602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4" extrusionOk="0">
                    <a:moveTo>
                      <a:pt x="21600" y="19142"/>
                    </a:moveTo>
                    <a:lnTo>
                      <a:pt x="17344" y="21564"/>
                    </a:lnTo>
                    <a:lnTo>
                      <a:pt x="15424" y="19185"/>
                    </a:lnTo>
                    <a:lnTo>
                      <a:pt x="0" y="65"/>
                    </a:lnTo>
                    <a:lnTo>
                      <a:pt x="2774" y="4"/>
                    </a:lnTo>
                    <a:cubicBezTo>
                      <a:pt x="4605" y="-36"/>
                      <a:pt x="6302" y="179"/>
                      <a:pt x="6546" y="481"/>
                    </a:cubicBezTo>
                    <a:cubicBezTo>
                      <a:pt x="6546" y="481"/>
                      <a:pt x="21600" y="19142"/>
                      <a:pt x="21600" y="19142"/>
                    </a:cubicBezTo>
                    <a:close/>
                  </a:path>
                </a:pathLst>
              </a:custGeom>
              <a:solidFill>
                <a:srgbClr val="FA4655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46" name="Shape 25">
                <a:extLst>
                  <a:ext uri="{FF2B5EF4-FFF2-40B4-BE49-F238E27FC236}">
                    <a16:creationId xmlns:a16="http://schemas.microsoft.com/office/drawing/2014/main" id="{369D8B1D-1866-4F72-9715-193E66363608}"/>
                  </a:ext>
                </a:extLst>
              </p:cNvPr>
              <p:cNvSpPr/>
              <p:nvPr/>
            </p:nvSpPr>
            <p:spPr>
              <a:xfrm>
                <a:off x="3251200" y="3314699"/>
                <a:ext cx="795675" cy="3669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74" extrusionOk="0">
                    <a:moveTo>
                      <a:pt x="21600" y="18997"/>
                    </a:moveTo>
                    <a:lnTo>
                      <a:pt x="18145" y="21574"/>
                    </a:lnTo>
                    <a:lnTo>
                      <a:pt x="11692" y="19283"/>
                    </a:lnTo>
                    <a:lnTo>
                      <a:pt x="0" y="292"/>
                    </a:lnTo>
                    <a:cubicBezTo>
                      <a:pt x="3409" y="63"/>
                      <a:pt x="6694" y="-26"/>
                      <a:pt x="9908" y="6"/>
                    </a:cubicBezTo>
                    <a:cubicBezTo>
                      <a:pt x="9908" y="6"/>
                      <a:pt x="21600" y="18997"/>
                      <a:pt x="21600" y="189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47" name="Shape 26">
                <a:extLst>
                  <a:ext uri="{FF2B5EF4-FFF2-40B4-BE49-F238E27FC236}">
                    <a16:creationId xmlns:a16="http://schemas.microsoft.com/office/drawing/2014/main" id="{042563BA-096C-4B3A-9A77-DA5756AD8AFF}"/>
                  </a:ext>
                </a:extLst>
              </p:cNvPr>
              <p:cNvSpPr/>
              <p:nvPr/>
            </p:nvSpPr>
            <p:spPr>
              <a:xfrm>
                <a:off x="3441700" y="3314699"/>
                <a:ext cx="615305" cy="36696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0" extrusionOk="0">
                    <a:moveTo>
                      <a:pt x="21600" y="19011"/>
                    </a:moveTo>
                    <a:lnTo>
                      <a:pt x="17132" y="21590"/>
                    </a:lnTo>
                    <a:lnTo>
                      <a:pt x="15116" y="19057"/>
                    </a:lnTo>
                    <a:lnTo>
                      <a:pt x="0" y="55"/>
                    </a:lnTo>
                    <a:cubicBezTo>
                      <a:pt x="2190" y="5"/>
                      <a:pt x="4346" y="-10"/>
                      <a:pt x="6480" y="6"/>
                    </a:cubicBezTo>
                    <a:cubicBezTo>
                      <a:pt x="6480" y="6"/>
                      <a:pt x="21600" y="19011"/>
                      <a:pt x="21600" y="19011"/>
                    </a:cubicBezTo>
                    <a:close/>
                  </a:path>
                </a:pathLst>
              </a:custGeom>
              <a:solidFill>
                <a:srgbClr val="D9D9D9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48" name="Shape 27">
                <a:extLst>
                  <a:ext uri="{FF2B5EF4-FFF2-40B4-BE49-F238E27FC236}">
                    <a16:creationId xmlns:a16="http://schemas.microsoft.com/office/drawing/2014/main" id="{B2790C79-53F5-4060-A0F9-445602C10503}"/>
                  </a:ext>
                </a:extLst>
              </p:cNvPr>
              <p:cNvSpPr/>
              <p:nvPr/>
            </p:nvSpPr>
            <p:spPr>
              <a:xfrm>
                <a:off x="3276600" y="3428999"/>
                <a:ext cx="780140" cy="35537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8" extrusionOk="0">
                    <a:moveTo>
                      <a:pt x="21600" y="18908"/>
                    </a:moveTo>
                    <a:lnTo>
                      <a:pt x="18076" y="21568"/>
                    </a:lnTo>
                    <a:lnTo>
                      <a:pt x="11495" y="19203"/>
                    </a:lnTo>
                    <a:lnTo>
                      <a:pt x="0" y="306"/>
                    </a:lnTo>
                    <a:cubicBezTo>
                      <a:pt x="3491" y="59"/>
                      <a:pt x="6840" y="-32"/>
                      <a:pt x="10104" y="10"/>
                    </a:cubicBezTo>
                    <a:cubicBezTo>
                      <a:pt x="10104" y="10"/>
                      <a:pt x="21600" y="18908"/>
                      <a:pt x="21600" y="18908"/>
                    </a:cubicBezTo>
                    <a:close/>
                  </a:path>
                </a:pathLst>
              </a:custGeom>
              <a:solidFill>
                <a:srgbClr val="FFAF2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49" name="Shape 28">
                <a:extLst>
                  <a:ext uri="{FF2B5EF4-FFF2-40B4-BE49-F238E27FC236}">
                    <a16:creationId xmlns:a16="http://schemas.microsoft.com/office/drawing/2014/main" id="{9A40E923-B000-4099-A7B4-3C1BDF21FC15}"/>
                  </a:ext>
                </a:extLst>
              </p:cNvPr>
              <p:cNvSpPr/>
              <p:nvPr/>
            </p:nvSpPr>
            <p:spPr>
              <a:xfrm>
                <a:off x="3454400" y="3428999"/>
                <a:ext cx="599954" cy="35538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8" extrusionOk="0">
                    <a:moveTo>
                      <a:pt x="21600" y="18925"/>
                    </a:moveTo>
                    <a:lnTo>
                      <a:pt x="17017" y="21588"/>
                    </a:lnTo>
                    <a:lnTo>
                      <a:pt x="14950" y="18973"/>
                    </a:lnTo>
                    <a:lnTo>
                      <a:pt x="0" y="54"/>
                    </a:lnTo>
                    <a:cubicBezTo>
                      <a:pt x="2253" y="2"/>
                      <a:pt x="4466" y="-12"/>
                      <a:pt x="6652" y="10"/>
                    </a:cubicBezTo>
                    <a:cubicBezTo>
                      <a:pt x="6652" y="10"/>
                      <a:pt x="21600" y="18925"/>
                      <a:pt x="21600" y="1892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50" name="Shape 29">
                <a:extLst>
                  <a:ext uri="{FF2B5EF4-FFF2-40B4-BE49-F238E27FC236}">
                    <a16:creationId xmlns:a16="http://schemas.microsoft.com/office/drawing/2014/main" id="{2B842FC7-A978-4D49-807C-A3E2060B7535}"/>
                  </a:ext>
                </a:extLst>
              </p:cNvPr>
              <p:cNvSpPr/>
              <p:nvPr/>
            </p:nvSpPr>
            <p:spPr>
              <a:xfrm>
                <a:off x="3683000" y="6553200"/>
                <a:ext cx="364949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3"/>
                    </a:lnTo>
                    <a:cubicBezTo>
                      <a:pt x="3347" y="1539"/>
                      <a:pt x="6924" y="854"/>
                      <a:pt x="10669" y="442"/>
                    </a:cubicBezTo>
                    <a:cubicBezTo>
                      <a:pt x="14416" y="30"/>
                      <a:pt x="18084" y="-87"/>
                      <a:pt x="21600" y="62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51" name="Shape 30">
                <a:extLst>
                  <a:ext uri="{FF2B5EF4-FFF2-40B4-BE49-F238E27FC236}">
                    <a16:creationId xmlns:a16="http://schemas.microsoft.com/office/drawing/2014/main" id="{C2A66D12-9D7E-4DA8-A0B5-E0EBABE56019}"/>
                  </a:ext>
                </a:extLst>
              </p:cNvPr>
              <p:cNvSpPr/>
              <p:nvPr/>
            </p:nvSpPr>
            <p:spPr>
              <a:xfrm>
                <a:off x="3873500" y="6553200"/>
                <a:ext cx="184683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6716" y="21513"/>
                    </a:lnTo>
                    <a:lnTo>
                      <a:pt x="0" y="442"/>
                    </a:lnTo>
                    <a:cubicBezTo>
                      <a:pt x="7403" y="30"/>
                      <a:pt x="14653" y="-87"/>
                      <a:pt x="21600" y="62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52" name="Shape 31">
                <a:extLst>
                  <a:ext uri="{FF2B5EF4-FFF2-40B4-BE49-F238E27FC236}">
                    <a16:creationId xmlns:a16="http://schemas.microsoft.com/office/drawing/2014/main" id="{151892AF-4057-494A-B6CB-4F710EADAAF4}"/>
                  </a:ext>
                </a:extLst>
              </p:cNvPr>
              <p:cNvSpPr/>
              <p:nvPr/>
            </p:nvSpPr>
            <p:spPr>
              <a:xfrm>
                <a:off x="3848100" y="6845299"/>
                <a:ext cx="120559" cy="145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7"/>
                    </a:lnTo>
                    <a:cubicBezTo>
                      <a:pt x="3344" y="1534"/>
                      <a:pt x="6925" y="855"/>
                      <a:pt x="10669" y="441"/>
                    </a:cubicBezTo>
                    <a:cubicBezTo>
                      <a:pt x="14410" y="30"/>
                      <a:pt x="18083" y="-87"/>
                      <a:pt x="21600" y="62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2AC7AF3-E4FA-43A2-B24E-9FBE6DDE4DDA}"/>
                </a:ext>
              </a:extLst>
            </p:cNvPr>
            <p:cNvGrpSpPr/>
            <p:nvPr/>
          </p:nvGrpSpPr>
          <p:grpSpPr>
            <a:xfrm>
              <a:off x="16270214" y="7021296"/>
              <a:ext cx="3120906" cy="1670711"/>
              <a:chOff x="4534744" y="5644773"/>
              <a:chExt cx="3120906" cy="1670711"/>
            </a:xfrm>
          </p:grpSpPr>
          <p:sp>
            <p:nvSpPr>
              <p:cNvPr id="37" name="Shape 10">
                <a:extLst>
                  <a:ext uri="{FF2B5EF4-FFF2-40B4-BE49-F238E27FC236}">
                    <a16:creationId xmlns:a16="http://schemas.microsoft.com/office/drawing/2014/main" id="{A4945F41-87DE-4216-89C0-6D851FDF09A0}"/>
                  </a:ext>
                </a:extLst>
              </p:cNvPr>
              <p:cNvSpPr/>
              <p:nvPr/>
            </p:nvSpPr>
            <p:spPr>
              <a:xfrm rot="21084094">
                <a:off x="5987331" y="5799977"/>
                <a:ext cx="1301926" cy="1351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8741" y="18539"/>
                    </a:lnTo>
                    <a:lnTo>
                      <a:pt x="21600" y="0"/>
                    </a:lnTo>
                    <a:lnTo>
                      <a:pt x="2850" y="3052"/>
                    </a:lnTo>
                    <a:cubicBezTo>
                      <a:pt x="2850" y="3052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38" name="Shape 11">
                <a:extLst>
                  <a:ext uri="{FF2B5EF4-FFF2-40B4-BE49-F238E27FC236}">
                    <a16:creationId xmlns:a16="http://schemas.microsoft.com/office/drawing/2014/main" id="{9AC5A7A2-C791-443E-A1A0-155DCDB45260}"/>
                  </a:ext>
                </a:extLst>
              </p:cNvPr>
              <p:cNvSpPr/>
              <p:nvPr/>
            </p:nvSpPr>
            <p:spPr>
              <a:xfrm rot="21084094">
                <a:off x="4957893" y="5644773"/>
                <a:ext cx="1188344" cy="1670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477" y="21600"/>
                    </a:moveTo>
                    <a:lnTo>
                      <a:pt x="0" y="15002"/>
                    </a:lnTo>
                    <a:lnTo>
                      <a:pt x="3132" y="0"/>
                    </a:lnTo>
                    <a:lnTo>
                      <a:pt x="21600" y="6590"/>
                    </a:lnTo>
                    <a:cubicBezTo>
                      <a:pt x="21600" y="6590"/>
                      <a:pt x="18477" y="21600"/>
                      <a:pt x="18477" y="2160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39" name="Shape 12">
                <a:extLst>
                  <a:ext uri="{FF2B5EF4-FFF2-40B4-BE49-F238E27FC236}">
                    <a16:creationId xmlns:a16="http://schemas.microsoft.com/office/drawing/2014/main" id="{A576835F-3DE4-4A55-9986-F06437BF5895}"/>
                  </a:ext>
                </a:extLst>
              </p:cNvPr>
              <p:cNvSpPr/>
              <p:nvPr/>
            </p:nvSpPr>
            <p:spPr>
              <a:xfrm rot="21084094">
                <a:off x="4534744" y="5676058"/>
                <a:ext cx="1557388" cy="8267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038" y="21600"/>
                    </a:moveTo>
                    <a:lnTo>
                      <a:pt x="0" y="8284"/>
                    </a:lnTo>
                    <a:lnTo>
                      <a:pt x="7562" y="0"/>
                    </a:lnTo>
                    <a:lnTo>
                      <a:pt x="21600" y="13316"/>
                    </a:lnTo>
                    <a:cubicBezTo>
                      <a:pt x="21600" y="13316"/>
                      <a:pt x="14038" y="21600"/>
                      <a:pt x="14038" y="21600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40" name="Shape 13">
                <a:extLst>
                  <a:ext uri="{FF2B5EF4-FFF2-40B4-BE49-F238E27FC236}">
                    <a16:creationId xmlns:a16="http://schemas.microsoft.com/office/drawing/2014/main" id="{B58FB79D-FCC4-4FEB-87D9-CD372D29BD76}"/>
                  </a:ext>
                </a:extLst>
              </p:cNvPr>
              <p:cNvSpPr/>
              <p:nvPr/>
            </p:nvSpPr>
            <p:spPr>
              <a:xfrm rot="21084094">
                <a:off x="6109501" y="5759081"/>
                <a:ext cx="1546149" cy="6553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001" y="21600"/>
                    </a:moveTo>
                    <a:lnTo>
                      <a:pt x="21600" y="15221"/>
                    </a:lnTo>
                    <a:lnTo>
                      <a:pt x="15599" y="0"/>
                    </a:lnTo>
                    <a:lnTo>
                      <a:pt x="0" y="6379"/>
                    </a:lnTo>
                    <a:cubicBezTo>
                      <a:pt x="0" y="6379"/>
                      <a:pt x="6001" y="21600"/>
                      <a:pt x="6001" y="2160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359FD3D-412B-448D-BEE2-5457AAFD0596}"/>
              </a:ext>
            </a:extLst>
          </p:cNvPr>
          <p:cNvSpPr/>
          <p:nvPr/>
        </p:nvSpPr>
        <p:spPr>
          <a:xfrm>
            <a:off x="1899167" y="1508749"/>
            <a:ext cx="124571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fr-FR" sz="2400" b="1" spc="1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Inventorier rapidement l’IT des collectivités via une série de questions quantitatives</a:t>
            </a:r>
            <a:endParaRPr lang="fr-FR" sz="2400" b="1"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7E97F64-D6C0-44C0-A84F-3F4BF3216FF6}"/>
              </a:ext>
            </a:extLst>
          </p:cNvPr>
          <p:cNvSpPr/>
          <p:nvPr/>
        </p:nvSpPr>
        <p:spPr>
          <a:xfrm>
            <a:off x="5226327" y="8230697"/>
            <a:ext cx="6911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fr-FR" b="1" spc="1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Ces questions représentent le volet quantitatif de l’outil de diagnostic</a:t>
            </a:r>
            <a:endParaRPr lang="fr-FR" b="1">
              <a:latin typeface="Marianne" charset="0"/>
              <a:ea typeface="Marianne" charset="0"/>
              <a:cs typeface="Mariann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590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Table 49">
            <a:extLst>
              <a:ext uri="{FF2B5EF4-FFF2-40B4-BE49-F238E27FC236}">
                <a16:creationId xmlns:a16="http://schemas.microsoft.com/office/drawing/2014/main" id="{CC23D2F6-0EB3-4D7E-8BF9-1C2A9AB1A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69632"/>
              </p:ext>
            </p:extLst>
          </p:nvPr>
        </p:nvGraphicFramePr>
        <p:xfrm>
          <a:off x="2007320" y="2215688"/>
          <a:ext cx="11687289" cy="484480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001564">
                  <a:extLst>
                    <a:ext uri="{9D8B030D-6E8A-4147-A177-3AD203B41FA5}">
                      <a16:colId xmlns:a16="http://schemas.microsoft.com/office/drawing/2014/main" val="232129239"/>
                    </a:ext>
                  </a:extLst>
                </a:gridCol>
                <a:gridCol w="7685725">
                  <a:extLst>
                    <a:ext uri="{9D8B030D-6E8A-4147-A177-3AD203B41FA5}">
                      <a16:colId xmlns:a16="http://schemas.microsoft.com/office/drawing/2014/main" val="2721997335"/>
                    </a:ext>
                  </a:extLst>
                </a:gridCol>
              </a:tblGrid>
              <a:tr h="968961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>
                          <a:solidFill>
                            <a:schemeClr val="bg1"/>
                          </a:solidFill>
                        </a:rPr>
                        <a:t>Restitution des travaux de la phase de diagnostic</a:t>
                      </a:r>
                      <a:endParaRPr lang="en-GB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5D6DB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bg1"/>
                          </a:solidFill>
                        </a:rPr>
                        <a:t>Restitution des travaux de la phase de diagnostic</a:t>
                      </a:r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5D6D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86377"/>
                  </a:ext>
                </a:extLst>
              </a:tr>
              <a:tr h="968961">
                <a:tc>
                  <a:txBody>
                    <a:bodyPr/>
                    <a:lstStyle/>
                    <a:p>
                      <a:endParaRPr lang="en-GB" sz="1800" kern="1200" spc="-5">
                        <a:solidFill>
                          <a:srgbClr val="2C3176"/>
                        </a:solidFill>
                        <a:latin typeface="Marianne Light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i="1" kern="1200" spc="-5">
                          <a:solidFill>
                            <a:srgbClr val="2C3176"/>
                          </a:solidFill>
                          <a:latin typeface="Marianne Light" charset="0"/>
                        </a:rPr>
                        <a:t>A renseigner en séance</a:t>
                      </a:r>
                      <a:endParaRPr lang="en-GB" sz="1800" i="1" kern="1200" spc="-5">
                        <a:solidFill>
                          <a:srgbClr val="2C3176"/>
                        </a:solidFill>
                        <a:latin typeface="Marianne Light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043704"/>
                  </a:ext>
                </a:extLst>
              </a:tr>
              <a:tr h="968961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pc="-5" dirty="0">
                          <a:solidFill>
                            <a:srgbClr val="2C3176"/>
                          </a:solidFill>
                          <a:latin typeface="Marianne Light" charset="0"/>
                          <a:ea typeface="Marianne Light" charset="0"/>
                          <a:cs typeface="Marianne Light" charset="0"/>
                        </a:rPr>
                        <a:t>Référent projet et toutes les parties prenantes souhaitant être associées </a:t>
                      </a:r>
                      <a:endParaRPr lang="fr-FR" dirty="0">
                        <a:latin typeface="Marianne Light" charset="0"/>
                        <a:ea typeface="Marianne Light" charset="0"/>
                        <a:cs typeface="Marianne Light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508677"/>
                  </a:ext>
                </a:extLst>
              </a:tr>
              <a:tr h="968961">
                <a:tc>
                  <a:txBody>
                    <a:bodyPr/>
                    <a:lstStyle/>
                    <a:p>
                      <a:endParaRPr lang="en-GB" spc="-5">
                        <a:solidFill>
                          <a:srgbClr val="2C3176"/>
                        </a:solidFill>
                        <a:latin typeface="Marianne Light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pc="-5" noProof="0" dirty="0">
                          <a:solidFill>
                            <a:srgbClr val="2C3176"/>
                          </a:solidFill>
                          <a:latin typeface="Marianne Light" charset="0"/>
                          <a:ea typeface="+mn-ea"/>
                          <a:cs typeface="+mn-cs"/>
                        </a:rPr>
                        <a:t>Partager les résultats du diagnostic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pc="-5" noProof="0" dirty="0">
                          <a:solidFill>
                            <a:srgbClr val="2C3176"/>
                          </a:solidFill>
                          <a:latin typeface="Marianne Light" charset="0"/>
                          <a:ea typeface="+mn-ea"/>
                          <a:cs typeface="+mn-cs"/>
                        </a:rPr>
                        <a:t>Préparer la phase suivante de feuille de route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781383"/>
                  </a:ext>
                </a:extLst>
              </a:tr>
              <a:tr h="968961">
                <a:tc>
                  <a:txBody>
                    <a:bodyPr/>
                    <a:lstStyle/>
                    <a:p>
                      <a:endParaRPr lang="en-GB" spc="-5">
                        <a:solidFill>
                          <a:srgbClr val="2C3176"/>
                        </a:solidFill>
                        <a:latin typeface="Marianne Light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pc="-5" dirty="0">
                          <a:solidFill>
                            <a:srgbClr val="2C3176"/>
                          </a:solidFill>
                          <a:latin typeface="Marianne Light" charset="0"/>
                        </a:rPr>
                        <a:t>1H à 1H30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356731"/>
                  </a:ext>
                </a:extLst>
              </a:tr>
            </a:tbl>
          </a:graphicData>
        </a:graphic>
      </p:graphicFrame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57BF3D3F-1C1E-4459-B7EB-55048210EA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094" y="3422029"/>
            <a:ext cx="509567" cy="509567"/>
          </a:xfrm>
          <a:prstGeom prst="rect">
            <a:avLst/>
          </a:prstGeom>
        </p:spPr>
      </p:pic>
      <p:sp>
        <p:nvSpPr>
          <p:cNvPr id="44" name="object 15">
            <a:extLst>
              <a:ext uri="{FF2B5EF4-FFF2-40B4-BE49-F238E27FC236}">
                <a16:creationId xmlns:a16="http://schemas.microsoft.com/office/drawing/2014/main" id="{27F1BB2B-A64C-410F-A710-A1D42121C3D3}"/>
              </a:ext>
            </a:extLst>
          </p:cNvPr>
          <p:cNvSpPr txBox="1">
            <a:spLocks/>
          </p:cNvSpPr>
          <p:nvPr/>
        </p:nvSpPr>
        <p:spPr>
          <a:xfrm>
            <a:off x="2998481" y="4549576"/>
            <a:ext cx="2057400" cy="313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fr-FR" sz="2000" kern="0" spc="6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Interlocuteurs</a:t>
            </a:r>
            <a:endParaRPr lang="fr-FR" sz="2000" kern="0"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45" name="object 15">
            <a:extLst>
              <a:ext uri="{FF2B5EF4-FFF2-40B4-BE49-F238E27FC236}">
                <a16:creationId xmlns:a16="http://schemas.microsoft.com/office/drawing/2014/main" id="{389A57DB-64B0-4BDF-AEFB-19A2D4ABBA5B}"/>
              </a:ext>
            </a:extLst>
          </p:cNvPr>
          <p:cNvSpPr txBox="1">
            <a:spLocks/>
          </p:cNvSpPr>
          <p:nvPr/>
        </p:nvSpPr>
        <p:spPr>
          <a:xfrm>
            <a:off x="2998481" y="5442981"/>
            <a:ext cx="1371600" cy="313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fr-FR" sz="2000" kern="0" spc="6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Objectif</a:t>
            </a:r>
            <a:endParaRPr lang="fr-FR" sz="2000" kern="0">
              <a:latin typeface="Marianne" charset="0"/>
              <a:ea typeface="Marianne" charset="0"/>
              <a:cs typeface="Marianne" charset="0"/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33644FBE-EFD7-45F4-8D67-E7E48E62D8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993" y="4344195"/>
            <a:ext cx="623769" cy="623769"/>
          </a:xfrm>
          <a:prstGeom prst="rect">
            <a:avLst/>
          </a:prstGeom>
        </p:spPr>
      </p:pic>
      <p:pic>
        <p:nvPicPr>
          <p:cNvPr id="48" name="Picture 47" descr="Shape&#10;&#10;Description automatically generated with low confidence">
            <a:extLst>
              <a:ext uri="{FF2B5EF4-FFF2-40B4-BE49-F238E27FC236}">
                <a16:creationId xmlns:a16="http://schemas.microsoft.com/office/drawing/2014/main" id="{CD57383F-1ACA-4894-98F6-12ABC185D9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163" y="5357216"/>
            <a:ext cx="511429" cy="511429"/>
          </a:xfrm>
          <a:prstGeom prst="rect">
            <a:avLst/>
          </a:prstGeom>
        </p:spPr>
      </p:pic>
      <p:sp>
        <p:nvSpPr>
          <p:cNvPr id="63" name="object 15">
            <a:extLst>
              <a:ext uri="{FF2B5EF4-FFF2-40B4-BE49-F238E27FC236}">
                <a16:creationId xmlns:a16="http://schemas.microsoft.com/office/drawing/2014/main" id="{AEDF85B8-BEE5-4B58-9AA9-19B12F555BEB}"/>
              </a:ext>
            </a:extLst>
          </p:cNvPr>
          <p:cNvSpPr txBox="1">
            <a:spLocks/>
          </p:cNvSpPr>
          <p:nvPr/>
        </p:nvSpPr>
        <p:spPr>
          <a:xfrm>
            <a:off x="2998481" y="6417127"/>
            <a:ext cx="1883605" cy="313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fr-FR" sz="2000" kern="0" spc="6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Format</a:t>
            </a:r>
            <a:endParaRPr lang="fr-FR" sz="2000" kern="0">
              <a:latin typeface="Marianne" charset="0"/>
              <a:ea typeface="Marianne" charset="0"/>
              <a:cs typeface="Marianne" charset="0"/>
            </a:endParaRPr>
          </a:p>
        </p:txBody>
      </p:sp>
      <p:pic>
        <p:nvPicPr>
          <p:cNvPr id="66" name="Picture 65" descr="Shape&#10;&#10;Description automatically generated with low confidence">
            <a:extLst>
              <a:ext uri="{FF2B5EF4-FFF2-40B4-BE49-F238E27FC236}">
                <a16:creationId xmlns:a16="http://schemas.microsoft.com/office/drawing/2014/main" id="{9D1D5478-BE5D-407A-8F51-42387C3B48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466" y="6288075"/>
            <a:ext cx="566822" cy="5668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A5EEE4-139D-485A-AAD1-91477DB4E49E}"/>
              </a:ext>
            </a:extLst>
          </p:cNvPr>
          <p:cNvSpPr txBox="1">
            <a:spLocks/>
          </p:cNvSpPr>
          <p:nvPr/>
        </p:nvSpPr>
        <p:spPr>
          <a:xfrm>
            <a:off x="3213100" y="8001000"/>
            <a:ext cx="10025948" cy="883280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b="1" i="1">
                <a:latin typeface="Marianne" panose="020B0604020202020204"/>
              </a:rPr>
              <a:t>Le choix de la date et de l’heure est à effectuer en séance</a:t>
            </a:r>
          </a:p>
          <a:p>
            <a:pPr algn="ctr"/>
            <a:endParaRPr lang="fr-FR" b="1" i="1">
              <a:latin typeface="Marianne" panose="020B060402020202020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4481E9-3B71-4203-AC77-5ABAA1B8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15553"/>
          </a:xfrm>
        </p:spPr>
        <p:txBody>
          <a:bodyPr/>
          <a:lstStyle/>
          <a:p>
            <a:r>
              <a:rPr lang="en-GB" sz="4000"/>
              <a:t>Notre prochain rendez-vous collectif</a:t>
            </a:r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895878AA-4745-45FC-9997-90092BD49060}"/>
              </a:ext>
            </a:extLst>
          </p:cNvPr>
          <p:cNvSpPr txBox="1">
            <a:spLocks/>
          </p:cNvSpPr>
          <p:nvPr/>
        </p:nvSpPr>
        <p:spPr>
          <a:xfrm>
            <a:off x="2998481" y="3568999"/>
            <a:ext cx="2057400" cy="313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fr-FR" sz="2000" kern="0" spc="6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Date &amp; heure</a:t>
            </a:r>
            <a:endParaRPr lang="fr-FR" sz="2000" kern="0">
              <a:latin typeface="Marianne" charset="0"/>
              <a:ea typeface="Marianne" charset="0"/>
              <a:cs typeface="Mariann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462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C61595C-E020-4633-8A7F-ADEB4F8E4F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0" r="30242"/>
          <a:stretch/>
        </p:blipFill>
        <p:spPr bwMode="auto">
          <a:xfrm>
            <a:off x="9239689" y="720497"/>
            <a:ext cx="5845663" cy="756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object 11"/>
          <p:cNvGrpSpPr/>
          <p:nvPr/>
        </p:nvGrpSpPr>
        <p:grpSpPr>
          <a:xfrm>
            <a:off x="2905988" y="2403126"/>
            <a:ext cx="5949129" cy="4375909"/>
            <a:chOff x="2535820" y="2403126"/>
            <a:chExt cx="6319297" cy="4069715"/>
          </a:xfrm>
        </p:grpSpPr>
        <p:sp>
          <p:nvSpPr>
            <p:cNvPr id="12" name="object 12"/>
            <p:cNvSpPr/>
            <p:nvPr/>
          </p:nvSpPr>
          <p:spPr>
            <a:xfrm>
              <a:off x="4140942" y="2403126"/>
              <a:ext cx="2703830" cy="4069715"/>
            </a:xfrm>
            <a:custGeom>
              <a:avLst/>
              <a:gdLst/>
              <a:ahLst/>
              <a:cxnLst/>
              <a:rect l="l" t="t" r="r" b="b"/>
              <a:pathLst>
                <a:path w="2703829" h="4069715">
                  <a:moveTo>
                    <a:pt x="1179334" y="0"/>
                  </a:moveTo>
                  <a:lnTo>
                    <a:pt x="0" y="1179372"/>
                  </a:lnTo>
                  <a:lnTo>
                    <a:pt x="846429" y="2025776"/>
                  </a:lnTo>
                  <a:lnTo>
                    <a:pt x="89509" y="2887649"/>
                  </a:lnTo>
                  <a:lnTo>
                    <a:pt x="1271308" y="4069448"/>
                  </a:lnTo>
                  <a:lnTo>
                    <a:pt x="2417838" y="2763862"/>
                  </a:lnTo>
                  <a:lnTo>
                    <a:pt x="2449341" y="2726436"/>
                  </a:lnTo>
                  <a:lnTo>
                    <a:pt x="2478995" y="2688029"/>
                  </a:lnTo>
                  <a:lnTo>
                    <a:pt x="2506802" y="2648701"/>
                  </a:lnTo>
                  <a:lnTo>
                    <a:pt x="2532764" y="2608512"/>
                  </a:lnTo>
                  <a:lnTo>
                    <a:pt x="2556882" y="2567521"/>
                  </a:lnTo>
                  <a:lnTo>
                    <a:pt x="2579159" y="2525788"/>
                  </a:lnTo>
                  <a:lnTo>
                    <a:pt x="2599597" y="2483370"/>
                  </a:lnTo>
                  <a:lnTo>
                    <a:pt x="2618197" y="2440329"/>
                  </a:lnTo>
                  <a:lnTo>
                    <a:pt x="2634961" y="2396724"/>
                  </a:lnTo>
                  <a:lnTo>
                    <a:pt x="2649891" y="2352613"/>
                  </a:lnTo>
                  <a:lnTo>
                    <a:pt x="2662990" y="2308056"/>
                  </a:lnTo>
                  <a:lnTo>
                    <a:pt x="2674259" y="2263112"/>
                  </a:lnTo>
                  <a:lnTo>
                    <a:pt x="2683699" y="2217841"/>
                  </a:lnTo>
                  <a:lnTo>
                    <a:pt x="2691314" y="2172303"/>
                  </a:lnTo>
                  <a:lnTo>
                    <a:pt x="2697104" y="2126555"/>
                  </a:lnTo>
                  <a:lnTo>
                    <a:pt x="2701072" y="2080659"/>
                  </a:lnTo>
                  <a:lnTo>
                    <a:pt x="2703220" y="2034673"/>
                  </a:lnTo>
                  <a:lnTo>
                    <a:pt x="2703549" y="1988656"/>
                  </a:lnTo>
                  <a:lnTo>
                    <a:pt x="2702062" y="1942668"/>
                  </a:lnTo>
                  <a:lnTo>
                    <a:pt x="2698760" y="1896769"/>
                  </a:lnTo>
                  <a:lnTo>
                    <a:pt x="2693645" y="1851016"/>
                  </a:lnTo>
                  <a:lnTo>
                    <a:pt x="2686720" y="1805471"/>
                  </a:lnTo>
                  <a:lnTo>
                    <a:pt x="2677985" y="1760193"/>
                  </a:lnTo>
                  <a:lnTo>
                    <a:pt x="2667444" y="1715239"/>
                  </a:lnTo>
                  <a:lnTo>
                    <a:pt x="2655097" y="1670671"/>
                  </a:lnTo>
                  <a:lnTo>
                    <a:pt x="2640947" y="1626548"/>
                  </a:lnTo>
                  <a:lnTo>
                    <a:pt x="2624996" y="1582927"/>
                  </a:lnTo>
                  <a:lnTo>
                    <a:pt x="2607246" y="1539870"/>
                  </a:lnTo>
                  <a:lnTo>
                    <a:pt x="2587698" y="1497436"/>
                  </a:lnTo>
                  <a:lnTo>
                    <a:pt x="2566354" y="1455683"/>
                  </a:lnTo>
                  <a:lnTo>
                    <a:pt x="2543217" y="1414671"/>
                  </a:lnTo>
                  <a:lnTo>
                    <a:pt x="2518288" y="1374460"/>
                  </a:lnTo>
                  <a:lnTo>
                    <a:pt x="2491570" y="1335108"/>
                  </a:lnTo>
                  <a:lnTo>
                    <a:pt x="2463063" y="1296676"/>
                  </a:lnTo>
                  <a:lnTo>
                    <a:pt x="2432770" y="1259222"/>
                  </a:lnTo>
                  <a:lnTo>
                    <a:pt x="2400694" y="1222806"/>
                  </a:lnTo>
                  <a:lnTo>
                    <a:pt x="2366835" y="1187488"/>
                  </a:lnTo>
                  <a:lnTo>
                    <a:pt x="1179334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820" y="4011942"/>
              <a:ext cx="6319297" cy="852169"/>
            </a:xfrm>
            <a:custGeom>
              <a:avLst/>
              <a:gdLst/>
              <a:ahLst/>
              <a:cxnLst/>
              <a:rect l="l" t="t" r="r" b="b"/>
              <a:pathLst>
                <a:path w="5914390" h="852170">
                  <a:moveTo>
                    <a:pt x="5913882" y="0"/>
                  </a:moveTo>
                  <a:lnTo>
                    <a:pt x="0" y="0"/>
                  </a:lnTo>
                  <a:lnTo>
                    <a:pt x="0" y="851827"/>
                  </a:lnTo>
                  <a:lnTo>
                    <a:pt x="5913882" y="851827"/>
                  </a:lnTo>
                  <a:lnTo>
                    <a:pt x="5913882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16188" y="4271535"/>
            <a:ext cx="6093159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lang="fr-FR" sz="240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Echange autour du Numérique Responsable</a:t>
            </a:r>
            <a:endParaRPr lang="fr-FR" sz="2400" b="1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6779035"/>
            <a:ext cx="1277112" cy="167640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4710316" y="609837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69" h="729615">
                <a:moveTo>
                  <a:pt x="435330" y="0"/>
                </a:moveTo>
                <a:lnTo>
                  <a:pt x="0" y="0"/>
                </a:lnTo>
                <a:lnTo>
                  <a:pt x="0" y="432346"/>
                </a:lnTo>
                <a:lnTo>
                  <a:pt x="310299" y="432346"/>
                </a:lnTo>
                <a:lnTo>
                  <a:pt x="329539" y="729068"/>
                </a:lnTo>
                <a:lnTo>
                  <a:pt x="762787" y="729068"/>
                </a:lnTo>
                <a:lnTo>
                  <a:pt x="733640" y="279615"/>
                </a:lnTo>
                <a:lnTo>
                  <a:pt x="727061" y="233685"/>
                </a:lnTo>
                <a:lnTo>
                  <a:pt x="713799" y="190326"/>
                </a:lnTo>
                <a:lnTo>
                  <a:pt x="694421" y="150072"/>
                </a:lnTo>
                <a:lnTo>
                  <a:pt x="669498" y="113456"/>
                </a:lnTo>
                <a:lnTo>
                  <a:pt x="639597" y="81010"/>
                </a:lnTo>
                <a:lnTo>
                  <a:pt x="605287" y="53268"/>
                </a:lnTo>
                <a:lnTo>
                  <a:pt x="567137" y="30762"/>
                </a:lnTo>
                <a:lnTo>
                  <a:pt x="525715" y="14027"/>
                </a:lnTo>
                <a:lnTo>
                  <a:pt x="481590" y="3595"/>
                </a:lnTo>
                <a:lnTo>
                  <a:pt x="43533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15671" y="7816955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70" h="729615">
                <a:moveTo>
                  <a:pt x="433247" y="0"/>
                </a:moveTo>
                <a:lnTo>
                  <a:pt x="0" y="0"/>
                </a:lnTo>
                <a:lnTo>
                  <a:pt x="29159" y="449453"/>
                </a:lnTo>
                <a:lnTo>
                  <a:pt x="35738" y="495383"/>
                </a:lnTo>
                <a:lnTo>
                  <a:pt x="49000" y="538742"/>
                </a:lnTo>
                <a:lnTo>
                  <a:pt x="68377" y="578996"/>
                </a:lnTo>
                <a:lnTo>
                  <a:pt x="93300" y="615612"/>
                </a:lnTo>
                <a:lnTo>
                  <a:pt x="123201" y="648058"/>
                </a:lnTo>
                <a:lnTo>
                  <a:pt x="157509" y="675800"/>
                </a:lnTo>
                <a:lnTo>
                  <a:pt x="195658" y="698305"/>
                </a:lnTo>
                <a:lnTo>
                  <a:pt x="237078" y="715041"/>
                </a:lnTo>
                <a:lnTo>
                  <a:pt x="281200" y="725473"/>
                </a:lnTo>
                <a:lnTo>
                  <a:pt x="327456" y="729068"/>
                </a:lnTo>
                <a:lnTo>
                  <a:pt x="762812" y="729068"/>
                </a:lnTo>
                <a:lnTo>
                  <a:pt x="762812" y="296722"/>
                </a:lnTo>
                <a:lnTo>
                  <a:pt x="452488" y="296722"/>
                </a:lnTo>
                <a:lnTo>
                  <a:pt x="43324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E37E82D1-EFE2-49F0-9765-0FD2A5819243}"/>
              </a:ext>
            </a:extLst>
          </p:cNvPr>
          <p:cNvSpPr txBox="1">
            <a:spLocks/>
          </p:cNvSpPr>
          <p:nvPr/>
        </p:nvSpPr>
        <p:spPr>
          <a:xfrm>
            <a:off x="1041399" y="3298161"/>
            <a:ext cx="1864589" cy="2138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800" b="1" i="0" u="none" strike="noStrike" kern="0" cap="none" spc="310" normalizeH="0" baseline="0" noProof="0" dirty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 ExtraBold" charset="0"/>
                <a:ea typeface="Marianne ExtraBold" charset="0"/>
                <a:cs typeface="Marianne ExtraBold" charset="0"/>
              </a:rPr>
              <a:t>6.</a:t>
            </a:r>
            <a:endParaRPr kumimoji="0" lang="fr-FR" sz="13800" b="1" i="0" u="none" strike="noStrike" kern="0" cap="none" spc="0" normalizeH="0" baseline="0" noProof="0" dirty="0">
              <a:ln>
                <a:noFill/>
              </a:ln>
              <a:solidFill>
                <a:srgbClr val="FCCD00"/>
              </a:solidFill>
              <a:effectLst/>
              <a:uLnTx/>
              <a:uFillTx/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25" name="Picture 24" descr="Shape&#10;&#10;Description automatically generated with low confidence">
            <a:extLst>
              <a:ext uri="{FF2B5EF4-FFF2-40B4-BE49-F238E27FC236}">
                <a16:creationId xmlns:a16="http://schemas.microsoft.com/office/drawing/2014/main" id="{7503BBFF-98F0-4CCC-B938-A4D9DFE2DA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486" y="7938841"/>
            <a:ext cx="313889" cy="313889"/>
          </a:xfrm>
          <a:prstGeom prst="rect">
            <a:avLst/>
          </a:prstGeom>
        </p:spPr>
      </p:pic>
      <p:sp>
        <p:nvSpPr>
          <p:cNvPr id="26" name="object 9">
            <a:extLst>
              <a:ext uri="{FF2B5EF4-FFF2-40B4-BE49-F238E27FC236}">
                <a16:creationId xmlns:a16="http://schemas.microsoft.com/office/drawing/2014/main" id="{B04377FC-23D0-43D9-B4A8-4EDE77EC7154}"/>
              </a:ext>
            </a:extLst>
          </p:cNvPr>
          <p:cNvSpPr txBox="1"/>
          <p:nvPr/>
        </p:nvSpPr>
        <p:spPr>
          <a:xfrm>
            <a:off x="4919216" y="7651306"/>
            <a:ext cx="1277112" cy="64806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10 mins</a:t>
            </a:r>
          </a:p>
        </p:txBody>
      </p:sp>
      <p:pic>
        <p:nvPicPr>
          <p:cNvPr id="27" name="Image 18">
            <a:extLst>
              <a:ext uri="{FF2B5EF4-FFF2-40B4-BE49-F238E27FC236}">
                <a16:creationId xmlns:a16="http://schemas.microsoft.com/office/drawing/2014/main" id="{25DD4473-F9C2-4C3A-BE57-FF5A0A3F308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2905989" y="8108485"/>
            <a:ext cx="1935480" cy="247212"/>
          </a:xfrm>
          <a:prstGeom prst="rect">
            <a:avLst/>
          </a:prstGeom>
        </p:spPr>
      </p:pic>
      <p:pic>
        <p:nvPicPr>
          <p:cNvPr id="28" name="Image 18">
            <a:extLst>
              <a:ext uri="{FF2B5EF4-FFF2-40B4-BE49-F238E27FC236}">
                <a16:creationId xmlns:a16="http://schemas.microsoft.com/office/drawing/2014/main" id="{E9F26699-982D-4F67-8075-BC215C73DAD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3"/>
          <a:stretch/>
        </p:blipFill>
        <p:spPr>
          <a:xfrm>
            <a:off x="6111713" y="8108485"/>
            <a:ext cx="1935480" cy="247212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F7B8690E-902F-41B6-A394-3C4DAA69D2B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48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08C2AE7C-AE63-4F71-A978-D1452896F3ED}"/>
              </a:ext>
            </a:extLst>
          </p:cNvPr>
          <p:cNvSpPr txBox="1">
            <a:spLocks/>
          </p:cNvSpPr>
          <p:nvPr/>
        </p:nvSpPr>
        <p:spPr>
          <a:xfrm>
            <a:off x="1655588" y="739868"/>
            <a:ext cx="12873212" cy="125867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4000" kern="0" spc="-75">
                <a:solidFill>
                  <a:srgbClr val="2C3176"/>
                </a:solidFill>
                <a:latin typeface="Marianne" panose="020B0604020202020204" charset="0"/>
                <a:ea typeface="Marianne ExtraBold" charset="0"/>
                <a:cs typeface="Marianne" panose="020B0604020202020204" charset="0"/>
              </a:rPr>
              <a:t>Mode d’emploi échange sur le </a:t>
            </a:r>
          </a:p>
          <a:p>
            <a:pPr marL="12700" algn="ctr">
              <a:spcBef>
                <a:spcPts val="114"/>
              </a:spcBef>
            </a:pPr>
            <a:r>
              <a:rPr lang="fr-FR" sz="4000" kern="0" spc="-75">
                <a:solidFill>
                  <a:srgbClr val="2C3176"/>
                </a:solidFill>
                <a:latin typeface="Marianne" panose="020B0604020202020204" charset="0"/>
                <a:ea typeface="Marianne ExtraBold" charset="0"/>
                <a:cs typeface="Marianne" panose="020B0604020202020204" charset="0"/>
              </a:rPr>
              <a:t>Numérique Responsable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4149A2-1110-45EA-857B-6E88FDBF01AD}"/>
              </a:ext>
            </a:extLst>
          </p:cNvPr>
          <p:cNvCxnSpPr/>
          <p:nvPr/>
        </p:nvCxnSpPr>
        <p:spPr>
          <a:xfrm>
            <a:off x="2413000" y="9220200"/>
            <a:ext cx="8930516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EC96A0C-F55E-4B88-A723-B9E1E3B11F66}"/>
              </a:ext>
            </a:extLst>
          </p:cNvPr>
          <p:cNvSpPr txBox="1">
            <a:spLocks/>
          </p:cNvSpPr>
          <p:nvPr/>
        </p:nvSpPr>
        <p:spPr>
          <a:xfrm>
            <a:off x="3906580" y="3168808"/>
            <a:ext cx="8676766" cy="356343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b="1" dirty="0">
                <a:latin typeface="Marianne" panose="020B0604020202020204"/>
              </a:rPr>
              <a:t>Les pages suivantes destinées à faire de la sensibilisation sur le sujet du Numérique Responsable peuvent être utilisées selon votre convenance.</a:t>
            </a:r>
          </a:p>
          <a:p>
            <a:pPr algn="ctr"/>
            <a:endParaRPr lang="fr-FR" b="1" dirty="0">
              <a:latin typeface="Marianne" panose="020B0604020202020204"/>
            </a:endParaRPr>
          </a:p>
          <a:p>
            <a:pPr algn="ctr"/>
            <a:endParaRPr lang="fr-FR" b="1" dirty="0">
              <a:latin typeface="Marianne" panose="020B0604020202020204"/>
            </a:endParaRPr>
          </a:p>
          <a:p>
            <a:pPr algn="ctr"/>
            <a:r>
              <a:rPr lang="fr-FR" b="1" dirty="0">
                <a:latin typeface="Marianne" panose="020B0604020202020204"/>
              </a:rPr>
              <a:t>Le retour de l’expérimentation menée par l’ANCT avec 6 collectivités pilotes a montré que cet échange était bénéfique pour embarquer les parties prenantes, notamment pour les personnes n’ayant aucune ou peu de notions sur le sujet du numérique responsable</a:t>
            </a:r>
          </a:p>
          <a:p>
            <a:pPr algn="ctr"/>
            <a:endParaRPr lang="fr-FR" b="1" dirty="0">
              <a:latin typeface="Marianne" panose="020B0604020202020204"/>
            </a:endParaRPr>
          </a:p>
        </p:txBody>
      </p:sp>
      <p:sp>
        <p:nvSpPr>
          <p:cNvPr id="37" name="object 14">
            <a:extLst>
              <a:ext uri="{FF2B5EF4-FFF2-40B4-BE49-F238E27FC236}">
                <a16:creationId xmlns:a16="http://schemas.microsoft.com/office/drawing/2014/main" id="{98767E6D-E4C5-4297-8AD6-E844E978527F}"/>
              </a:ext>
            </a:extLst>
          </p:cNvPr>
          <p:cNvSpPr txBox="1">
            <a:spLocks/>
          </p:cNvSpPr>
          <p:nvPr/>
        </p:nvSpPr>
        <p:spPr>
          <a:xfrm>
            <a:off x="1698166" y="7473783"/>
            <a:ext cx="12873212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2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Cette page est à supprimer une fois la préparation de la présentation terminée</a:t>
            </a:r>
          </a:p>
        </p:txBody>
      </p:sp>
      <p:pic>
        <p:nvPicPr>
          <p:cNvPr id="1028" name="Picture 4" descr="Attention ">
            <a:extLst>
              <a:ext uri="{FF2B5EF4-FFF2-40B4-BE49-F238E27FC236}">
                <a16:creationId xmlns:a16="http://schemas.microsoft.com/office/drawing/2014/main" id="{5630D6E6-EB35-4200-8D6F-90E6CEABC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387" y="7397706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Attention ">
            <a:extLst>
              <a:ext uri="{FF2B5EF4-FFF2-40B4-BE49-F238E27FC236}">
                <a16:creationId xmlns:a16="http://schemas.microsoft.com/office/drawing/2014/main" id="{717127CC-A97B-423D-BECF-B67902C9A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6604" y="7397706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199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2AB5F4D8-806F-4A29-950F-B03606E3AF76}"/>
              </a:ext>
            </a:extLst>
          </p:cNvPr>
          <p:cNvSpPr/>
          <p:nvPr/>
        </p:nvSpPr>
        <p:spPr>
          <a:xfrm>
            <a:off x="5280165" y="2795498"/>
            <a:ext cx="3447599" cy="4976056"/>
          </a:xfrm>
          <a:prstGeom prst="roundRect">
            <a:avLst/>
          </a:prstGeom>
          <a:solidFill>
            <a:srgbClr val="F8F8F8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4BC6823-9F08-488B-8E56-515481D87E6F}"/>
              </a:ext>
            </a:extLst>
          </p:cNvPr>
          <p:cNvSpPr/>
          <p:nvPr/>
        </p:nvSpPr>
        <p:spPr>
          <a:xfrm>
            <a:off x="1957562" y="2795498"/>
            <a:ext cx="3173268" cy="5208139"/>
          </a:xfrm>
          <a:prstGeom prst="roundRect">
            <a:avLst/>
          </a:prstGeom>
          <a:solidFill>
            <a:srgbClr val="F8F8F8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15951A0-9EA7-4620-A518-C405BBCD9DA4}"/>
              </a:ext>
            </a:extLst>
          </p:cNvPr>
          <p:cNvCxnSpPr>
            <a:cxnSpLocks/>
          </p:cNvCxnSpPr>
          <p:nvPr/>
        </p:nvCxnSpPr>
        <p:spPr>
          <a:xfrm>
            <a:off x="1975488" y="2538651"/>
            <a:ext cx="6745828" cy="0"/>
          </a:xfrm>
          <a:prstGeom prst="lin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CA4992C-D8E7-40F8-9E02-F1D1DC6284C1}"/>
              </a:ext>
            </a:extLst>
          </p:cNvPr>
          <p:cNvSpPr/>
          <p:nvPr/>
        </p:nvSpPr>
        <p:spPr>
          <a:xfrm>
            <a:off x="3254842" y="2298695"/>
            <a:ext cx="41871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Impact environnemental du numérique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D580911-4FD0-4C0C-887F-E90263699DF4}"/>
              </a:ext>
            </a:extLst>
          </p:cNvPr>
          <p:cNvSpPr/>
          <p:nvPr/>
        </p:nvSpPr>
        <p:spPr>
          <a:xfrm>
            <a:off x="9093274" y="2282293"/>
            <a:ext cx="5943526" cy="5489268"/>
          </a:xfrm>
          <a:prstGeom prst="roundRect">
            <a:avLst>
              <a:gd name="adj" fmla="val 7409"/>
            </a:avLst>
          </a:prstGeom>
          <a:solidFill>
            <a:schemeClr val="bg1">
              <a:lumMod val="75000"/>
              <a:alpha val="1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1EAD04A7-3EEA-4730-9861-5413ED11CED6}"/>
              </a:ext>
            </a:extLst>
          </p:cNvPr>
          <p:cNvGraphicFramePr>
            <a:graphicFrameLocks noGrp="1"/>
          </p:cNvGraphicFramePr>
          <p:nvPr/>
        </p:nvGraphicFramePr>
        <p:xfrm>
          <a:off x="9535607" y="3082107"/>
          <a:ext cx="5058860" cy="4637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Rectangle 45">
            <a:extLst>
              <a:ext uri="{FF2B5EF4-FFF2-40B4-BE49-F238E27FC236}">
                <a16:creationId xmlns:a16="http://schemas.microsoft.com/office/drawing/2014/main" id="{CEA46F82-8D64-4260-9699-E54C236BC225}"/>
              </a:ext>
            </a:extLst>
          </p:cNvPr>
          <p:cNvSpPr/>
          <p:nvPr/>
        </p:nvSpPr>
        <p:spPr>
          <a:xfrm>
            <a:off x="9317486" y="2355940"/>
            <a:ext cx="5495102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Évolution de la consommation d'énergie informatique en proportion de la consommation d'énergie mondiale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Source: The Shift Project, 2018</a:t>
            </a:r>
          </a:p>
        </p:txBody>
      </p:sp>
      <p:sp>
        <p:nvSpPr>
          <p:cNvPr id="49" name="Text Placeholder 1">
            <a:extLst>
              <a:ext uri="{FF2B5EF4-FFF2-40B4-BE49-F238E27FC236}">
                <a16:creationId xmlns:a16="http://schemas.microsoft.com/office/drawing/2014/main" id="{BE3AA4A6-D506-4D42-9F6E-C85FF257A3EB}"/>
              </a:ext>
            </a:extLst>
          </p:cNvPr>
          <p:cNvSpPr txBox="1">
            <a:spLocks/>
          </p:cNvSpPr>
          <p:nvPr/>
        </p:nvSpPr>
        <p:spPr>
          <a:xfrm>
            <a:off x="2982000" y="8718644"/>
            <a:ext cx="10414024" cy="25970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0BDC0577-DEC5-48DE-9790-F5E1EAA3A91A}"/>
              </a:ext>
            </a:extLst>
          </p:cNvPr>
          <p:cNvSpPr txBox="1">
            <a:spLocks/>
          </p:cNvSpPr>
          <p:nvPr/>
        </p:nvSpPr>
        <p:spPr>
          <a:xfrm>
            <a:off x="2982000" y="8716004"/>
            <a:ext cx="10414024" cy="31737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3000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cs typeface="Arial" panose="020B0604020202020204" pitchFamily="34" charset="0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Arial" panose="020B0604020202020204" pitchFamily="34" charset="0"/>
              </a:rPr>
              <a:t>Sources : </a:t>
            </a:r>
            <a:r>
              <a:rPr kumimoji="0" lang="en-GB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Arial" panose="020B0604020202020204" pitchFamily="34" charset="0"/>
              </a:rPr>
              <a:t>(1) The Shift Project, Fiche de </a:t>
            </a:r>
            <a:r>
              <a:rPr kumimoji="0" lang="en-GB" sz="1400" b="0" i="0" u="none" strike="noStrike" kern="0" cap="none" spc="0" normalizeH="0" baseline="3000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Arial" panose="020B0604020202020204" pitchFamily="34" charset="0"/>
              </a:rPr>
              <a:t>synthèse</a:t>
            </a:r>
            <a:r>
              <a:rPr kumimoji="0" lang="en-GB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Arial" panose="020B0604020202020204" pitchFamily="34" charset="0"/>
              </a:rPr>
              <a:t> usages </a:t>
            </a:r>
            <a:r>
              <a:rPr kumimoji="0" lang="en-GB" sz="1400" b="0" i="0" u="none" strike="noStrike" kern="0" cap="none" spc="0" normalizeH="0" baseline="3000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Arial" panose="020B0604020202020204" pitchFamily="34" charset="0"/>
              </a:rPr>
              <a:t>numériques</a:t>
            </a:r>
            <a:r>
              <a:rPr kumimoji="0" lang="en-GB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Arial" panose="020B0604020202020204" pitchFamily="34" charset="0"/>
              </a:rPr>
              <a:t> (2) The Shift Project, “Lean ICT–Towards Digital Sobriety”, (3) United Nations institute for Training and Research, “GLOBAL E-WASTE SURGING: UP 21 PERCENT IN 5 YEARS,” July 2, 2020 (4) Capgemini Research Institute, Sustainable IT survey, December 2020 – January 2021, N=1,000 organizations; (5) The Shift Project, 2018</a:t>
            </a:r>
          </a:p>
        </p:txBody>
      </p:sp>
      <p:sp>
        <p:nvSpPr>
          <p:cNvPr id="75" name="CPTKZZ0706">
            <a:extLst>
              <a:ext uri="{FF2B5EF4-FFF2-40B4-BE49-F238E27FC236}">
                <a16:creationId xmlns:a16="http://schemas.microsoft.com/office/drawing/2014/main" id="{80041D51-C91C-4F37-B6F7-A77C52BB0784}"/>
              </a:ext>
            </a:extLst>
          </p:cNvPr>
          <p:cNvSpPr txBox="1"/>
          <p:nvPr/>
        </p:nvSpPr>
        <p:spPr>
          <a:xfrm>
            <a:off x="2021888" y="6893679"/>
            <a:ext cx="3044616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Consommation d’énergie entre 2010 et 2025 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x3</a:t>
            </a:r>
            <a:r>
              <a:rPr kumimoji="0" lang="fr-FR" sz="1800" b="0" i="0" u="none" strike="noStrike" kern="1200" cap="none" spc="0" normalizeH="0" baseline="30000" noProof="0" dirty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4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 </a:t>
            </a:r>
          </a:p>
        </p:txBody>
      </p:sp>
      <p:sp>
        <p:nvSpPr>
          <p:cNvPr id="76" name="CPTKZZ0706">
            <a:extLst>
              <a:ext uri="{FF2B5EF4-FFF2-40B4-BE49-F238E27FC236}">
                <a16:creationId xmlns:a16="http://schemas.microsoft.com/office/drawing/2014/main" id="{FBA32D58-16EA-439C-A1B6-49C427FCDB59}"/>
              </a:ext>
            </a:extLst>
          </p:cNvPr>
          <p:cNvSpPr txBox="1"/>
          <p:nvPr/>
        </p:nvSpPr>
        <p:spPr>
          <a:xfrm>
            <a:off x="5481656" y="6893679"/>
            <a:ext cx="3044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Part du numérique dans les émissions carbone d’ici 2025 :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x2</a:t>
            </a:r>
            <a:r>
              <a:rPr kumimoji="0" lang="fr-FR" sz="1800" b="0" i="0" u="none" strike="noStrike" kern="1200" cap="none" spc="0" normalizeH="0" baseline="30000" noProof="0" dirty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5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 </a:t>
            </a:r>
          </a:p>
        </p:txBody>
      </p:sp>
      <p:sp>
        <p:nvSpPr>
          <p:cNvPr id="80" name="CPTKZZ0706">
            <a:extLst>
              <a:ext uri="{FF2B5EF4-FFF2-40B4-BE49-F238E27FC236}">
                <a16:creationId xmlns:a16="http://schemas.microsoft.com/office/drawing/2014/main" id="{17E974D8-B92E-4AFB-9B0E-F893CECB83C6}"/>
              </a:ext>
            </a:extLst>
          </p:cNvPr>
          <p:cNvSpPr txBox="1"/>
          <p:nvPr/>
        </p:nvSpPr>
        <p:spPr>
          <a:xfrm>
            <a:off x="5314041" y="4231436"/>
            <a:ext cx="3379846" cy="1992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Part dans le total des émissions mondiales de GES en 2020 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3,8%</a:t>
            </a:r>
            <a:r>
              <a:rPr kumimoji="0" lang="fr-FR" sz="1800" b="0" i="0" u="none" strike="noStrike" kern="120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2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Environ 11 MtCO2eq d'émissions de gaz à effet de serre et 53,6 millions de tonnes de déchets électroniques³ générées par an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82" name="CPTKZZ0706">
            <a:extLst>
              <a:ext uri="{FF2B5EF4-FFF2-40B4-BE49-F238E27FC236}">
                <a16:creationId xmlns:a16="http://schemas.microsoft.com/office/drawing/2014/main" id="{1FF24AA6-EF75-4C26-A2C9-9AACC25B2382}"/>
              </a:ext>
            </a:extLst>
          </p:cNvPr>
          <p:cNvSpPr txBox="1"/>
          <p:nvPr/>
        </p:nvSpPr>
        <p:spPr>
          <a:xfrm>
            <a:off x="1963302" y="4231436"/>
            <a:ext cx="3161789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Part dans la consommation mondiale d'énergie en 2020 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3,2%</a:t>
            </a:r>
            <a:r>
              <a:rPr kumimoji="0" lang="fr-FR" sz="1800" b="0" i="0" u="none" strike="noStrike" kern="120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1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Le pays avec la 3ème consommation d’énergie la plus élevée (en comparaison avec la consommation des autres pays)</a:t>
            </a:r>
          </a:p>
        </p:txBody>
      </p:sp>
      <p:pic>
        <p:nvPicPr>
          <p:cNvPr id="90" name="Picture 89" descr="Icon&#10;&#10;Description automatically generated with medium confidence">
            <a:extLst>
              <a:ext uri="{FF2B5EF4-FFF2-40B4-BE49-F238E27FC236}">
                <a16:creationId xmlns:a16="http://schemas.microsoft.com/office/drawing/2014/main" id="{860F678B-1025-47DC-80CD-37E2F3156A4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852" y="3506665"/>
            <a:ext cx="630688" cy="579828"/>
          </a:xfrm>
          <a:prstGeom prst="rect">
            <a:avLst/>
          </a:prstGeom>
        </p:spPr>
      </p:pic>
      <p:pic>
        <p:nvPicPr>
          <p:cNvPr id="8196" name="Picture 4" descr="Atmospheric pollution free icon">
            <a:extLst>
              <a:ext uri="{FF2B5EF4-FFF2-40B4-BE49-F238E27FC236}">
                <a16:creationId xmlns:a16="http://schemas.microsoft.com/office/drawing/2014/main" id="{A46C27A9-848A-4F1F-BA99-F964691AD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911" y="3460526"/>
            <a:ext cx="672106" cy="67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CPTKZZ0706">
            <a:extLst>
              <a:ext uri="{FF2B5EF4-FFF2-40B4-BE49-F238E27FC236}">
                <a16:creationId xmlns:a16="http://schemas.microsoft.com/office/drawing/2014/main" id="{623393E2-7D27-4E7D-99D8-E7C8FF07847C}"/>
              </a:ext>
            </a:extLst>
          </p:cNvPr>
          <p:cNvSpPr txBox="1"/>
          <p:nvPr/>
        </p:nvSpPr>
        <p:spPr>
          <a:xfrm>
            <a:off x="1963302" y="3011059"/>
            <a:ext cx="3161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Consommation d’énergie</a:t>
            </a:r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48" name="CPTKZZ0706">
            <a:extLst>
              <a:ext uri="{FF2B5EF4-FFF2-40B4-BE49-F238E27FC236}">
                <a16:creationId xmlns:a16="http://schemas.microsoft.com/office/drawing/2014/main" id="{A2D1ED37-F65F-4D2F-B54F-DEB0B8750490}"/>
              </a:ext>
            </a:extLst>
          </p:cNvPr>
          <p:cNvSpPr txBox="1"/>
          <p:nvPr/>
        </p:nvSpPr>
        <p:spPr>
          <a:xfrm>
            <a:off x="5423070" y="3011059"/>
            <a:ext cx="3161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Emissions de GES</a:t>
            </a:r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9BAA747-E1C1-4C07-97D5-70D986A96462}"/>
              </a:ext>
            </a:extLst>
          </p:cNvPr>
          <p:cNvSpPr/>
          <p:nvPr/>
        </p:nvSpPr>
        <p:spPr>
          <a:xfrm rot="10800000">
            <a:off x="3149734" y="6513407"/>
            <a:ext cx="788924" cy="215556"/>
          </a:xfrm>
          <a:prstGeom prst="triangle">
            <a:avLst/>
          </a:prstGeom>
          <a:solidFill>
            <a:srgbClr val="6277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0F33433-283F-4B40-9604-A20FB188B3AF}"/>
              </a:ext>
            </a:extLst>
          </p:cNvPr>
          <p:cNvSpPr/>
          <p:nvPr/>
        </p:nvSpPr>
        <p:spPr>
          <a:xfrm rot="10800000">
            <a:off x="6609502" y="6489296"/>
            <a:ext cx="788924" cy="215556"/>
          </a:xfrm>
          <a:prstGeom prst="triangle">
            <a:avLst/>
          </a:prstGeom>
          <a:solidFill>
            <a:srgbClr val="6277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CPTKZZ0706">
            <a:extLst>
              <a:ext uri="{FF2B5EF4-FFF2-40B4-BE49-F238E27FC236}">
                <a16:creationId xmlns:a16="http://schemas.microsoft.com/office/drawing/2014/main" id="{D2102E7A-E3ED-4457-B481-4B3B760E0AC0}"/>
              </a:ext>
            </a:extLst>
          </p:cNvPr>
          <p:cNvSpPr txBox="1"/>
          <p:nvPr/>
        </p:nvSpPr>
        <p:spPr>
          <a:xfrm>
            <a:off x="839520" y="6705343"/>
            <a:ext cx="120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A h</a:t>
            </a:r>
            <a:r>
              <a:rPr kumimoji="0" lang="fr-FR" sz="1800" b="1" i="0" u="none" strike="noStrike" kern="1200" cap="none" spc="0" normalizeH="0" baseline="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orizon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 2025</a:t>
            </a:r>
          </a:p>
        </p:txBody>
      </p:sp>
      <p:sp>
        <p:nvSpPr>
          <p:cNvPr id="52" name="CPTKZZ0706">
            <a:extLst>
              <a:ext uri="{FF2B5EF4-FFF2-40B4-BE49-F238E27FC236}">
                <a16:creationId xmlns:a16="http://schemas.microsoft.com/office/drawing/2014/main" id="{09947127-ABC1-4F2E-A66E-C35A9A4107FD}"/>
              </a:ext>
            </a:extLst>
          </p:cNvPr>
          <p:cNvSpPr txBox="1"/>
          <p:nvPr/>
        </p:nvSpPr>
        <p:spPr>
          <a:xfrm>
            <a:off x="839520" y="4721334"/>
            <a:ext cx="120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Impact actuel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BA386-FEC9-4AF2-8C40-AC1EFB580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6" y="700381"/>
            <a:ext cx="14254967" cy="1231106"/>
          </a:xfrm>
        </p:spPr>
        <p:txBody>
          <a:bodyPr/>
          <a:lstStyle/>
          <a:p>
            <a:r>
              <a:rPr lang="fr-FR" sz="4000" dirty="0"/>
              <a:t>L’impact environnemental de l’IT est déjà </a:t>
            </a:r>
            <a:br>
              <a:rPr lang="fr-FR" sz="4000" dirty="0"/>
            </a:br>
            <a:r>
              <a:rPr lang="fr-FR" sz="4000" dirty="0"/>
              <a:t>important et devrait augmenter drastiquement</a:t>
            </a:r>
          </a:p>
        </p:txBody>
      </p:sp>
    </p:spTree>
    <p:extLst>
      <p:ext uri="{BB962C8B-B14F-4D97-AF65-F5344CB8AC3E}">
        <p14:creationId xmlns:p14="http://schemas.microsoft.com/office/powerpoint/2010/main" val="1597619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85006E7-7FCE-4E67-8D19-B3F0C29B4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889" y="4453587"/>
            <a:ext cx="1032392" cy="741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227201-F457-4311-955C-621D20CEC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555" y="4448846"/>
            <a:ext cx="1035887" cy="741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C05ECF-69A8-4A09-B900-1C9765A27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86" y="4449738"/>
            <a:ext cx="1025207" cy="482027"/>
          </a:xfrm>
          <a:prstGeom prst="rect">
            <a:avLst/>
          </a:prstGeom>
        </p:spPr>
      </p:pic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798D45DC-3C75-4938-AA75-377E815F97A9}"/>
              </a:ext>
            </a:extLst>
          </p:cNvPr>
          <p:cNvSpPr/>
          <p:nvPr/>
        </p:nvSpPr>
        <p:spPr>
          <a:xfrm>
            <a:off x="1412771" y="1823272"/>
            <a:ext cx="12576659" cy="720080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L’impact de l’IT est déjà conséquent et ne se trouve pas uniquement dans les usages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19E5DAD-CB40-4DC3-8902-E4F6A4D8AD8D}"/>
              </a:ext>
            </a:extLst>
          </p:cNvPr>
          <p:cNvSpPr/>
          <p:nvPr/>
        </p:nvSpPr>
        <p:spPr>
          <a:xfrm>
            <a:off x="3312531" y="3704424"/>
            <a:ext cx="6338005" cy="1679035"/>
          </a:xfrm>
          <a:prstGeom prst="rect">
            <a:avLst/>
          </a:prstGeom>
          <a:noFill/>
          <a:ln w="12700" cap="flat" cmpd="sng" algn="ctr">
            <a:solidFill>
              <a:srgbClr val="00B2A2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D7616-4FE9-464F-B560-5FB5238D9D96}"/>
              </a:ext>
            </a:extLst>
          </p:cNvPr>
          <p:cNvSpPr/>
          <p:nvPr/>
        </p:nvSpPr>
        <p:spPr>
          <a:xfrm>
            <a:off x="3412750" y="4115417"/>
            <a:ext cx="5986475" cy="317776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6AB88EE-5B1E-4CE4-9B0E-0C10ADC3322D}"/>
              </a:ext>
            </a:extLst>
          </p:cNvPr>
          <p:cNvSpPr/>
          <p:nvPr/>
        </p:nvSpPr>
        <p:spPr>
          <a:xfrm>
            <a:off x="3422636" y="4148533"/>
            <a:ext cx="113306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Applications</a:t>
            </a:r>
          </a:p>
        </p:txBody>
      </p:sp>
      <p:sp>
        <p:nvSpPr>
          <p:cNvPr id="61" name="Arrow: Pentagon 60">
            <a:extLst>
              <a:ext uri="{FF2B5EF4-FFF2-40B4-BE49-F238E27FC236}">
                <a16:creationId xmlns:a16="http://schemas.microsoft.com/office/drawing/2014/main" id="{0720AE53-06DE-42C0-A878-71CFACC5283D}"/>
              </a:ext>
            </a:extLst>
          </p:cNvPr>
          <p:cNvSpPr/>
          <p:nvPr/>
        </p:nvSpPr>
        <p:spPr>
          <a:xfrm>
            <a:off x="4625903" y="5721520"/>
            <a:ext cx="1332000" cy="516527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Production</a:t>
            </a: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7EE91DB3-F863-40B8-A4D1-AD9CF9212253}"/>
              </a:ext>
            </a:extLst>
          </p:cNvPr>
          <p:cNvSpPr/>
          <p:nvPr/>
        </p:nvSpPr>
        <p:spPr>
          <a:xfrm>
            <a:off x="5737601" y="5721520"/>
            <a:ext cx="1332000" cy="516527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Distribution</a:t>
            </a:r>
          </a:p>
        </p:txBody>
      </p:sp>
      <p:sp>
        <p:nvSpPr>
          <p:cNvPr id="63" name="Arrow: Chevron 62">
            <a:extLst>
              <a:ext uri="{FF2B5EF4-FFF2-40B4-BE49-F238E27FC236}">
                <a16:creationId xmlns:a16="http://schemas.microsoft.com/office/drawing/2014/main" id="{9131FF5D-DEE8-414A-82C7-4CCE5490DC3A}"/>
              </a:ext>
            </a:extLst>
          </p:cNvPr>
          <p:cNvSpPr/>
          <p:nvPr/>
        </p:nvSpPr>
        <p:spPr>
          <a:xfrm>
            <a:off x="6862352" y="5721520"/>
            <a:ext cx="1332000" cy="516527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Utilisation</a:t>
            </a:r>
          </a:p>
        </p:txBody>
      </p:sp>
      <p:sp>
        <p:nvSpPr>
          <p:cNvPr id="64" name="Arrow: Chevron 63">
            <a:extLst>
              <a:ext uri="{FF2B5EF4-FFF2-40B4-BE49-F238E27FC236}">
                <a16:creationId xmlns:a16="http://schemas.microsoft.com/office/drawing/2014/main" id="{8B6B404F-24D1-4653-8783-2E0036CF0EA1}"/>
              </a:ext>
            </a:extLst>
          </p:cNvPr>
          <p:cNvSpPr/>
          <p:nvPr/>
        </p:nvSpPr>
        <p:spPr>
          <a:xfrm>
            <a:off x="7976953" y="5721520"/>
            <a:ext cx="1332000" cy="516527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Fin de vie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DDFE7F0-5D45-4126-9E0A-524DE332E3A1}"/>
              </a:ext>
            </a:extLst>
          </p:cNvPr>
          <p:cNvSpPr/>
          <p:nvPr/>
        </p:nvSpPr>
        <p:spPr>
          <a:xfrm>
            <a:off x="3312531" y="5857493"/>
            <a:ext cx="1306597" cy="363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Tout du long du cycle de vie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F1D3825-3667-4B80-A487-0D36811AA412}"/>
              </a:ext>
            </a:extLst>
          </p:cNvPr>
          <p:cNvSpPr/>
          <p:nvPr/>
        </p:nvSpPr>
        <p:spPr>
          <a:xfrm>
            <a:off x="3338828" y="4526336"/>
            <a:ext cx="1168689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Générés par toutes les couches IT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4E854FD-E3ED-41CF-A45D-FD2C7ACAF6AD}"/>
              </a:ext>
            </a:extLst>
          </p:cNvPr>
          <p:cNvSpPr/>
          <p:nvPr/>
        </p:nvSpPr>
        <p:spPr>
          <a:xfrm>
            <a:off x="4645049" y="2983757"/>
            <a:ext cx="1026899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Énergie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4CE6FDF-532E-416B-8890-B2107D8F1B1B}"/>
              </a:ext>
            </a:extLst>
          </p:cNvPr>
          <p:cNvSpPr/>
          <p:nvPr/>
        </p:nvSpPr>
        <p:spPr>
          <a:xfrm>
            <a:off x="5694402" y="2983757"/>
            <a:ext cx="1026899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Carbone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B0A58AB-5043-49D8-91E6-A13581712316}"/>
              </a:ext>
            </a:extLst>
          </p:cNvPr>
          <p:cNvSpPr/>
          <p:nvPr/>
        </p:nvSpPr>
        <p:spPr>
          <a:xfrm>
            <a:off x="6743755" y="2983757"/>
            <a:ext cx="1026899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Eau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56C1D71-B2B4-4D2F-87A6-9CD1FECCE6CB}"/>
              </a:ext>
            </a:extLst>
          </p:cNvPr>
          <p:cNvSpPr/>
          <p:nvPr/>
        </p:nvSpPr>
        <p:spPr>
          <a:xfrm>
            <a:off x="7793109" y="2983757"/>
            <a:ext cx="1678127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Ressources abiotiques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1BC494C-7589-4A15-A0B9-3FE76C81D17F}"/>
              </a:ext>
            </a:extLst>
          </p:cNvPr>
          <p:cNvSpPr/>
          <p:nvPr/>
        </p:nvSpPr>
        <p:spPr>
          <a:xfrm>
            <a:off x="3313832" y="3029923"/>
            <a:ext cx="1367380" cy="363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Différents impact environnementaux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96CBBCE-2502-4CD1-8860-DE999167BE26}"/>
              </a:ext>
            </a:extLst>
          </p:cNvPr>
          <p:cNvSpPr/>
          <p:nvPr/>
        </p:nvSpPr>
        <p:spPr>
          <a:xfrm>
            <a:off x="3312531" y="2817219"/>
            <a:ext cx="6338005" cy="695089"/>
          </a:xfrm>
          <a:prstGeom prst="rect">
            <a:avLst/>
          </a:prstGeom>
          <a:noFill/>
          <a:ln w="12700" cap="flat" cmpd="sng" algn="ctr">
            <a:solidFill>
              <a:srgbClr val="00B2A2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79BE485-858E-41E9-B28A-BCDBE21455EA}"/>
              </a:ext>
            </a:extLst>
          </p:cNvPr>
          <p:cNvSpPr/>
          <p:nvPr/>
        </p:nvSpPr>
        <p:spPr>
          <a:xfrm>
            <a:off x="3312531" y="5636923"/>
            <a:ext cx="6338005" cy="782105"/>
          </a:xfrm>
          <a:prstGeom prst="rect">
            <a:avLst/>
          </a:prstGeom>
          <a:noFill/>
          <a:ln w="12700" cap="flat" cmpd="sng" algn="ctr">
            <a:solidFill>
              <a:srgbClr val="00B2A2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2951F44-4D76-4B67-BAA2-FB0C2A562740}"/>
              </a:ext>
            </a:extLst>
          </p:cNvPr>
          <p:cNvSpPr/>
          <p:nvPr/>
        </p:nvSpPr>
        <p:spPr>
          <a:xfrm>
            <a:off x="6190392" y="3899704"/>
            <a:ext cx="1515051" cy="1379688"/>
          </a:xfrm>
          <a:prstGeom prst="rect">
            <a:avLst/>
          </a:prstGeom>
          <a:solidFill>
            <a:srgbClr val="9DD1D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D0155B5-492A-4126-AA1B-45D9DDB393E5}"/>
              </a:ext>
            </a:extLst>
          </p:cNvPr>
          <p:cNvSpPr/>
          <p:nvPr/>
        </p:nvSpPr>
        <p:spPr>
          <a:xfrm>
            <a:off x="7756165" y="3899704"/>
            <a:ext cx="1515051" cy="13796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ED2F5A8-F11A-4B2F-9159-348F54CBAE01}"/>
              </a:ext>
            </a:extLst>
          </p:cNvPr>
          <p:cNvSpPr/>
          <p:nvPr/>
        </p:nvSpPr>
        <p:spPr>
          <a:xfrm>
            <a:off x="4625178" y="3899704"/>
            <a:ext cx="1515051" cy="13816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2A82C7-4E5A-4BCE-A82A-B6FE4D99F2F4}"/>
              </a:ext>
            </a:extLst>
          </p:cNvPr>
          <p:cNvSpPr/>
          <p:nvPr/>
        </p:nvSpPr>
        <p:spPr>
          <a:xfrm>
            <a:off x="6289848" y="4134012"/>
            <a:ext cx="140204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Calcul &amp; stockage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33264F7-D433-4860-ADC5-A3A7780898D7}"/>
              </a:ext>
            </a:extLst>
          </p:cNvPr>
          <p:cNvSpPr/>
          <p:nvPr/>
        </p:nvSpPr>
        <p:spPr>
          <a:xfrm>
            <a:off x="7793421" y="4057009"/>
            <a:ext cx="14405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Réseaux</a:t>
            </a:r>
            <a:b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</a:b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&amp; communication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E354A21-4ED1-4C68-B8A6-5C525999FF45}"/>
              </a:ext>
            </a:extLst>
          </p:cNvPr>
          <p:cNvSpPr/>
          <p:nvPr/>
        </p:nvSpPr>
        <p:spPr>
          <a:xfrm>
            <a:off x="4625819" y="4057009"/>
            <a:ext cx="151376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Équipement des utilisateurs &amp; bureaux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5E02BEF-DDF4-4EE2-B011-E753F9609F44}"/>
              </a:ext>
            </a:extLst>
          </p:cNvPr>
          <p:cNvSpPr/>
          <p:nvPr/>
        </p:nvSpPr>
        <p:spPr>
          <a:xfrm>
            <a:off x="5112703" y="3544078"/>
            <a:ext cx="540000" cy="517629"/>
          </a:xfrm>
          <a:prstGeom prst="ellipse">
            <a:avLst/>
          </a:prstGeom>
          <a:solidFill>
            <a:srgbClr val="126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60%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0605896-96DC-4F06-B2E0-EB2E8D9F6D5A}"/>
              </a:ext>
            </a:extLst>
          </p:cNvPr>
          <p:cNvSpPr/>
          <p:nvPr/>
        </p:nvSpPr>
        <p:spPr>
          <a:xfrm>
            <a:off x="8243690" y="3544078"/>
            <a:ext cx="540000" cy="51762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23%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7354440-61E7-4A7D-8EF4-4ABC4C6FFE84}"/>
              </a:ext>
            </a:extLst>
          </p:cNvPr>
          <p:cNvSpPr/>
          <p:nvPr/>
        </p:nvSpPr>
        <p:spPr>
          <a:xfrm>
            <a:off x="6677917" y="3544078"/>
            <a:ext cx="540000" cy="51762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17%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316BB0E-FA16-4F82-A616-29670CD76D13}"/>
              </a:ext>
            </a:extLst>
          </p:cNvPr>
          <p:cNvSpPr/>
          <p:nvPr/>
        </p:nvSpPr>
        <p:spPr>
          <a:xfrm>
            <a:off x="4652438" y="6067681"/>
            <a:ext cx="303230" cy="265536"/>
          </a:xfrm>
          <a:prstGeom prst="ellipse">
            <a:avLst/>
          </a:prstGeom>
          <a:solidFill>
            <a:srgbClr val="126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30%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3089926-CB42-4F3D-9537-018A90CC7BEF}"/>
              </a:ext>
            </a:extLst>
          </p:cNvPr>
          <p:cNvSpPr/>
          <p:nvPr/>
        </p:nvSpPr>
        <p:spPr>
          <a:xfrm>
            <a:off x="6880495" y="6056607"/>
            <a:ext cx="303230" cy="265536"/>
          </a:xfrm>
          <a:prstGeom prst="ellipse">
            <a:avLst/>
          </a:prstGeom>
          <a:solidFill>
            <a:srgbClr val="126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30%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68500D1-6CCF-4DF7-859D-F0F25428C8EB}"/>
              </a:ext>
            </a:extLst>
          </p:cNvPr>
          <p:cNvSpPr/>
          <p:nvPr/>
        </p:nvSpPr>
        <p:spPr>
          <a:xfrm>
            <a:off x="5043402" y="6067681"/>
            <a:ext cx="303230" cy="26553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2%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D9BDE96-B45C-4062-8552-C2ACE154E7D1}"/>
              </a:ext>
            </a:extLst>
          </p:cNvPr>
          <p:cNvSpPr/>
          <p:nvPr/>
        </p:nvSpPr>
        <p:spPr>
          <a:xfrm>
            <a:off x="7282596" y="6056607"/>
            <a:ext cx="303230" cy="26553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15%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5B0EA1AC-E950-4A42-9622-FAF45B72730D}"/>
              </a:ext>
            </a:extLst>
          </p:cNvPr>
          <p:cNvSpPr/>
          <p:nvPr/>
        </p:nvSpPr>
        <p:spPr>
          <a:xfrm>
            <a:off x="5434366" y="6067681"/>
            <a:ext cx="303230" cy="265536"/>
          </a:xfrm>
          <a:prstGeom prst="ellipse">
            <a:avLst/>
          </a:prstGeom>
          <a:solidFill>
            <a:srgbClr val="00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3%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E0B1EF5-CC4D-4C9F-8BB1-3E04B2022105}"/>
              </a:ext>
            </a:extLst>
          </p:cNvPr>
          <p:cNvSpPr/>
          <p:nvPr/>
        </p:nvSpPr>
        <p:spPr>
          <a:xfrm>
            <a:off x="7658158" y="6056607"/>
            <a:ext cx="303230" cy="265536"/>
          </a:xfrm>
          <a:prstGeom prst="ellipse">
            <a:avLst/>
          </a:prstGeom>
          <a:solidFill>
            <a:srgbClr val="00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20%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827FEDC-2DE5-4B07-AE88-BB36B0AAF7CE}"/>
              </a:ext>
            </a:extLst>
          </p:cNvPr>
          <p:cNvSpPr/>
          <p:nvPr/>
        </p:nvSpPr>
        <p:spPr>
          <a:xfrm>
            <a:off x="4619128" y="6844100"/>
            <a:ext cx="1176486" cy="4296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Accessibilité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C16930-91C5-4E19-873F-85B88F8883D4}"/>
              </a:ext>
            </a:extLst>
          </p:cNvPr>
          <p:cNvSpPr/>
          <p:nvPr/>
        </p:nvSpPr>
        <p:spPr>
          <a:xfrm>
            <a:off x="5844335" y="6844100"/>
            <a:ext cx="1176486" cy="4296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Inclusion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5263CFD-96AA-4292-8D04-6797675C94D0}"/>
              </a:ext>
            </a:extLst>
          </p:cNvPr>
          <p:cNvSpPr/>
          <p:nvPr/>
        </p:nvSpPr>
        <p:spPr>
          <a:xfrm>
            <a:off x="7069542" y="6844100"/>
            <a:ext cx="1176486" cy="4296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Diversité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FEB8746-172D-4D5C-9FE7-1688CA338F66}"/>
              </a:ext>
            </a:extLst>
          </p:cNvPr>
          <p:cNvSpPr/>
          <p:nvPr/>
        </p:nvSpPr>
        <p:spPr>
          <a:xfrm>
            <a:off x="8294750" y="6844100"/>
            <a:ext cx="1176486" cy="4296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Éthique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0BD030A-F010-46D2-AA3A-95DA7D6DA694}"/>
              </a:ext>
            </a:extLst>
          </p:cNvPr>
          <p:cNvSpPr/>
          <p:nvPr/>
        </p:nvSpPr>
        <p:spPr>
          <a:xfrm>
            <a:off x="3347818" y="6822945"/>
            <a:ext cx="1333394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Autres considérations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A0A986A-BC19-4F84-8A31-1C6C953F522F}"/>
              </a:ext>
            </a:extLst>
          </p:cNvPr>
          <p:cNvSpPr/>
          <p:nvPr/>
        </p:nvSpPr>
        <p:spPr>
          <a:xfrm>
            <a:off x="3312531" y="6659739"/>
            <a:ext cx="6338005" cy="782105"/>
          </a:xfrm>
          <a:prstGeom prst="rect">
            <a:avLst/>
          </a:prstGeom>
          <a:noFill/>
          <a:ln w="12700" cap="flat" cmpd="sng" algn="ctr">
            <a:solidFill>
              <a:srgbClr val="00B2A2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" panose="020B060402020202020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AC85D2-1B11-4DF5-B3F8-3F4E4FB340D3}"/>
              </a:ext>
            </a:extLst>
          </p:cNvPr>
          <p:cNvSpPr/>
          <p:nvPr/>
        </p:nvSpPr>
        <p:spPr>
          <a:xfrm>
            <a:off x="2537916" y="2603241"/>
            <a:ext cx="7493183" cy="5174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A14E5C-7B6D-4F96-8800-E63DB33022A7}"/>
              </a:ext>
            </a:extLst>
          </p:cNvPr>
          <p:cNvSpPr/>
          <p:nvPr/>
        </p:nvSpPr>
        <p:spPr>
          <a:xfrm>
            <a:off x="11883539" y="4123851"/>
            <a:ext cx="2683305" cy="16561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+mn-cs"/>
              </a:rPr>
              <a:t>Répartition estimative de l’impact carbone d’une DSI type tous secteurs d’activité confondus (1)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27B9FDD8-DA04-4860-ADBE-BD039FB1308B}"/>
              </a:ext>
            </a:extLst>
          </p:cNvPr>
          <p:cNvSpPr/>
          <p:nvPr/>
        </p:nvSpPr>
        <p:spPr>
          <a:xfrm rot="5400000">
            <a:off x="11303552" y="4811576"/>
            <a:ext cx="812800" cy="280735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3DB45D-4DF4-4DD1-A93A-598BBC2BAE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2716" y="2705353"/>
            <a:ext cx="8013789" cy="58526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6D33B6-E40C-4676-AECE-D86391B74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1846659"/>
          </a:xfrm>
        </p:spPr>
        <p:txBody>
          <a:bodyPr/>
          <a:lstStyle/>
          <a:p>
            <a:r>
              <a:rPr lang="fr-FR" sz="4000"/>
              <a:t>La DSI au cœur des impacts </a:t>
            </a:r>
            <a:br>
              <a:rPr lang="fr-FR" sz="4000"/>
            </a:br>
            <a:r>
              <a:rPr lang="fr-FR" sz="4000"/>
              <a:t>environnementaux du numérique</a:t>
            </a:r>
            <a:br>
              <a:rPr lang="fr-FR" sz="4000"/>
            </a:br>
            <a:endParaRPr lang="en-GB" sz="4000"/>
          </a:p>
        </p:txBody>
      </p:sp>
      <p:sp>
        <p:nvSpPr>
          <p:cNvPr id="53" name="Text Placeholder 1">
            <a:extLst>
              <a:ext uri="{FF2B5EF4-FFF2-40B4-BE49-F238E27FC236}">
                <a16:creationId xmlns:a16="http://schemas.microsoft.com/office/drawing/2014/main" id="{3A95E1E4-0D92-4409-B820-D2F2F6D60455}"/>
              </a:ext>
            </a:extLst>
          </p:cNvPr>
          <p:cNvSpPr txBox="1">
            <a:spLocks/>
          </p:cNvSpPr>
          <p:nvPr/>
        </p:nvSpPr>
        <p:spPr>
          <a:xfrm>
            <a:off x="2982000" y="8716004"/>
            <a:ext cx="10414024" cy="31737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3000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cs typeface="Arial" panose="020B0604020202020204" pitchFamily="34" charset="0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Arial" panose="020B0604020202020204" pitchFamily="34" charset="0"/>
              </a:rPr>
              <a:t>Sources : </a:t>
            </a:r>
            <a:r>
              <a:rPr kumimoji="0" lang="en-GB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 charset="0"/>
                <a:ea typeface="+mn-ea"/>
                <a:cs typeface="Arial" panose="020B0604020202020204" pitchFamily="34" charset="0"/>
              </a:rPr>
              <a:t>(1) Capgemini</a:t>
            </a:r>
          </a:p>
        </p:txBody>
      </p:sp>
    </p:spTree>
    <p:extLst>
      <p:ext uri="{BB962C8B-B14F-4D97-AF65-F5344CB8AC3E}">
        <p14:creationId xmlns:p14="http://schemas.microsoft.com/office/powerpoint/2010/main" val="3476415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8FEFC86-4438-43EC-9852-569218886150}"/>
              </a:ext>
            </a:extLst>
          </p:cNvPr>
          <p:cNvGrpSpPr/>
          <p:nvPr/>
        </p:nvGrpSpPr>
        <p:grpSpPr>
          <a:xfrm>
            <a:off x="1477108" y="4419170"/>
            <a:ext cx="6304823" cy="1150618"/>
            <a:chOff x="191746" y="1271583"/>
            <a:chExt cx="3964213" cy="900599"/>
          </a:xfrm>
        </p:grpSpPr>
        <p:sp>
          <p:nvSpPr>
            <p:cNvPr id="22" name="TextBox 106">
              <a:extLst>
                <a:ext uri="{FF2B5EF4-FFF2-40B4-BE49-F238E27FC236}">
                  <a16:creationId xmlns:a16="http://schemas.microsoft.com/office/drawing/2014/main" id="{C333CEF8-6FBA-4EC3-B940-93F6B9B11865}"/>
                </a:ext>
              </a:extLst>
            </p:cNvPr>
            <p:cNvSpPr txBox="1"/>
            <p:nvPr/>
          </p:nvSpPr>
          <p:spPr>
            <a:xfrm>
              <a:off x="191746" y="1271583"/>
              <a:ext cx="3960000" cy="900599"/>
            </a:xfrm>
            <a:prstGeom prst="rect">
              <a:avLst/>
            </a:prstGeom>
            <a:noFill/>
            <a:ln w="3175" cmpd="sng">
              <a:solidFill>
                <a:srgbClr val="2C3176"/>
              </a:solidFill>
              <a:prstDash val="solid"/>
              <a:round/>
            </a:ln>
            <a:effectLst/>
          </p:spPr>
          <p:txBody>
            <a:bodyPr wrap="square" lIns="180000" rIns="180000" rtlCol="0" anchor="t">
              <a:noAutofit/>
            </a:bodyPr>
            <a:lstStyle>
              <a:defPPr>
                <a:defRPr lang="pt-PT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1" i="0" u="none" strike="noStrike" cap="small" spc="0" normalizeH="0" baseline="0">
                  <a:ln>
                    <a:noFill/>
                  </a:ln>
                  <a:solidFill>
                    <a:srgbClr val="0070AD"/>
                  </a:solidFill>
                  <a:effectLst/>
                  <a:uLnTx/>
                  <a:uFillTx/>
                  <a:latin typeface="Verdan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1200" cap="small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Maîtriser l’usage des postes de travail</a:t>
              </a:r>
              <a:endParaRPr kumimoji="0" lang="fr-FR" sz="2000" b="1" i="0" u="none" strike="noStrike" kern="1200" cap="small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Contrôler l'utilisation des appareils pour diminuer leur consommation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2C5E679-0CD8-45AE-AF59-EE9F00DE7934}"/>
                </a:ext>
              </a:extLst>
            </p:cNvPr>
            <p:cNvSpPr/>
            <p:nvPr/>
          </p:nvSpPr>
          <p:spPr>
            <a:xfrm>
              <a:off x="195958" y="1892742"/>
              <a:ext cx="3960001" cy="23030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14%</a:t>
              </a:r>
              <a:r>
                <a:rPr kumimoji="0" lang="fr-FR" sz="1400" b="0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 </a:t>
              </a:r>
              <a:r>
                <a:rPr kumimoji="0" lang="fr-FR" sz="1400" b="0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Verdana" panose="020B0604030504040204" pitchFamily="34" charset="0"/>
                  <a:cs typeface="+mn-cs"/>
                </a:rPr>
                <a:t>de réduction des coûts grâce aux fonctions d'arrêt automatique</a:t>
              </a:r>
              <a:r>
                <a:rPr kumimoji="0" lang="fr-FR" sz="1400" b="0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Verdana" panose="020B0604030504040204" pitchFamily="34" charset="0"/>
                  <a:cs typeface="Arial" panose="020B0604020202020204" pitchFamily="34" charset="0"/>
                </a:rPr>
                <a:t>¹</a:t>
              </a:r>
              <a:endPara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Verdana" panose="020B0604030504040204" pitchFamily="34" charset="0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A35A08E-0B26-497D-A34B-E35EF7D5286D}"/>
              </a:ext>
            </a:extLst>
          </p:cNvPr>
          <p:cNvGrpSpPr/>
          <p:nvPr/>
        </p:nvGrpSpPr>
        <p:grpSpPr>
          <a:xfrm>
            <a:off x="1477108" y="5751474"/>
            <a:ext cx="6304823" cy="1149853"/>
            <a:chOff x="250983" y="4497419"/>
            <a:chExt cx="3960001" cy="900000"/>
          </a:xfrm>
        </p:grpSpPr>
        <p:sp>
          <p:nvSpPr>
            <p:cNvPr id="38" name="TextBox 17">
              <a:extLst>
                <a:ext uri="{FF2B5EF4-FFF2-40B4-BE49-F238E27FC236}">
                  <a16:creationId xmlns:a16="http://schemas.microsoft.com/office/drawing/2014/main" id="{2096CA88-ED84-4B77-909B-B170B9AA1406}"/>
                </a:ext>
              </a:extLst>
            </p:cNvPr>
            <p:cNvSpPr txBox="1"/>
            <p:nvPr/>
          </p:nvSpPr>
          <p:spPr>
            <a:xfrm>
              <a:off x="250983" y="4497419"/>
              <a:ext cx="3960000" cy="900000"/>
            </a:xfrm>
            <a:prstGeom prst="rect">
              <a:avLst/>
            </a:prstGeom>
            <a:noFill/>
            <a:ln w="3175" cmpd="sng">
              <a:solidFill>
                <a:srgbClr val="2C3176"/>
              </a:solidFill>
              <a:prstDash val="solid"/>
              <a:round/>
            </a:ln>
            <a:effectLst/>
          </p:spPr>
          <p:txBody>
            <a:bodyPr wrap="square" lIns="180000" tIns="0" rIns="180000" bIns="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1200" cap="small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Optimiser le parc de matériels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Adapter la politique de réutilisation, de reconditionnement et de recyclage du matériel en fin de vie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83672AD-363B-4150-83E0-5633EB611A0F}"/>
                </a:ext>
              </a:extLst>
            </p:cNvPr>
            <p:cNvSpPr/>
            <p:nvPr/>
          </p:nvSpPr>
          <p:spPr>
            <a:xfrm>
              <a:off x="250983" y="5123366"/>
              <a:ext cx="3960001" cy="23030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Verdana" panose="020B0604030504040204" pitchFamily="34" charset="0"/>
                  <a:cs typeface="+mn-cs"/>
                </a:rPr>
                <a:t>- 25% </a:t>
              </a:r>
              <a:r>
                <a:rPr kumimoji="0" lang="fr-FR" sz="1400" b="0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Verdana" panose="020B0604030504040204" pitchFamily="34" charset="0"/>
                  <a:cs typeface="+mn-cs"/>
                </a:rPr>
                <a:t>d’empreinte globale d’un ordinateur en allongeant d’un an sa durée de vie</a:t>
              </a:r>
              <a:r>
                <a:rPr kumimoji="0" lang="fr-FR" sz="1400" b="0" i="0" u="none" strike="noStrike" kern="1200" cap="none" spc="0" normalizeH="0" baseline="3000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Verdana" panose="020B0604030504040204" pitchFamily="34" charset="0"/>
                  <a:cs typeface="+mn-cs"/>
                </a:rPr>
                <a:t>2</a:t>
              </a:r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C2B5AC71-A926-41BD-9CB1-E15CC16DA177}"/>
              </a:ext>
            </a:extLst>
          </p:cNvPr>
          <p:cNvSpPr txBox="1"/>
          <p:nvPr/>
        </p:nvSpPr>
        <p:spPr>
          <a:xfrm>
            <a:off x="1477109" y="7087730"/>
            <a:ext cx="6304821" cy="1138422"/>
          </a:xfrm>
          <a:prstGeom prst="rect">
            <a:avLst/>
          </a:prstGeom>
          <a:noFill/>
          <a:ln w="3175" cmpd="sng">
            <a:solidFill>
              <a:srgbClr val="2C3176"/>
            </a:solidFill>
            <a:prstDash val="solid"/>
            <a:round/>
          </a:ln>
          <a:effectLst/>
        </p:spPr>
        <p:txBody>
          <a:bodyPr wrap="square" lIns="180000" rIns="18000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small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Optimiser les data centers et les serveurs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Diminuer le PUE (Power Usage </a:t>
            </a:r>
            <a:r>
              <a:rPr kumimoji="0" lang="fr-FR" sz="1400" b="0" i="0" u="none" strike="noStrike" kern="1200" cap="none" spc="0" normalizeH="0" baseline="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Effectiveness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) 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en mesurant l’énergie consommée par les DC et les serveurs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/>
              <a:ea typeface="+mn-ea"/>
              <a:cs typeface="+mn-cs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22B12E5-61C5-4A71-8534-2FE5A4919F0C}"/>
              </a:ext>
            </a:extLst>
          </p:cNvPr>
          <p:cNvGrpSpPr/>
          <p:nvPr/>
        </p:nvGrpSpPr>
        <p:grpSpPr>
          <a:xfrm>
            <a:off x="8014455" y="4419170"/>
            <a:ext cx="6304823" cy="1150618"/>
            <a:chOff x="4211379" y="1271583"/>
            <a:chExt cx="3960001" cy="900000"/>
          </a:xfrm>
        </p:grpSpPr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6488C996-C45E-49F9-94A2-E030ABCFF76F}"/>
                </a:ext>
              </a:extLst>
            </p:cNvPr>
            <p:cNvSpPr txBox="1">
              <a:spLocks/>
            </p:cNvSpPr>
            <p:nvPr/>
          </p:nvSpPr>
          <p:spPr>
            <a:xfrm>
              <a:off x="4211379" y="1271583"/>
              <a:ext cx="3960000" cy="900000"/>
            </a:xfrm>
            <a:prstGeom prst="rect">
              <a:avLst/>
            </a:prstGeom>
            <a:noFill/>
            <a:ln w="3175" cmpd="sng">
              <a:solidFill>
                <a:srgbClr val="2C3176"/>
              </a:solidFill>
              <a:prstDash val="solid"/>
              <a:round/>
            </a:ln>
            <a:effectLst/>
          </p:spPr>
          <p:txBody>
            <a:bodyPr wrap="square" lIns="180000" rIns="180000" rtlCol="0" anchor="t">
              <a:noAutofit/>
            </a:bodyPr>
            <a:lstStyle>
              <a:defPPr>
                <a:defRPr lang="pt-PT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1" i="0" u="none" strike="noStrike" cap="small" spc="0" normalizeH="0" baseline="0">
                  <a:ln>
                    <a:noFill/>
                  </a:ln>
                  <a:solidFill>
                    <a:srgbClr val="0070AD"/>
                  </a:solidFill>
                  <a:effectLst/>
                  <a:uLnTx/>
                  <a:uFillTx/>
                  <a:latin typeface="Verdan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1200" cap="small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Rationaliser le portefeuille applicatif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Lancer un programme de rationalisation avec l'impact carbone des applications comme critère de décision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09A8E1C-B08F-4F02-B00F-32F2259EBBA9}"/>
                </a:ext>
              </a:extLst>
            </p:cNvPr>
            <p:cNvSpPr/>
            <p:nvPr/>
          </p:nvSpPr>
          <p:spPr>
            <a:xfrm>
              <a:off x="4211379" y="1901666"/>
              <a:ext cx="3960001" cy="23030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Verdana" panose="020B0604030504040204" pitchFamily="34" charset="0"/>
                  <a:cs typeface="+mn-cs"/>
                </a:rPr>
                <a:t>11% </a:t>
              </a:r>
              <a:r>
                <a:rPr kumimoji="0" lang="fr-FR" sz="1400" b="0" i="0" u="none" strike="noStrike" kern="1200" cap="none" spc="0" normalizeH="0" baseline="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Verdana" panose="020B0604030504040204" pitchFamily="34" charset="0"/>
                  <a:cs typeface="+mn-cs"/>
                </a:rPr>
                <a:t>d’économies de coûts opérationnels grâce à une architecture durable</a:t>
              </a:r>
              <a:r>
                <a:rPr kumimoji="0" lang="fr-FR" sz="1400" b="0" i="0" u="none" strike="noStrike" kern="1200" cap="none" spc="0" normalizeH="0" baseline="30000" noProof="0">
                  <a:ln>
                    <a:noFill/>
                  </a:ln>
                  <a:solidFill>
                    <a:srgbClr val="2C3176"/>
                  </a:solidFill>
                  <a:effectLst/>
                  <a:uLnTx/>
                  <a:uFillTx/>
                  <a:latin typeface="Marianne" panose="020B0604020202020204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B3061BA-60C5-4C13-A66B-8C1FA2D5E31F}"/>
              </a:ext>
            </a:extLst>
          </p:cNvPr>
          <p:cNvSpPr/>
          <p:nvPr/>
        </p:nvSpPr>
        <p:spPr>
          <a:xfrm>
            <a:off x="1487156" y="7872346"/>
            <a:ext cx="6298124" cy="21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Verdana" panose="020B0604030504040204" pitchFamily="34" charset="0"/>
                <a:cs typeface="+mn-cs"/>
              </a:rPr>
              <a:t>20 à 40% 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Verdana" panose="020B0604030504040204" pitchFamily="34" charset="0"/>
                <a:cs typeface="+mn-cs"/>
              </a:rPr>
              <a:t>de gains potentiels sur la facture énergétique pour les DC</a:t>
            </a:r>
          </a:p>
        </p:txBody>
      </p:sp>
      <p:sp>
        <p:nvSpPr>
          <p:cNvPr id="15" name="Title 9">
            <a:extLst>
              <a:ext uri="{FF2B5EF4-FFF2-40B4-BE49-F238E27FC236}">
                <a16:creationId xmlns:a16="http://schemas.microsoft.com/office/drawing/2014/main" id="{F1F8A53A-154B-4791-8351-C3E6CAE9A07D}"/>
              </a:ext>
            </a:extLst>
          </p:cNvPr>
          <p:cNvSpPr txBox="1">
            <a:spLocks/>
          </p:cNvSpPr>
          <p:nvPr/>
        </p:nvSpPr>
        <p:spPr>
          <a:xfrm>
            <a:off x="1898820" y="604590"/>
            <a:ext cx="123727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fr-FR" sz="4400" b="1" i="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 sz="4000" dirty="0"/>
              <a:t>Les grandes familles de levier à activer pour </a:t>
            </a:r>
          </a:p>
          <a:p>
            <a:r>
              <a:rPr lang="fr-FR" sz="4000" dirty="0"/>
              <a:t>réduire l’impact environnemental du numérique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E1DEC63-B7E0-4294-BB10-FDF468D583C5}"/>
              </a:ext>
            </a:extLst>
          </p:cNvPr>
          <p:cNvSpPr txBox="1">
            <a:spLocks/>
          </p:cNvSpPr>
          <p:nvPr/>
        </p:nvSpPr>
        <p:spPr>
          <a:xfrm>
            <a:off x="2922241" y="8688752"/>
            <a:ext cx="10178194" cy="215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fr-FR"/>
            </a:defPPr>
            <a:lvl1pPr>
              <a:defRPr sz="1400" kern="0" baseline="30000">
                <a:solidFill>
                  <a:srgbClr val="2C3176"/>
                </a:solidFill>
                <a:latin typeface="Marianne" panose="020B0604020202020204"/>
                <a:cs typeface="Arial" panose="020B0604020202020204" pitchFamily="34" charset="0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¹Capgemini </a:t>
            </a:r>
            <a:r>
              <a:rPr kumimoji="0" lang="fr-FR" sz="1400" b="0" i="0" u="none" strike="noStrike" kern="0" cap="none" spc="0" normalizeH="0" baseline="3000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Research</a:t>
            </a: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Institute, </a:t>
            </a:r>
            <a:r>
              <a:rPr kumimoji="0" lang="fr-FR" sz="1400" b="0" i="0" u="none" strike="noStrike" kern="0" cap="none" spc="0" normalizeH="0" baseline="3000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Sustainable</a:t>
            </a: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IT: </a:t>
            </a:r>
            <a:r>
              <a:rPr kumimoji="0" lang="fr-FR" sz="1400" b="0" i="0" u="none" strike="noStrike" kern="0" cap="none" spc="0" normalizeH="0" baseline="3000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Why</a:t>
            </a: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1400" b="0" i="0" u="none" strike="noStrike" kern="0" cap="none" spc="0" normalizeH="0" baseline="3000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it’s</a:t>
            </a: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time for a Green </a:t>
            </a:r>
            <a:r>
              <a:rPr kumimoji="0" lang="fr-FR" sz="1400" b="0" i="0" u="none" strike="noStrike" kern="0" cap="none" spc="0" normalizeH="0" baseline="3000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Revolution</a:t>
            </a: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for </a:t>
            </a:r>
            <a:r>
              <a:rPr kumimoji="0" lang="fr-FR" sz="1400" b="0" i="0" u="none" strike="noStrike" kern="0" cap="none" spc="0" normalizeH="0" baseline="3000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your</a:t>
            </a: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fr-FR" sz="1400" b="0" i="0" u="none" strike="noStrike" kern="0" cap="none" spc="0" normalizeH="0" baseline="3000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organization’s</a:t>
            </a: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IT, Avril 2021, ²Capgemini Project, ³Google Brain and </a:t>
            </a:r>
            <a:r>
              <a:rPr kumimoji="0" lang="fr-FR" sz="1400" b="0" i="0" u="none" strike="noStrike" kern="0" cap="none" spc="0" normalizeH="0" baseline="3000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Berkely</a:t>
            </a:r>
            <a:r>
              <a:rPr kumimoji="0" lang="fr-FR" sz="1400" b="0" i="0" u="none" strike="noStrike" kern="0" cap="none" spc="0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Paper, Carbon Emissions and Large Neural Network Training, Avril 2021 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668EA5E-0942-433B-9837-11B854968D59}"/>
              </a:ext>
            </a:extLst>
          </p:cNvPr>
          <p:cNvSpPr txBox="1"/>
          <p:nvPr/>
        </p:nvSpPr>
        <p:spPr>
          <a:xfrm>
            <a:off x="8014455" y="5750475"/>
            <a:ext cx="6304823" cy="1149853"/>
          </a:xfrm>
          <a:prstGeom prst="rect">
            <a:avLst/>
          </a:prstGeom>
          <a:noFill/>
          <a:ln w="3175" cmpd="sng">
            <a:solidFill>
              <a:srgbClr val="2C3176"/>
            </a:solidFill>
            <a:prstDash val="solid"/>
            <a:round/>
          </a:ln>
          <a:effectLst/>
        </p:spPr>
        <p:txBody>
          <a:bodyPr wrap="square" lIns="180000" rIns="180000" rtlCol="0" anchor="t">
            <a:noAutofit/>
          </a:bodyPr>
          <a:lstStyle>
            <a:defPPr>
              <a:defRPr lang="pt-PT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small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erdan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small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éco-conception et accessibilité des Applications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Intégrer les aspects environnementaux dès la phase de conception d'une application web/mobile et tout du long de son cycle de vie 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48DE4234-A9B2-471A-87BE-DD3ADF36B237}"/>
              </a:ext>
            </a:extLst>
          </p:cNvPr>
          <p:cNvSpPr txBox="1"/>
          <p:nvPr/>
        </p:nvSpPr>
        <p:spPr>
          <a:xfrm>
            <a:off x="1477109" y="2506292"/>
            <a:ext cx="6304821" cy="1237281"/>
          </a:xfrm>
          <a:prstGeom prst="rect">
            <a:avLst/>
          </a:prstGeom>
          <a:noFill/>
          <a:ln w="3175" cmpd="sng">
            <a:solidFill>
              <a:srgbClr val="2C3176"/>
            </a:solidFill>
            <a:prstDash val="solid"/>
            <a:round/>
          </a:ln>
          <a:effectLst/>
        </p:spPr>
        <p:txBody>
          <a:bodyPr wrap="square" lIns="180000" rIns="180000" rtlCol="0" anchor="t">
            <a:noAutofit/>
          </a:bodyPr>
          <a:lstStyle>
            <a:defPPr>
              <a:defRPr lang="pt-PT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small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erdan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small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Fournisseurs éco-responsables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Élaborer une politique d'achat durable et impliquer les fournisseurs</a:t>
            </a:r>
          </a:p>
        </p:txBody>
      </p:sp>
      <p:sp>
        <p:nvSpPr>
          <p:cNvPr id="40" name="TextBox 14">
            <a:extLst>
              <a:ext uri="{FF2B5EF4-FFF2-40B4-BE49-F238E27FC236}">
                <a16:creationId xmlns:a16="http://schemas.microsoft.com/office/drawing/2014/main" id="{6B0A0882-3E15-4281-8B96-5C5812D7179F}"/>
              </a:ext>
            </a:extLst>
          </p:cNvPr>
          <p:cNvSpPr txBox="1"/>
          <p:nvPr/>
        </p:nvSpPr>
        <p:spPr>
          <a:xfrm>
            <a:off x="2883519" y="3923928"/>
            <a:ext cx="34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PARC INFORMATIQUE</a:t>
            </a: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B89B297D-D191-4D0B-8173-A79C301AD270}"/>
              </a:ext>
            </a:extLst>
          </p:cNvPr>
          <p:cNvSpPr txBox="1"/>
          <p:nvPr/>
        </p:nvSpPr>
        <p:spPr>
          <a:xfrm>
            <a:off x="9420866" y="3923928"/>
            <a:ext cx="34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APPLICATION</a:t>
            </a:r>
          </a:p>
        </p:txBody>
      </p:sp>
      <p:pic>
        <p:nvPicPr>
          <p:cNvPr id="42" name="Picture 41" descr="Icon&#10;&#10;Description automatically generated">
            <a:extLst>
              <a:ext uri="{FF2B5EF4-FFF2-40B4-BE49-F238E27FC236}">
                <a16:creationId xmlns:a16="http://schemas.microsoft.com/office/drawing/2014/main" id="{BFB13862-01B3-4B62-824D-DBA62B0F87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176" y="3947742"/>
            <a:ext cx="360000" cy="360000"/>
          </a:xfrm>
          <a:prstGeom prst="rect">
            <a:avLst/>
          </a:prstGeom>
        </p:spPr>
      </p:pic>
      <p:pic>
        <p:nvPicPr>
          <p:cNvPr id="43" name="Picture 42" descr="Icon&#10;&#10;Description automatically generated">
            <a:extLst>
              <a:ext uri="{FF2B5EF4-FFF2-40B4-BE49-F238E27FC236}">
                <a16:creationId xmlns:a16="http://schemas.microsoft.com/office/drawing/2014/main" id="{2609B454-64C1-4B30-BE75-05021920E5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241" y="3947742"/>
            <a:ext cx="360000" cy="360000"/>
          </a:xfrm>
          <a:prstGeom prst="rect">
            <a:avLst/>
          </a:prstGeom>
        </p:spPr>
      </p:pic>
      <p:sp>
        <p:nvSpPr>
          <p:cNvPr id="46" name="TextBox 14">
            <a:extLst>
              <a:ext uri="{FF2B5EF4-FFF2-40B4-BE49-F238E27FC236}">
                <a16:creationId xmlns:a16="http://schemas.microsoft.com/office/drawing/2014/main" id="{3D2FE22C-858A-4A08-9479-FE59C26E9E32}"/>
              </a:ext>
            </a:extLst>
          </p:cNvPr>
          <p:cNvSpPr txBox="1"/>
          <p:nvPr/>
        </p:nvSpPr>
        <p:spPr>
          <a:xfrm>
            <a:off x="2883519" y="2011356"/>
            <a:ext cx="34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ACHATS</a:t>
            </a:r>
          </a:p>
        </p:txBody>
      </p:sp>
      <p:sp>
        <p:nvSpPr>
          <p:cNvPr id="47" name="TextBox 14">
            <a:extLst>
              <a:ext uri="{FF2B5EF4-FFF2-40B4-BE49-F238E27FC236}">
                <a16:creationId xmlns:a16="http://schemas.microsoft.com/office/drawing/2014/main" id="{36696691-1B4C-4456-BDB9-8D110AC53B91}"/>
              </a:ext>
            </a:extLst>
          </p:cNvPr>
          <p:cNvSpPr txBox="1"/>
          <p:nvPr/>
        </p:nvSpPr>
        <p:spPr>
          <a:xfrm>
            <a:off x="8482084" y="2054572"/>
            <a:ext cx="536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COMPORTEMENT DES UTILISATEURS</a:t>
            </a:r>
          </a:p>
        </p:txBody>
      </p:sp>
      <p:sp>
        <p:nvSpPr>
          <p:cNvPr id="48" name="TextBox 8">
            <a:extLst>
              <a:ext uri="{FF2B5EF4-FFF2-40B4-BE49-F238E27FC236}">
                <a16:creationId xmlns:a16="http://schemas.microsoft.com/office/drawing/2014/main" id="{EEA88686-2470-4DA8-A9E9-C45D25179801}"/>
              </a:ext>
            </a:extLst>
          </p:cNvPr>
          <p:cNvSpPr txBox="1"/>
          <p:nvPr/>
        </p:nvSpPr>
        <p:spPr>
          <a:xfrm>
            <a:off x="8014456" y="2510196"/>
            <a:ext cx="6304821" cy="1220752"/>
          </a:xfrm>
          <a:prstGeom prst="rect">
            <a:avLst/>
          </a:prstGeom>
          <a:noFill/>
          <a:ln w="3175" cmpd="sng">
            <a:solidFill>
              <a:srgbClr val="2C3176"/>
            </a:solidFill>
            <a:prstDash val="solid"/>
            <a:round/>
          </a:ln>
          <a:effectLst/>
        </p:spPr>
        <p:txBody>
          <a:bodyPr wrap="square" lIns="180000" rIns="180000" rtlCol="0" anchor="t">
            <a:noAutofit/>
          </a:bodyPr>
          <a:lstStyle>
            <a:defPPr>
              <a:defRPr lang="pt-PT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small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erdan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small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FAIRE ADOPTER DES ECO-GESTES AUX UTILISATEURS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Sensibiliser les agents aux impacts de leurs pratiques sur : les e-mails, la création et le stockage de fichiers, le streaming et les réunions vidéo, Internet et les économies d’énergie, les impressions et les équipements électroniques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small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/>
              <a:ea typeface="+mn-ea"/>
              <a:cs typeface="+mn-cs"/>
            </a:endParaRPr>
          </a:p>
        </p:txBody>
      </p:sp>
      <p:pic>
        <p:nvPicPr>
          <p:cNvPr id="1026" name="Picture 2" descr="PC End Approval Procurement Svg Png Icon Free Download (#191647) -  OnlineWebFonts.COM">
            <a:extLst>
              <a:ext uri="{FF2B5EF4-FFF2-40B4-BE49-F238E27FC236}">
                <a16:creationId xmlns:a16="http://schemas.microsoft.com/office/drawing/2014/main" id="{B88CDC7B-C753-471E-9B47-7B1F987B9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160" y="2036348"/>
            <a:ext cx="389029" cy="35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cône Utilisateurs 8 dans Silky Line User Icons">
            <a:extLst>
              <a:ext uri="{FF2B5EF4-FFF2-40B4-BE49-F238E27FC236}">
                <a16:creationId xmlns:a16="http://schemas.microsoft.com/office/drawing/2014/main" id="{638C7A22-A7B1-4789-AA4D-9B0BF9924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930" y="1907704"/>
            <a:ext cx="486477" cy="48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501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>
            <a:extLst>
              <a:ext uri="{FF2B5EF4-FFF2-40B4-BE49-F238E27FC236}">
                <a16:creationId xmlns:a16="http://schemas.microsoft.com/office/drawing/2014/main" id="{9CAFCFB5-92EC-4742-B1E5-0E8211757CBF}"/>
              </a:ext>
            </a:extLst>
          </p:cNvPr>
          <p:cNvSpPr txBox="1">
            <a:spLocks/>
          </p:cNvSpPr>
          <p:nvPr/>
        </p:nvSpPr>
        <p:spPr>
          <a:xfrm>
            <a:off x="1941638" y="476355"/>
            <a:ext cx="123727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fr-FR" sz="4400" b="1" i="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 sz="4000"/>
              <a:t>Exemples de bonnes pratiques à mettre </a:t>
            </a:r>
          </a:p>
          <a:p>
            <a:r>
              <a:rPr lang="fr-FR" sz="4000"/>
              <a:t>en place par la collectivité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B709B2-1A02-4E33-8363-F498926344F9}"/>
              </a:ext>
            </a:extLst>
          </p:cNvPr>
          <p:cNvSpPr txBox="1"/>
          <p:nvPr/>
        </p:nvSpPr>
        <p:spPr>
          <a:xfrm>
            <a:off x="647505" y="1944231"/>
            <a:ext cx="4707968" cy="68762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fr-FR"/>
            </a:defPPr>
            <a:lvl1pPr marL="393690" indent="-380990" algn="just" defTabSz="914377">
              <a:lnSpc>
                <a:spcPct val="150000"/>
              </a:lnSpc>
              <a:spcBef>
                <a:spcPts val="115"/>
              </a:spcBef>
              <a:buFont typeface="Arial" panose="020B0604020202020204" pitchFamily="34" charset="0"/>
              <a:buChar char="•"/>
              <a:defRPr sz="1200" spc="1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defRPr>
            </a:lvl1pPr>
            <a:lvl2pPr marL="850890" lvl="1" indent="-380990" algn="just" defTabSz="914377">
              <a:lnSpc>
                <a:spcPct val="150000"/>
              </a:lnSpc>
              <a:spcBef>
                <a:spcPts val="115"/>
              </a:spcBef>
              <a:buFont typeface="Arial" panose="020B0604020202020204" pitchFamily="34" charset="0"/>
              <a:buChar char="•"/>
              <a:defRPr sz="1100" b="1" spc="11">
                <a:solidFill>
                  <a:srgbClr val="2C3176"/>
                </a:solidFill>
                <a:latin typeface="Marianne" charset="0"/>
              </a:defRPr>
            </a:lvl2pPr>
          </a:lstStyle>
          <a:p>
            <a:pPr marL="0" marR="0" lvl="0" indent="0" algn="just" defTabSz="914377" rtl="0" eaLnBrk="1" fontAlgn="auto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</a:rPr>
              <a:t>Stratégie et gouvernance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a.1 Dédier une personne spécifique à la coordination de la démarche numérique responsable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a.2 Définir et mettre en place un plan d’action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a.3 Mettre en place et suivre des indicateurs de pilotage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a.4 Développer un réseau de référents pour faire vivre et inscrire la démarche dans la durée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a.5 Obtenir et consacrer un budget spécifique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a.6 Acter la démarche numérique responsable dans une charte ou un manifeste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a.7 S’engager pour un numérique plus respectueux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200" b="0" i="0" u="none" strike="noStrike" kern="1200" cap="none" spc="11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charset="0"/>
            </a:endParaRPr>
          </a:p>
          <a:p>
            <a:pPr marL="0" marR="0" lvl="0" indent="0" algn="just" defTabSz="914377" rtl="0" eaLnBrk="1" fontAlgn="auto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</a:rPr>
              <a:t>Sensibilisation et formation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b.1 Sensibiliser les collaborateurs au numérique responsable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b.2 Intégrer les compétences Numérique Responsable dans le plan de formation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b.3 Former en interne à la réparation des équipements hors garantie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200" b="0" i="0" u="none" strike="noStrike" kern="1200" cap="none" spc="11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charset="0"/>
            </a:endParaRPr>
          </a:p>
          <a:p>
            <a:pPr marL="0" marR="0" lvl="0" indent="0" algn="just" defTabSz="914377" rtl="0" eaLnBrk="1" fontAlgn="auto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</a:rPr>
              <a:t>Mesure et évaluation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c.1 Connaître son système d’information pour mieux l’exploiter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c.2 Évaluer régulièrement l’empreinte environnementale du système d’information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200" b="0" i="0" u="none" strike="noStrike" kern="1200" cap="none" spc="11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charset="0"/>
            </a:endParaRPr>
          </a:p>
          <a:p>
            <a:pPr marL="0" marR="0" lvl="0" indent="0" algn="just" defTabSz="914377" rtl="0" eaLnBrk="1" fontAlgn="auto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</a:rPr>
              <a:t>Réduction des achats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d.1 Réduire le nombre d’équipements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d.2 Mettre à jour les équipements au lieu de les remplacer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d.3 Réaffecter les équipements en interne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d.4 Séparer les achats d’équipements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d.5 Opter pour la location fonctionnelle d’équipements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d.6 Protéger les équipements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200" b="0" i="0" u="none" strike="noStrike" kern="1200" cap="none" spc="11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17FBDE-2DF1-4927-ACB0-BA502F10A68F}"/>
              </a:ext>
            </a:extLst>
          </p:cNvPr>
          <p:cNvSpPr txBox="1"/>
          <p:nvPr/>
        </p:nvSpPr>
        <p:spPr>
          <a:xfrm>
            <a:off x="6063776" y="2038970"/>
            <a:ext cx="4896354" cy="62376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fr-FR"/>
            </a:defPPr>
            <a:lvl1pPr marL="393690" indent="-380990" algn="just" defTabSz="914377">
              <a:lnSpc>
                <a:spcPct val="150000"/>
              </a:lnSpc>
              <a:spcBef>
                <a:spcPts val="115"/>
              </a:spcBef>
              <a:buFont typeface="Arial" panose="020B0604020202020204" pitchFamily="34" charset="0"/>
              <a:buChar char="•"/>
              <a:defRPr sz="1200" spc="1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defRPr>
            </a:lvl1pPr>
            <a:lvl2pPr marL="850890" lvl="1" indent="-380990" algn="just" defTabSz="914377">
              <a:lnSpc>
                <a:spcPct val="150000"/>
              </a:lnSpc>
              <a:spcBef>
                <a:spcPts val="115"/>
              </a:spcBef>
              <a:buFont typeface="Arial" panose="020B0604020202020204" pitchFamily="34" charset="0"/>
              <a:buChar char="•"/>
              <a:defRPr sz="1100" b="1" spc="11">
                <a:solidFill>
                  <a:srgbClr val="2C3176"/>
                </a:solidFill>
                <a:latin typeface="Marianne" charset="0"/>
              </a:defRPr>
            </a:lvl2pPr>
          </a:lstStyle>
          <a:p>
            <a:pPr marL="0" marR="0" lvl="0" indent="0" algn="just" defTabSz="914377" rtl="0" eaLnBrk="1" fontAlgn="auto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</a:rPr>
              <a:t>Achats durables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e.1 Privilégier des équipements issus du réemploi ou contenant des matériaux recyclés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e.2 Privilégier les achats durables et réparables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e.3 Privilégier des équipements éco-labellisés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e.4 Anticiper le </a:t>
            </a:r>
            <a:r>
              <a:rPr kumimoji="0" lang="fr-FR" sz="1200" b="0" i="0" u="none" strike="noStrike" kern="1200" cap="none" spc="11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sourcing</a:t>
            </a: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 des fournisseurs d’équipements contenant des matériaux recyclés ou issus du réemploi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e.5 S’assurer de la traçabilité des produits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200" b="0" i="0" u="none" strike="noStrike" kern="1200" cap="none" spc="11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charset="0"/>
            </a:endParaRPr>
          </a:p>
          <a:p>
            <a:pPr marL="0" marR="0" lvl="0" indent="0" algn="just" defTabSz="914377" rtl="0" eaLnBrk="1" fontAlgn="auto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</a:rPr>
              <a:t>Phase d’usage, administration et paramétrages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f.1 Optimiser la gestion du parc des équipements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f.2 Agir sur les paramétrages par défaut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f.3 Limiter les flux de données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f.4 Mettre en place une stratégie de gestion des données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f.5 Réduire le volume de données stockées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f.6 Réduire les impacts liés à la messagerie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f.7 Mettre en place les bonnes pratiques d’impression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200" b="0" i="0" u="none" strike="noStrike" kern="1200" cap="none" spc="11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charset="0"/>
            </a:endParaRPr>
          </a:p>
          <a:p>
            <a:pPr marL="0" marR="0" lvl="0" indent="0" algn="just" defTabSz="914377" rtl="0" eaLnBrk="1" fontAlgn="auto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</a:rPr>
              <a:t>Services numériques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g.1 Évaluer collectivement la pertinence des fonctionnalités à concevoir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g.2 Systématiser une revue de conception en amont et une revue de code orientées sobriété numérique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g.3 Mettre en place les bonnes pratiques et s’appuyer sur les référentiels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g.4 Concevoir un service numérique compatible avec des équipements les plus anciens possibles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g.5 Concevoir un service numérique qui s’adapte à différents types de terminaux d’affichage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g.6 Concevoir un service numérique compatible avec des faibles débits</a:t>
            </a:r>
            <a:endParaRPr kumimoji="0" lang="en-GB" sz="1200" b="0" i="0" u="none" strike="noStrike" kern="1200" cap="none" spc="11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110135-A0CE-4D64-A817-A938E6536D56}"/>
              </a:ext>
            </a:extLst>
          </p:cNvPr>
          <p:cNvSpPr txBox="1"/>
          <p:nvPr/>
        </p:nvSpPr>
        <p:spPr>
          <a:xfrm>
            <a:off x="11736586" y="2081366"/>
            <a:ext cx="4316213" cy="44268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fr-FR"/>
            </a:defPPr>
            <a:lvl1pPr marL="12700" indent="0" algn="just" defTabSz="914377">
              <a:lnSpc>
                <a:spcPct val="150000"/>
              </a:lnSpc>
              <a:spcBef>
                <a:spcPts val="115"/>
              </a:spcBef>
              <a:buFont typeface="Arial" panose="020B0604020202020204" pitchFamily="34" charset="0"/>
              <a:buNone/>
              <a:defRPr sz="1000" b="1" spc="1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defRPr>
            </a:lvl1pPr>
            <a:lvl2pPr marL="850890" lvl="1" indent="-380990" algn="just" defTabSz="914377">
              <a:lnSpc>
                <a:spcPct val="150000"/>
              </a:lnSpc>
              <a:spcBef>
                <a:spcPts val="115"/>
              </a:spcBef>
              <a:buFont typeface="Arial" panose="020B0604020202020204" pitchFamily="34" charset="0"/>
              <a:buChar char="•"/>
              <a:defRPr sz="1100" b="1" spc="11">
                <a:solidFill>
                  <a:srgbClr val="2C3176"/>
                </a:solidFill>
                <a:latin typeface="Marianne" charset="0"/>
              </a:defRPr>
            </a:lvl2pPr>
          </a:lstStyle>
          <a:p>
            <a:pPr marL="0" marR="0" lvl="0" indent="0" algn="just" defTabSz="914377" rtl="0" eaLnBrk="1" fontAlgn="auto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</a:rPr>
              <a:t>Salle serveur et centre de données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h.1 Intégrer des clauses environnementales lors du choix d’un prestataire d’hébergement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h.2 Utiliser un hébergement signataire du Code de Conduite européen des centres de données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h.4 Regrouper et rationaliser les serveurs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h.5 Refroidir les serveurs par une solution économe en énergie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h.6 Définir et mettre en œuvre une stratégie de décommissionnement des services numériques </a:t>
            </a:r>
          </a:p>
          <a:p>
            <a:pPr marL="180000" marR="0" lvl="0" indent="0" algn="just" defTabSz="914377" rtl="0" eaLnBrk="1" fontAlgn="auto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200" b="0" i="0" u="none" strike="noStrike" kern="1200" cap="none" spc="11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charset="0"/>
            </a:endParaRPr>
          </a:p>
          <a:p>
            <a:pPr marL="0" marR="0" lvl="0" indent="0" algn="just" defTabSz="914377" rtl="0" eaLnBrk="1" fontAlgn="auto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</a:rPr>
              <a:t>Fin d’usage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 i.1 Réemployer en remettant en état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 i.2 Réemployer en donnant les équipements fonctionnels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 i.3 Réemployer en vendant les équipements fonctionnels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 i.4 Faire appel à un éco-organisme pour la gestion des DEEE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i.6 Vérifier le professionnalisme des entreprises de collecte des DEEE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 i.7 Trier et collecter séparément les consommables </a:t>
            </a:r>
          </a:p>
          <a:p>
            <a:pPr marL="180000" marR="0" lvl="0" indent="0" algn="just" defTabSz="914377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0" i="0" u="none" strike="noStrike" kern="1200" cap="none" spc="1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charset="0"/>
              </a:rPr>
              <a:t> i.8 Tenir un registre des déchets</a:t>
            </a:r>
            <a:endParaRPr kumimoji="0" lang="en-GB" sz="1200" b="0" i="0" u="none" strike="noStrike" kern="1200" cap="none" spc="1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rianne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91B8EA-D59D-4BE5-A1FF-7D90F7864B02}"/>
              </a:ext>
            </a:extLst>
          </p:cNvPr>
          <p:cNvCxnSpPr>
            <a:cxnSpLocks/>
          </p:cNvCxnSpPr>
          <p:nvPr/>
        </p:nvCxnSpPr>
        <p:spPr>
          <a:xfrm>
            <a:off x="5431851" y="2030911"/>
            <a:ext cx="0" cy="64129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E44B8E3C-A48E-4545-8895-98483DBE5C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23" y="2038970"/>
            <a:ext cx="271412" cy="271412"/>
          </a:xfrm>
          <a:prstGeom prst="rect">
            <a:avLst/>
          </a:prstGeom>
        </p:spPr>
      </p:pic>
      <p:pic>
        <p:nvPicPr>
          <p:cNvPr id="21" name="Picture 20" descr="Shape&#10;&#10;Description automatically generated with low confidence">
            <a:extLst>
              <a:ext uri="{FF2B5EF4-FFF2-40B4-BE49-F238E27FC236}">
                <a16:creationId xmlns:a16="http://schemas.microsoft.com/office/drawing/2014/main" id="{5C07D5A0-350B-44DF-B013-5DCFC7064E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59" y="4511966"/>
            <a:ext cx="305140" cy="305140"/>
          </a:xfrm>
          <a:prstGeom prst="rect">
            <a:avLst/>
          </a:prstGeom>
        </p:spPr>
      </p:pic>
      <p:pic>
        <p:nvPicPr>
          <p:cNvPr id="25" name="Picture 24" descr="Icon&#10;&#10;Description automatically generated">
            <a:extLst>
              <a:ext uri="{FF2B5EF4-FFF2-40B4-BE49-F238E27FC236}">
                <a16:creationId xmlns:a16="http://schemas.microsoft.com/office/drawing/2014/main" id="{DC233A11-65CE-4ACB-9AEA-A2260CAAEC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59" y="6240026"/>
            <a:ext cx="305141" cy="305141"/>
          </a:xfrm>
          <a:prstGeom prst="rect">
            <a:avLst/>
          </a:prstGeom>
        </p:spPr>
      </p:pic>
      <p:pic>
        <p:nvPicPr>
          <p:cNvPr id="30" name="Picture 29" descr="Shape&#10;&#10;Description automatically generated with low confidence">
            <a:extLst>
              <a:ext uri="{FF2B5EF4-FFF2-40B4-BE49-F238E27FC236}">
                <a16:creationId xmlns:a16="http://schemas.microsoft.com/office/drawing/2014/main" id="{BDC1E44A-0344-4A6A-A9FD-C1A6FDBAC1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01" y="7633840"/>
            <a:ext cx="324815" cy="324815"/>
          </a:xfrm>
          <a:prstGeom prst="rect">
            <a:avLst/>
          </a:prstGeom>
        </p:spPr>
      </p:pic>
      <p:pic>
        <p:nvPicPr>
          <p:cNvPr id="32" name="Picture 31" descr="Shape&#10;&#10;Description automatically generated with low confidence">
            <a:extLst>
              <a:ext uri="{FF2B5EF4-FFF2-40B4-BE49-F238E27FC236}">
                <a16:creationId xmlns:a16="http://schemas.microsoft.com/office/drawing/2014/main" id="{53E5C6D1-6FC7-459E-875C-DC0D85EA6E8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324" y="2136168"/>
            <a:ext cx="311326" cy="311326"/>
          </a:xfrm>
          <a:prstGeom prst="rect">
            <a:avLst/>
          </a:prstGeom>
        </p:spPr>
      </p:pic>
      <p:pic>
        <p:nvPicPr>
          <p:cNvPr id="34" name="Picture 33" descr="Shape&#10;&#10;Description automatically generated with low confidence">
            <a:extLst>
              <a:ext uri="{FF2B5EF4-FFF2-40B4-BE49-F238E27FC236}">
                <a16:creationId xmlns:a16="http://schemas.microsoft.com/office/drawing/2014/main" id="{24DA7884-A377-4E2D-AA80-D83A2F62C3C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249" y="4058706"/>
            <a:ext cx="337526" cy="337526"/>
          </a:xfrm>
          <a:prstGeom prst="rect">
            <a:avLst/>
          </a:prstGeom>
        </p:spPr>
      </p:pic>
      <p:pic>
        <p:nvPicPr>
          <p:cNvPr id="36" name="Picture 35" descr="Shape&#10;&#10;Description automatically generated with low confidence">
            <a:extLst>
              <a:ext uri="{FF2B5EF4-FFF2-40B4-BE49-F238E27FC236}">
                <a16:creationId xmlns:a16="http://schemas.microsoft.com/office/drawing/2014/main" id="{EE31B181-DC48-4B76-A89C-DAFEFA12456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078" y="5956728"/>
            <a:ext cx="435869" cy="435869"/>
          </a:xfrm>
          <a:prstGeom prst="rect">
            <a:avLst/>
          </a:prstGeom>
        </p:spPr>
      </p:pic>
      <p:pic>
        <p:nvPicPr>
          <p:cNvPr id="38" name="Picture 37" descr="Shape&#10;&#10;Description automatically generated with low confidence">
            <a:extLst>
              <a:ext uri="{FF2B5EF4-FFF2-40B4-BE49-F238E27FC236}">
                <a16:creationId xmlns:a16="http://schemas.microsoft.com/office/drawing/2014/main" id="{E17BBB19-9627-4459-88F4-2CF06C898D1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235" y="2149994"/>
            <a:ext cx="337528" cy="337528"/>
          </a:xfrm>
          <a:prstGeom prst="rect">
            <a:avLst/>
          </a:prstGeom>
        </p:spPr>
      </p:pic>
      <p:pic>
        <p:nvPicPr>
          <p:cNvPr id="40" name="Picture 39" descr="Shape&#10;&#10;Description automatically generated with low confidence">
            <a:extLst>
              <a:ext uri="{FF2B5EF4-FFF2-40B4-BE49-F238E27FC236}">
                <a16:creationId xmlns:a16="http://schemas.microsoft.com/office/drawing/2014/main" id="{910668E4-18AC-4D65-B4F5-4E7AA963A14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424" y="4528429"/>
            <a:ext cx="329151" cy="329151"/>
          </a:xfrm>
          <a:prstGeom prst="rect">
            <a:avLst/>
          </a:prstGeom>
        </p:spPr>
      </p:pic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6F2E9666-4138-433B-8CF3-72F1C84FB1FE}"/>
              </a:ext>
            </a:extLst>
          </p:cNvPr>
          <p:cNvSpPr txBox="1">
            <a:spLocks/>
          </p:cNvSpPr>
          <p:nvPr/>
        </p:nvSpPr>
        <p:spPr>
          <a:xfrm>
            <a:off x="8051024" y="8884294"/>
            <a:ext cx="10414024" cy="25970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fr-FR"/>
            </a:defPPr>
            <a:lvl1pPr>
              <a:defRPr sz="1400" kern="0" baseline="30000">
                <a:solidFill>
                  <a:srgbClr val="2C3176"/>
                </a:solidFill>
                <a:latin typeface="Marianne" panose="020B0604020202020204"/>
                <a:cs typeface="Arial" panose="020B0604020202020204" pitchFamily="34" charset="0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30000" noProof="0" dirty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Source : Mission interministérielle Numérique écoresponsable - Guide de bonnes pratiques numérique responsable pour les organisations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369C82-C89A-4AC9-8BB4-6BE46E77D247}"/>
              </a:ext>
            </a:extLst>
          </p:cNvPr>
          <p:cNvCxnSpPr>
            <a:cxnSpLocks/>
          </p:cNvCxnSpPr>
          <p:nvPr/>
        </p:nvCxnSpPr>
        <p:spPr>
          <a:xfrm>
            <a:off x="11121451" y="2030911"/>
            <a:ext cx="0" cy="64129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4695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4648" y="533400"/>
            <a:ext cx="14168160" cy="7543800"/>
            <a:chOff x="1124648" y="699275"/>
            <a:chExt cx="14168160" cy="7543800"/>
          </a:xfrm>
        </p:grpSpPr>
        <p:sp>
          <p:nvSpPr>
            <p:cNvPr id="3" name="object 3"/>
            <p:cNvSpPr/>
            <p:nvPr/>
          </p:nvSpPr>
          <p:spPr>
            <a:xfrm>
              <a:off x="1124648" y="1631378"/>
              <a:ext cx="13248005" cy="6611697"/>
            </a:xfrm>
            <a:custGeom>
              <a:avLst/>
              <a:gdLst/>
              <a:ahLst/>
              <a:cxnLst/>
              <a:rect l="l" t="t" r="r" b="b"/>
              <a:pathLst>
                <a:path w="13248005" h="6181725">
                  <a:moveTo>
                    <a:pt x="13247535" y="0"/>
                  </a:moveTo>
                  <a:lnTo>
                    <a:pt x="0" y="0"/>
                  </a:lnTo>
                  <a:lnTo>
                    <a:pt x="0" y="6181178"/>
                  </a:lnTo>
                  <a:lnTo>
                    <a:pt x="13247535" y="6181178"/>
                  </a:lnTo>
                  <a:lnTo>
                    <a:pt x="13247535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91263" y="699275"/>
              <a:ext cx="2201545" cy="2104390"/>
            </a:xfrm>
            <a:custGeom>
              <a:avLst/>
              <a:gdLst/>
              <a:ahLst/>
              <a:cxnLst/>
              <a:rect l="l" t="t" r="r" b="b"/>
              <a:pathLst>
                <a:path w="2201544" h="2104390">
                  <a:moveTo>
                    <a:pt x="1256360" y="0"/>
                  </a:moveTo>
                  <a:lnTo>
                    <a:pt x="0" y="0"/>
                  </a:lnTo>
                  <a:lnTo>
                    <a:pt x="0" y="1247749"/>
                  </a:lnTo>
                  <a:lnTo>
                    <a:pt x="895578" y="1247749"/>
                  </a:lnTo>
                  <a:lnTo>
                    <a:pt x="951001" y="2104212"/>
                  </a:lnTo>
                  <a:lnTo>
                    <a:pt x="2201405" y="2104212"/>
                  </a:lnTo>
                  <a:lnTo>
                    <a:pt x="2117382" y="806983"/>
                  </a:lnTo>
                  <a:lnTo>
                    <a:pt x="2112914" y="758885"/>
                  </a:lnTo>
                  <a:lnTo>
                    <a:pt x="2105851" y="711607"/>
                  </a:lnTo>
                  <a:lnTo>
                    <a:pt x="2096269" y="665221"/>
                  </a:lnTo>
                  <a:lnTo>
                    <a:pt x="2084242" y="619795"/>
                  </a:lnTo>
                  <a:lnTo>
                    <a:pt x="2069845" y="575400"/>
                  </a:lnTo>
                  <a:lnTo>
                    <a:pt x="2053152" y="532105"/>
                  </a:lnTo>
                  <a:lnTo>
                    <a:pt x="2034239" y="489982"/>
                  </a:lnTo>
                  <a:lnTo>
                    <a:pt x="2013180" y="449100"/>
                  </a:lnTo>
                  <a:lnTo>
                    <a:pt x="1990049" y="409529"/>
                  </a:lnTo>
                  <a:lnTo>
                    <a:pt x="1964921" y="371339"/>
                  </a:lnTo>
                  <a:lnTo>
                    <a:pt x="1937872" y="334601"/>
                  </a:lnTo>
                  <a:lnTo>
                    <a:pt x="1908975" y="299384"/>
                  </a:lnTo>
                  <a:lnTo>
                    <a:pt x="1878305" y="265758"/>
                  </a:lnTo>
                  <a:lnTo>
                    <a:pt x="1845938" y="233794"/>
                  </a:lnTo>
                  <a:lnTo>
                    <a:pt x="1811948" y="203561"/>
                  </a:lnTo>
                  <a:lnTo>
                    <a:pt x="1776409" y="175130"/>
                  </a:lnTo>
                  <a:lnTo>
                    <a:pt x="1739397" y="148571"/>
                  </a:lnTo>
                  <a:lnTo>
                    <a:pt x="1700985" y="123954"/>
                  </a:lnTo>
                  <a:lnTo>
                    <a:pt x="1661249" y="101349"/>
                  </a:lnTo>
                  <a:lnTo>
                    <a:pt x="1620264" y="80825"/>
                  </a:lnTo>
                  <a:lnTo>
                    <a:pt x="1578103" y="62454"/>
                  </a:lnTo>
                  <a:lnTo>
                    <a:pt x="1534843" y="46305"/>
                  </a:lnTo>
                  <a:lnTo>
                    <a:pt x="1490557" y="32448"/>
                  </a:lnTo>
                  <a:lnTo>
                    <a:pt x="1445320" y="20953"/>
                  </a:lnTo>
                  <a:lnTo>
                    <a:pt x="1399207" y="11891"/>
                  </a:lnTo>
                  <a:lnTo>
                    <a:pt x="1352293" y="5331"/>
                  </a:lnTo>
                  <a:lnTo>
                    <a:pt x="1304652" y="1344"/>
                  </a:lnTo>
                  <a:lnTo>
                    <a:pt x="1256360" y="0"/>
                  </a:lnTo>
                  <a:close/>
                </a:path>
              </a:pathLst>
            </a:custGeom>
            <a:solidFill>
              <a:srgbClr val="5D6D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88572" y="7235954"/>
            <a:ext cx="1278890" cy="1222375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6955697"/>
            <a:ext cx="8010144" cy="262128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320" y="5511215"/>
            <a:ext cx="1935480" cy="719328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0" y="3251847"/>
            <a:ext cx="1935480" cy="719328"/>
          </a:xfrm>
          <a:prstGeom prst="rect">
            <a:avLst/>
          </a:prstGeom>
        </p:spPr>
      </p:pic>
      <p:sp>
        <p:nvSpPr>
          <p:cNvPr id="12" name="object 14">
            <a:extLst>
              <a:ext uri="{FF2B5EF4-FFF2-40B4-BE49-F238E27FC236}">
                <a16:creationId xmlns:a16="http://schemas.microsoft.com/office/drawing/2014/main" id="{6A2E9BB9-10D2-46E3-9416-DE5CD3F60A01}"/>
              </a:ext>
            </a:extLst>
          </p:cNvPr>
          <p:cNvSpPr txBox="1">
            <a:spLocks/>
          </p:cNvSpPr>
          <p:nvPr/>
        </p:nvSpPr>
        <p:spPr>
          <a:xfrm>
            <a:off x="1599832" y="4094326"/>
            <a:ext cx="12873212" cy="9380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60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Merci pour votre attention</a:t>
            </a:r>
            <a:endParaRPr lang="fr-FR" sz="6000" kern="0">
              <a:highlight>
                <a:srgbClr val="FFFF00"/>
              </a:highlight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8B9F240-90EF-49C9-A091-E387C8BD1BF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5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nalisé 1">
    <a:dk1>
      <a:sysClr val="windowText" lastClr="000000"/>
    </a:dk1>
    <a:lt1>
      <a:srgbClr val="FFFFFF"/>
    </a:lt1>
    <a:dk2>
      <a:srgbClr val="2B143D"/>
    </a:dk2>
    <a:lt2>
      <a:srgbClr val="ECECEC"/>
    </a:lt2>
    <a:accent1>
      <a:srgbClr val="0070AD"/>
    </a:accent1>
    <a:accent2>
      <a:srgbClr val="12ABDB"/>
    </a:accent2>
    <a:accent3>
      <a:srgbClr val="2B143D"/>
    </a:accent3>
    <a:accent4>
      <a:srgbClr val="FF304C"/>
    </a:accent4>
    <a:accent5>
      <a:srgbClr val="95E616"/>
    </a:accent5>
    <a:accent6>
      <a:srgbClr val="00C37B"/>
    </a:accent6>
    <a:hlink>
      <a:srgbClr val="88D5ED"/>
    </a:hlink>
    <a:folHlink>
      <a:srgbClr val="7E39BA"/>
    </a:folHlink>
  </a:clrScheme>
  <a:fontScheme name="Capgemini Fonts">
    <a:majorFont>
      <a:latin typeface="Ubuntu"/>
      <a:ea typeface=""/>
      <a:cs typeface=""/>
    </a:majorFont>
    <a:minorFont>
      <a:latin typeface="Ubuntu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a858bc-b19d-4d92-a6f0-3eb7f146635e">
      <Terms xmlns="http://schemas.microsoft.com/office/infopath/2007/PartnerControls"/>
    </lcf76f155ced4ddcb4097134ff3c332f>
    <TaxCatchAll xmlns="b4304807-af67-4394-b1cc-13a8c181bc53" xsi:nil="true"/>
    <SharedWithUsers xmlns="b4304807-af67-4394-b1cc-13a8c181bc53">
      <UserInfo>
        <DisplayName>BOUVIER, Maelle</DisplayName>
        <AccountId>9</AccountId>
        <AccountType/>
      </UserInfo>
      <UserInfo>
        <DisplayName>FENG, Yucen</DisplayName>
        <AccountId>22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ABF071EC5FD74EA0222A382BA34C08" ma:contentTypeVersion="11" ma:contentTypeDescription="Create a new document." ma:contentTypeScope="" ma:versionID="d1fca53e746bee82d394b249c2768aa7">
  <xsd:schema xmlns:xsd="http://www.w3.org/2001/XMLSchema" xmlns:xs="http://www.w3.org/2001/XMLSchema" xmlns:p="http://schemas.microsoft.com/office/2006/metadata/properties" xmlns:ns2="70a858bc-b19d-4d92-a6f0-3eb7f146635e" xmlns:ns3="b4304807-af67-4394-b1cc-13a8c181bc53" targetNamespace="http://schemas.microsoft.com/office/2006/metadata/properties" ma:root="true" ma:fieldsID="79506d62397ffb79c9023faba63ba8ab" ns2:_="" ns3:_="">
    <xsd:import namespace="70a858bc-b19d-4d92-a6f0-3eb7f146635e"/>
    <xsd:import namespace="b4304807-af67-4394-b1cc-13a8c181bc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858bc-b19d-4d92-a6f0-3eb7f1466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04807-af67-4394-b1cc-13a8c181bc5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de11a9-839a-425a-afe4-dde1e3626ca3}" ma:internalName="TaxCatchAll" ma:showField="CatchAllData" ma:web="b4304807-af67-4394-b1cc-13a8c181bc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5FE61A-E169-45AB-9C91-45045551FEA8}">
  <ds:schemaRefs>
    <ds:schemaRef ds:uri="http://purl.org/dc/terms/"/>
    <ds:schemaRef ds:uri="http://purl.org/dc/elements/1.1/"/>
    <ds:schemaRef ds:uri="http://www.w3.org/XML/1998/namespace"/>
    <ds:schemaRef ds:uri="70a858bc-b19d-4d92-a6f0-3eb7f146635e"/>
    <ds:schemaRef ds:uri="http://schemas.microsoft.com/office/infopath/2007/PartnerControls"/>
    <ds:schemaRef ds:uri="http://schemas.microsoft.com/office/2006/documentManagement/types"/>
    <ds:schemaRef ds:uri="b4304807-af67-4394-b1cc-13a8c181bc53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902D002-7044-4203-B1DD-B3E67234A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615E5C-80A7-4CA3-ABCC-726CC98033F0}">
  <ds:schemaRefs>
    <ds:schemaRef ds:uri="70a858bc-b19d-4d92-a6f0-3eb7f146635e"/>
    <ds:schemaRef ds:uri="b4304807-af67-4394-b1cc-13a8c181bc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1428</TotalTime>
  <Words>3232</Words>
  <Application>Microsoft Office PowerPoint</Application>
  <PresentationFormat>Personnalisé</PresentationFormat>
  <Paragraphs>423</Paragraphs>
  <Slides>29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44" baseType="lpstr">
      <vt:lpstr>-apple-system</vt:lpstr>
      <vt:lpstr>Arial</vt:lpstr>
      <vt:lpstr>Calibri</vt:lpstr>
      <vt:lpstr>Lato Light</vt:lpstr>
      <vt:lpstr>Lato Regular</vt:lpstr>
      <vt:lpstr>Marianne</vt:lpstr>
      <vt:lpstr>Marianne ExtraBold</vt:lpstr>
      <vt:lpstr>Marianne Light</vt:lpstr>
      <vt:lpstr>Montserrat</vt:lpstr>
      <vt:lpstr>Times New Roman</vt:lpstr>
      <vt:lpstr>Ubuntu</vt:lpstr>
      <vt:lpstr>Ubuntu Medium</vt:lpstr>
      <vt:lpstr>Verdana</vt:lpstr>
      <vt:lpstr>Wingdings</vt:lpstr>
      <vt:lpstr>Office Theme</vt:lpstr>
      <vt:lpstr>Présentation PowerPoint</vt:lpstr>
      <vt:lpstr>Présentation PowerPoint</vt:lpstr>
      <vt:lpstr>Comité de pilotage</vt:lpstr>
      <vt:lpstr>Présentation PowerPoint</vt:lpstr>
      <vt:lpstr>Mot d’introduction </vt:lpstr>
      <vt:lpstr>Présentation PowerPoint</vt:lpstr>
      <vt:lpstr>Tour de table</vt:lpstr>
      <vt:lpstr>Introduction au Numérique Responsable</vt:lpstr>
      <vt:lpstr>Quizz sur les chiffres clés de l’impact  environnemental du numérique</vt:lpstr>
      <vt:lpstr>Présentation de la démarche</vt:lpstr>
      <vt:lpstr>Les territoires ont un rôle clé dans la  réduction de l’empreinte environnementale du numérique</vt:lpstr>
      <vt:lpstr> Elaborer une feuille de route pour notre collectivité </vt:lpstr>
      <vt:lpstr>Périmètre de la démarche</vt:lpstr>
      <vt:lpstr>Déroulé et activités de la démarche</vt:lpstr>
      <vt:lpstr>Planning prévisionnel type</vt:lpstr>
      <vt:lpstr>Zoom sur la phase de diagnostic  de maturité</vt:lpstr>
      <vt:lpstr>1) Analyse documentaire</vt:lpstr>
      <vt:lpstr>Présentation de l’outil de diagnostic</vt:lpstr>
      <vt:lpstr>Présentation de l’outil de diagnostic</vt:lpstr>
      <vt:lpstr>2) Entretiens de diagnostic</vt:lpstr>
      <vt:lpstr>3) Inventaire quantitatif flash</vt:lpstr>
      <vt:lpstr>Notre prochain rendez-vous collectif</vt:lpstr>
      <vt:lpstr>Echange autour du Numérique Responsable</vt:lpstr>
      <vt:lpstr>Présentation PowerPoint</vt:lpstr>
      <vt:lpstr>L’impact environnemental de l’IT est déjà  important et devrait augmenter drastiquement</vt:lpstr>
      <vt:lpstr>La DSI au cœur des impacts  environnementaux du numérique 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présentation PPT ANCT</dc:title>
  <dc:creator>ANCT</dc:creator>
  <cp:lastModifiedBy>XU Caroline</cp:lastModifiedBy>
  <cp:revision>66</cp:revision>
  <dcterms:created xsi:type="dcterms:W3CDTF">2022-09-01T08:45:33Z</dcterms:created>
  <dcterms:modified xsi:type="dcterms:W3CDTF">2023-02-10T10:22:48Z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2022-09-01T00:00:00Z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2022-09-01T00:00:00Z</vt:filetime>
  </property>
  <property fmtid="{D5CDD505-2E9C-101B-9397-08002B2CF9AE}" pid="5" name="ContentTypeId">
    <vt:lpwstr>0x01010069ABF071EC5FD74EA0222A382BA34C08</vt:lpwstr>
  </property>
  <property fmtid="{D5CDD505-2E9C-101B-9397-08002B2CF9AE}" pid="6" name="MediaServiceImageTags">
    <vt:lpwstr/>
  </property>
</Properties>
</file>